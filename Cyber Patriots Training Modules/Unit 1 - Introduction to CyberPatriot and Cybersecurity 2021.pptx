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4.xml" ContentType="application/vnd.openxmlformats-officedocument.presentationml.comments+xml"/>
  <Override PartName="/ppt/notesSlides/notesSlide10.xml" ContentType="application/vnd.openxmlformats-officedocument.presentationml.notesSlide+xml"/>
  <Override PartName="/ppt/comments/comment5.xml" ContentType="application/vnd.openxmlformats-officedocument.presentationml.comments+xml"/>
  <Override PartName="/ppt/comments/comment6.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7.xml" ContentType="application/vnd.openxmlformats-officedocument.presentationml.comments+xml"/>
  <Override PartName="/ppt/notesSlides/notesSlide13.xml" ContentType="application/vnd.openxmlformats-officedocument.presentationml.notesSlide+xml"/>
  <Override PartName="/ppt/comments/comment8.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9.xml" ContentType="application/vnd.openxmlformats-officedocument.presentationml.comments+xml"/>
  <Override PartName="/ppt/notesSlides/notesSlide16.xml" ContentType="application/vnd.openxmlformats-officedocument.presentationml.notesSlide+xml"/>
  <Override PartName="/ppt/comments/comment10.xml" ContentType="application/vnd.openxmlformats-officedocument.presentationml.comments+xml"/>
  <Override PartName="/ppt/comments/comment1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9"/>
  </p:notesMasterIdLst>
  <p:sldIdLst>
    <p:sldId id="257" r:id="rId5"/>
    <p:sldId id="279" r:id="rId6"/>
    <p:sldId id="280" r:id="rId7"/>
    <p:sldId id="263" r:id="rId8"/>
    <p:sldId id="260" r:id="rId9"/>
    <p:sldId id="261" r:id="rId10"/>
    <p:sldId id="273" r:id="rId11"/>
    <p:sldId id="277" r:id="rId12"/>
    <p:sldId id="289" r:id="rId13"/>
    <p:sldId id="291" r:id="rId14"/>
    <p:sldId id="290" r:id="rId15"/>
    <p:sldId id="278" r:id="rId16"/>
    <p:sldId id="275" r:id="rId17"/>
    <p:sldId id="274" r:id="rId18"/>
    <p:sldId id="262" r:id="rId19"/>
    <p:sldId id="281" r:id="rId20"/>
    <p:sldId id="282" r:id="rId21"/>
    <p:sldId id="283" r:id="rId22"/>
    <p:sldId id="293" r:id="rId23"/>
    <p:sldId id="284" r:id="rId24"/>
    <p:sldId id="286" r:id="rId25"/>
    <p:sldId id="287" r:id="rId26"/>
    <p:sldId id="292" r:id="rId27"/>
    <p:sldId id="27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1ACFDC-23F4-4AA5-9B24-622FF6BEAE38}">
          <p14:sldIdLst>
            <p14:sldId id="257"/>
            <p14:sldId id="279"/>
            <p14:sldId id="280"/>
            <p14:sldId id="263"/>
            <p14:sldId id="260"/>
            <p14:sldId id="261"/>
            <p14:sldId id="273"/>
            <p14:sldId id="277"/>
            <p14:sldId id="289"/>
            <p14:sldId id="291"/>
            <p14:sldId id="290"/>
            <p14:sldId id="278"/>
            <p14:sldId id="275"/>
            <p14:sldId id="274"/>
            <p14:sldId id="262"/>
            <p14:sldId id="281"/>
            <p14:sldId id="282"/>
            <p14:sldId id="283"/>
            <p14:sldId id="293"/>
            <p14:sldId id="284"/>
            <p14:sldId id="286"/>
            <p14:sldId id="287"/>
            <p14:sldId id="292"/>
            <p14:sldId id="27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lene Daage" initials="HD" lastIdx="15" clrIdx="0">
    <p:extLst>
      <p:ext uri="{19B8F6BF-5375-455C-9EA6-DF929625EA0E}">
        <p15:presenceInfo xmlns:p15="http://schemas.microsoft.com/office/powerpoint/2012/main" userId="S::H.Daage@uscyberpatriot.org::f23d2677-280b-4935-95a2-c2b42d73dd6f" providerId="AD"/>
      </p:ext>
    </p:extLst>
  </p:cmAuthor>
  <p:cmAuthor id="2" name="Rebecca Dalton" initials="RD" lastIdx="9" clrIdx="1">
    <p:extLst>
      <p:ext uri="{19B8F6BF-5375-455C-9EA6-DF929625EA0E}">
        <p15:presenceInfo xmlns:p15="http://schemas.microsoft.com/office/powerpoint/2012/main" userId="S::R.Dalton@uscyberpatriot.org::46db9d2f-84ae-4dce-8063-6d06dc8b24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53" d="100"/>
          <a:sy n="53" d="100"/>
        </p:scale>
        <p:origin x="82"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8" Type="http://schemas.openxmlformats.org/officeDocument/2006/relationships/slide" Target="slides/slide4.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1-08-16T11:28:40.719" idx="1">
    <p:pos x="5843" y="851"/>
    <p:text>please update to a more recent video</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7-30T13:38:29.655" idx="2">
    <p:pos x="1783" y="1860"/>
    <p:text>Do we want Tech Caregivers included on this page?  I believe it fits in under the Youth section</p:text>
    <p:extLst>
      <p:ext uri="{C676402C-5697-4E1C-873F-D02D1690AC5C}">
        <p15:threadingInfo xmlns:p15="http://schemas.microsoft.com/office/powerpoint/2012/main" timeZoneBias="240"/>
      </p:ext>
    </p:extLst>
  </p:cm>
  <p:cm authorId="2" dt="2021-08-16T11:31:18.063" idx="2">
    <p:pos x="1783" y="1956"/>
    <p:text>I updated the list to include all programs</p:text>
    <p:extLst>
      <p:ext uri="{C676402C-5697-4E1C-873F-D02D1690AC5C}">
        <p15:threadingInfo xmlns:p15="http://schemas.microsoft.com/office/powerpoint/2012/main" timeZoneBias="240">
          <p15:parentCm authorId="1" idx="2"/>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7-30T14:45:59.443" idx="5">
    <p:pos x="1042" y="922"/>
    <p:text>added forensic questions</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1-08-16T11:55:41.443" idx="3">
    <p:pos x="4473" y="3465"/>
    <p:text>Update screenshot</p:text>
    <p:extLst>
      <p:ext uri="{C676402C-5697-4E1C-873F-D02D1690AC5C}">
        <p15:threadingInfo xmlns:p15="http://schemas.microsoft.com/office/powerpoint/2012/main" timeZoneBias="2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1-07-30T13:47:20.800" idx="4">
    <p:pos x="3390" y="1476"/>
    <p:text>Added the AT&amp;T component</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1-08-13T15:43:58.959" idx="13">
    <p:pos x="10" y="10"/>
    <p:text>Do we want to make section one its own module and section two its own module or keep these two sections within one module?</p:text>
    <p:extLst>
      <p:ext uri="{C676402C-5697-4E1C-873F-D02D1690AC5C}">
        <p15:threadingInfo xmlns:p15="http://schemas.microsoft.com/office/powerpoint/2012/main" timeZoneBias="2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1-07-30T15:15:53.078" idx="7">
    <p:pos x="2248" y="893"/>
    <p:text>Can I replace this slide with one that talks about the 16 Critical Infrasture Domains?</p:text>
    <p:extLst>
      <p:ext uri="{C676402C-5697-4E1C-873F-D02D1690AC5C}">
        <p15:threadingInfo xmlns:p15="http://schemas.microsoft.com/office/powerpoint/2012/main" timeZoneBias="240"/>
      </p:ext>
    </p:extLst>
  </p:cm>
  <p:cm authorId="1" dt="2021-08-13T15:13:34.968" idx="12">
    <p:pos x="2248" y="989"/>
    <p:text>See the proposed new slide below (Slide 19)</p:text>
    <p:extLst>
      <p:ext uri="{C676402C-5697-4E1C-873F-D02D1690AC5C}">
        <p15:threadingInfo xmlns:p15="http://schemas.microsoft.com/office/powerpoint/2012/main" timeZoneBias="240">
          <p15:parentCm authorId="1" idx="7"/>
        </p15:threadingInfo>
      </p:ext>
    </p:extLst>
  </p:cm>
  <p:cm authorId="2" dt="2021-08-16T12:23:04.598" idx="4">
    <p:pos x="2248" y="1085"/>
    <p:text>Yes. Please replace</p:text>
    <p:extLst>
      <p:ext uri="{C676402C-5697-4E1C-873F-D02D1690AC5C}">
        <p15:threadingInfo xmlns:p15="http://schemas.microsoft.com/office/powerpoint/2012/main" timeZoneBias="240">
          <p15:parentCm authorId="1" idx="7"/>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1-07-30T15:22:36.591" idx="8">
    <p:pos x="2858" y="3017"/>
    <p:text>Added the Colonial Pipeline breach</p:text>
    <p:extLst>
      <p:ext uri="{C676402C-5697-4E1C-873F-D02D1690AC5C}">
        <p15:threadingInfo xmlns:p15="http://schemas.microsoft.com/office/powerpoint/2012/main" timeZoneBias="240"/>
      </p:ext>
    </p:extLst>
  </p:cm>
  <p:cm authorId="2" dt="2021-08-16T12:24:53.072" idx="5">
    <p:pos x="2858" y="3113"/>
    <p:text>approved</p:text>
    <p:extLst>
      <p:ext uri="{C676402C-5697-4E1C-873F-D02D1690AC5C}">
        <p15:threadingInfo xmlns:p15="http://schemas.microsoft.com/office/powerpoint/2012/main" timeZoneBias="240">
          <p15:parentCm authorId="1" idx="8"/>
        </p15:threadingInfo>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1-07-30T15:30:50.412" idx="9">
    <p:pos x="2566" y="257"/>
    <p:text>Do we want to mention some of the leading Cybersecurity companies, specifically some of our sponsors?  Northrup Gruman, Booze Allen, Ledos, Lockeed Martin, Samantec?</p:text>
    <p:extLst>
      <p:ext uri="{C676402C-5697-4E1C-873F-D02D1690AC5C}">
        <p15:threadingInfo xmlns:p15="http://schemas.microsoft.com/office/powerpoint/2012/main" timeZoneBias="240"/>
      </p:ext>
    </p:extLst>
  </p:cm>
  <p:cm authorId="1" dt="2021-07-30T15:32:54.836" idx="10">
    <p:pos x="2566" y="353"/>
    <p:text>If we are listing logos of those who suffered recent attacks, we should add Sony, Mariott, Capital One</p:text>
    <p:extLst>
      <p:ext uri="{C676402C-5697-4E1C-873F-D02D1690AC5C}">
        <p15:threadingInfo xmlns:p15="http://schemas.microsoft.com/office/powerpoint/2012/main" timeZoneBias="240">
          <p15:parentCm authorId="1" idx="9"/>
        </p15:threadingInfo>
      </p:ext>
    </p:extLst>
  </p:cm>
  <p:cm authorId="2" dt="2021-08-16T12:28:02.245" idx="6">
    <p:pos x="2566" y="449"/>
    <p:text>let's list some of our sponsors</p:text>
    <p:extLst>
      <p:ext uri="{C676402C-5697-4E1C-873F-D02D1690AC5C}">
        <p15:threadingInfo xmlns:p15="http://schemas.microsoft.com/office/powerpoint/2012/main" timeZoneBias="240">
          <p15:parentCm authorId="1" idx="9"/>
        </p15:threadingInfo>
      </p:ext>
    </p:extLst>
  </p:cm>
  <p:cm authorId="2" dt="2021-08-16T12:28:05.906" idx="7">
    <p:pos x="10" y="10"/>
    <p:text>can we find some more recent stats on salary?</p:text>
    <p:extLst>
      <p:ext uri="{C676402C-5697-4E1C-873F-D02D1690AC5C}">
        <p15:threadingInfo xmlns:p15="http://schemas.microsoft.com/office/powerpoint/2012/main" timeZoneBias="24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1-08-13T15:47:21.934" idx="14">
    <p:pos x="10" y="10"/>
    <p:text>This is a bit much for one slide, should I make it two slides?</p:text>
    <p:extLst>
      <p:ext uri="{C676402C-5697-4E1C-873F-D02D1690AC5C}">
        <p15:threadingInfo xmlns:p15="http://schemas.microsoft.com/office/powerpoint/2012/main" timeZoneBias="240"/>
      </p:ext>
    </p:extLst>
  </p:cm>
  <p:cm authorId="2" dt="2021-08-16T12:28:53.758" idx="8">
    <p:pos x="10" y="106"/>
    <p:text>yes. please split into two slides</p:text>
    <p:extLst>
      <p:ext uri="{C676402C-5697-4E1C-873F-D02D1690AC5C}">
        <p15:threadingInfo xmlns:p15="http://schemas.microsoft.com/office/powerpoint/2012/main" timeZoneBias="240">
          <p15:parentCm authorId="1" idx="14"/>
        </p15:threadingInfo>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1-08-13T15:48:06.195" idx="15">
    <p:pos x="10" y="10"/>
    <p:text>I added the link to the Cisco Courses that are available to all CyberPatriots.</p:text>
    <p:extLst>
      <p:ext uri="{C676402C-5697-4E1C-873F-D02D1690AC5C}">
        <p15:threadingInfo xmlns:p15="http://schemas.microsoft.com/office/powerpoint/2012/main" timeZoneBias="240"/>
      </p:ext>
    </p:extLst>
  </p:cm>
</p: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634659-C1B5-4C7C-B38B-891C26EA5FB8}" type="doc">
      <dgm:prSet loTypeId="urn:microsoft.com/office/officeart/2009/layout/CircleArrowProcess" loCatId="process" qsTypeId="urn:microsoft.com/office/officeart/2005/8/quickstyle/simple1" qsCatId="simple" csTypeId="urn:microsoft.com/office/officeart/2005/8/colors/colorful1" csCatId="colorful" phldr="1"/>
      <dgm:spPr/>
      <dgm:t>
        <a:bodyPr/>
        <a:lstStyle/>
        <a:p>
          <a:endParaRPr lang="en-US"/>
        </a:p>
      </dgm:t>
    </dgm:pt>
    <dgm:pt modelId="{0DB7C6AA-FDA8-4DC9-9E3A-0B8565AA8015}">
      <dgm:prSet phldrT="[Text]" custT="1"/>
      <dgm:spPr/>
      <dgm:t>
        <a:bodyPr/>
        <a:lstStyle/>
        <a:p>
          <a:r>
            <a:rPr lang="en-US" sz="1800" b="1" dirty="0"/>
            <a:t>Registration</a:t>
          </a:r>
        </a:p>
      </dgm:t>
    </dgm:pt>
    <dgm:pt modelId="{9E901C29-F422-4434-8D0F-07A1CF7B5F17}" type="parTrans" cxnId="{68140876-5125-4660-95FD-C7890FC24D8D}">
      <dgm:prSet/>
      <dgm:spPr/>
      <dgm:t>
        <a:bodyPr/>
        <a:lstStyle/>
        <a:p>
          <a:endParaRPr lang="en-US"/>
        </a:p>
      </dgm:t>
    </dgm:pt>
    <dgm:pt modelId="{9EDF8C17-1288-4703-9153-CECAF2565277}" type="sibTrans" cxnId="{68140876-5125-4660-95FD-C7890FC24D8D}">
      <dgm:prSet/>
      <dgm:spPr/>
      <dgm:t>
        <a:bodyPr/>
        <a:lstStyle/>
        <a:p>
          <a:endParaRPr lang="en-US"/>
        </a:p>
      </dgm:t>
    </dgm:pt>
    <dgm:pt modelId="{B5B2BF2D-12DD-4D4A-91B5-E558A7C0BB01}">
      <dgm:prSet phldrT="[Text]" custT="1"/>
      <dgm:spPr/>
      <dgm:t>
        <a:bodyPr/>
        <a:lstStyle/>
        <a:p>
          <a:r>
            <a:rPr lang="en-US" sz="1800" dirty="0"/>
            <a:t>Coach registers team(s)</a:t>
          </a:r>
        </a:p>
      </dgm:t>
    </dgm:pt>
    <dgm:pt modelId="{5DB1BFF1-66C8-4DE6-AB23-92283C391D60}" type="parTrans" cxnId="{6CBA1CB4-81B5-4CCC-92E8-D10B4C69B709}">
      <dgm:prSet/>
      <dgm:spPr/>
      <dgm:t>
        <a:bodyPr/>
        <a:lstStyle/>
        <a:p>
          <a:endParaRPr lang="en-US"/>
        </a:p>
      </dgm:t>
    </dgm:pt>
    <dgm:pt modelId="{2EA0733B-E92B-4921-9630-FA503C217A97}" type="sibTrans" cxnId="{6CBA1CB4-81B5-4CCC-92E8-D10B4C69B709}">
      <dgm:prSet/>
      <dgm:spPr/>
      <dgm:t>
        <a:bodyPr/>
        <a:lstStyle/>
        <a:p>
          <a:endParaRPr lang="en-US"/>
        </a:p>
      </dgm:t>
    </dgm:pt>
    <dgm:pt modelId="{259DAE8C-6966-4092-9073-DA5C4221DAC6}">
      <dgm:prSet phldrT="[Text]" custT="1"/>
      <dgm:spPr/>
      <dgm:t>
        <a:bodyPr/>
        <a:lstStyle/>
        <a:p>
          <a:r>
            <a:rPr lang="en-US" sz="1800" b="1" dirty="0"/>
            <a:t>Training &amp; Competition</a:t>
          </a:r>
        </a:p>
      </dgm:t>
    </dgm:pt>
    <dgm:pt modelId="{9C226E90-EED6-411E-A6D6-43757512F437}" type="parTrans" cxnId="{67DF7639-77E7-4C87-9452-117E664C4D0A}">
      <dgm:prSet/>
      <dgm:spPr/>
      <dgm:t>
        <a:bodyPr/>
        <a:lstStyle/>
        <a:p>
          <a:endParaRPr lang="en-US"/>
        </a:p>
      </dgm:t>
    </dgm:pt>
    <dgm:pt modelId="{33632272-FAF8-4CC1-ABB9-CC65EC1B1A0A}" type="sibTrans" cxnId="{67DF7639-77E7-4C87-9452-117E664C4D0A}">
      <dgm:prSet/>
      <dgm:spPr/>
      <dgm:t>
        <a:bodyPr/>
        <a:lstStyle/>
        <a:p>
          <a:endParaRPr lang="en-US"/>
        </a:p>
      </dgm:t>
    </dgm:pt>
    <dgm:pt modelId="{C79C28F6-C242-4D82-817A-F21CA678E08D}">
      <dgm:prSet phldrT="[Text]" custT="1"/>
      <dgm:spPr/>
      <dgm:t>
        <a:bodyPr/>
        <a:lstStyle/>
        <a:p>
          <a:r>
            <a:rPr lang="en-US" sz="1800" dirty="0"/>
            <a:t>10 online training modules</a:t>
          </a:r>
        </a:p>
      </dgm:t>
    </dgm:pt>
    <dgm:pt modelId="{B95686E2-CA3B-497B-9826-3162CDD40895}" type="parTrans" cxnId="{1053ED73-11A4-4268-8612-CB95489F703D}">
      <dgm:prSet/>
      <dgm:spPr/>
      <dgm:t>
        <a:bodyPr/>
        <a:lstStyle/>
        <a:p>
          <a:endParaRPr lang="en-US"/>
        </a:p>
      </dgm:t>
    </dgm:pt>
    <dgm:pt modelId="{8D07BBF5-26FF-491B-BDB4-93A671D6524D}" type="sibTrans" cxnId="{1053ED73-11A4-4268-8612-CB95489F703D}">
      <dgm:prSet/>
      <dgm:spPr/>
      <dgm:t>
        <a:bodyPr/>
        <a:lstStyle/>
        <a:p>
          <a:endParaRPr lang="en-US"/>
        </a:p>
      </dgm:t>
    </dgm:pt>
    <dgm:pt modelId="{731E6347-8CC8-47B4-A6C0-F25328058858}">
      <dgm:prSet phldrT="[Text]" custT="1"/>
      <dgm:spPr/>
      <dgm:t>
        <a:bodyPr/>
        <a:lstStyle/>
        <a:p>
          <a:r>
            <a:rPr lang="en-US" sz="1800" dirty="0"/>
            <a:t>3+ online competition rounds</a:t>
          </a:r>
        </a:p>
      </dgm:t>
    </dgm:pt>
    <dgm:pt modelId="{30B292C3-5B05-4AF1-8156-15AAD7D1867E}" type="parTrans" cxnId="{34BEB06C-463A-43B2-B9FF-141CEE09C57B}">
      <dgm:prSet/>
      <dgm:spPr/>
      <dgm:t>
        <a:bodyPr/>
        <a:lstStyle/>
        <a:p>
          <a:endParaRPr lang="en-US"/>
        </a:p>
      </dgm:t>
    </dgm:pt>
    <dgm:pt modelId="{50E03022-7824-4721-95D5-424F69AF2F23}" type="sibTrans" cxnId="{34BEB06C-463A-43B2-B9FF-141CEE09C57B}">
      <dgm:prSet/>
      <dgm:spPr/>
      <dgm:t>
        <a:bodyPr/>
        <a:lstStyle/>
        <a:p>
          <a:endParaRPr lang="en-US"/>
        </a:p>
      </dgm:t>
    </dgm:pt>
    <dgm:pt modelId="{E4EFE34B-1E42-44F4-8ED2-F8A025E4BBB6}">
      <dgm:prSet phldrT="[Text]" custT="1"/>
      <dgm:spPr/>
      <dgm:t>
        <a:bodyPr/>
        <a:lstStyle/>
        <a:p>
          <a:r>
            <a:rPr lang="en-US" sz="1800" b="1" dirty="0"/>
            <a:t>Scoring &amp; Advancement</a:t>
          </a:r>
        </a:p>
      </dgm:t>
    </dgm:pt>
    <dgm:pt modelId="{D3EA163F-47E5-4F4C-B150-C916396B0DB8}" type="parTrans" cxnId="{A6140F73-4328-43E4-940F-43AD5019D072}">
      <dgm:prSet/>
      <dgm:spPr/>
      <dgm:t>
        <a:bodyPr/>
        <a:lstStyle/>
        <a:p>
          <a:endParaRPr lang="en-US"/>
        </a:p>
      </dgm:t>
    </dgm:pt>
    <dgm:pt modelId="{FA0F0411-03B0-4FF2-8A27-3674ADA47B41}" type="sibTrans" cxnId="{A6140F73-4328-43E4-940F-43AD5019D072}">
      <dgm:prSet/>
      <dgm:spPr/>
      <dgm:t>
        <a:bodyPr/>
        <a:lstStyle/>
        <a:p>
          <a:endParaRPr lang="en-US"/>
        </a:p>
      </dgm:t>
    </dgm:pt>
    <dgm:pt modelId="{E593657B-CF51-4A70-8BE9-1EFABFF73535}">
      <dgm:prSet phldrT="[Text]" custT="1"/>
      <dgm:spPr/>
      <dgm:t>
        <a:bodyPr/>
        <a:lstStyle/>
        <a:p>
          <a:r>
            <a:rPr lang="en-US" sz="1800" dirty="0"/>
            <a:t>2-6 students per team</a:t>
          </a:r>
        </a:p>
      </dgm:t>
    </dgm:pt>
    <dgm:pt modelId="{DB36A956-DED6-4015-89E6-7AD160D11DB0}" type="parTrans" cxnId="{80778D96-07CD-4228-938E-83B7CF76506C}">
      <dgm:prSet/>
      <dgm:spPr/>
      <dgm:t>
        <a:bodyPr/>
        <a:lstStyle/>
        <a:p>
          <a:endParaRPr lang="en-US"/>
        </a:p>
      </dgm:t>
    </dgm:pt>
    <dgm:pt modelId="{EDAC032C-8031-40EE-BC65-7FE8FE8E3A16}" type="sibTrans" cxnId="{80778D96-07CD-4228-938E-83B7CF76506C}">
      <dgm:prSet/>
      <dgm:spPr/>
      <dgm:t>
        <a:bodyPr/>
        <a:lstStyle/>
        <a:p>
          <a:endParaRPr lang="en-US"/>
        </a:p>
      </dgm:t>
    </dgm:pt>
    <dgm:pt modelId="{C57FBCC3-0BDC-498E-BC62-5C9C82A9C448}">
      <dgm:prSet phldrT="[Text]" custT="1"/>
      <dgm:spPr/>
      <dgm:t>
        <a:bodyPr/>
        <a:lstStyle/>
        <a:p>
          <a:r>
            <a:rPr lang="en-US" sz="1800" kern="1200" dirty="0">
              <a:solidFill>
                <a:prstClr val="black">
                  <a:hueOff val="0"/>
                  <a:satOff val="0"/>
                  <a:lumOff val="0"/>
                  <a:alphaOff val="0"/>
                </a:prstClr>
              </a:solidFill>
              <a:latin typeface="Calibri"/>
              <a:ea typeface="+mn-ea"/>
              <a:cs typeface="+mn-cs"/>
            </a:rPr>
            <a:t>Scored on remediation of cyber vulnerabilities and knowledge of secure networking.</a:t>
          </a:r>
        </a:p>
      </dgm:t>
    </dgm:pt>
    <dgm:pt modelId="{A2CEA332-DF05-453A-AE30-665158EB79DF}" type="parTrans" cxnId="{032F6740-35AF-40D5-B54F-A3F43AF4842C}">
      <dgm:prSet/>
      <dgm:spPr/>
      <dgm:t>
        <a:bodyPr/>
        <a:lstStyle/>
        <a:p>
          <a:endParaRPr lang="en-US"/>
        </a:p>
      </dgm:t>
    </dgm:pt>
    <dgm:pt modelId="{C90060BD-444C-4B85-911D-76CFBA538F7A}" type="sibTrans" cxnId="{032F6740-35AF-40D5-B54F-A3F43AF4842C}">
      <dgm:prSet/>
      <dgm:spPr/>
      <dgm:t>
        <a:bodyPr/>
        <a:lstStyle/>
        <a:p>
          <a:endParaRPr lang="en-US"/>
        </a:p>
      </dgm:t>
    </dgm:pt>
    <dgm:pt modelId="{7709B251-4D6F-4360-BA1A-333C3B1A317F}">
      <dgm:prSet phldrT="[Text]" custT="1"/>
      <dgm:spPr/>
      <dgm:t>
        <a:bodyPr/>
        <a:lstStyle/>
        <a:p>
          <a:r>
            <a:rPr lang="en-US" sz="1800" kern="1200" dirty="0">
              <a:solidFill>
                <a:prstClr val="black">
                  <a:hueOff val="0"/>
                  <a:satOff val="0"/>
                  <a:lumOff val="0"/>
                  <a:alphaOff val="0"/>
                </a:prstClr>
              </a:solidFill>
              <a:latin typeface="Calibri"/>
              <a:ea typeface="+mn-ea"/>
              <a:cs typeface="+mn-cs"/>
            </a:rPr>
            <a:t>Top teams advance to Semifinals and National Finals</a:t>
          </a:r>
        </a:p>
      </dgm:t>
    </dgm:pt>
    <dgm:pt modelId="{E8C6AEA2-B1E5-42C2-B0CC-0965E057DEA2}" type="parTrans" cxnId="{D5FE1636-16AA-41F3-90F8-7A021ADD0FE5}">
      <dgm:prSet/>
      <dgm:spPr/>
      <dgm:t>
        <a:bodyPr/>
        <a:lstStyle/>
        <a:p>
          <a:endParaRPr lang="en-US"/>
        </a:p>
      </dgm:t>
    </dgm:pt>
    <dgm:pt modelId="{9CC75B59-73F5-476E-89D3-0D07D47E5D6C}" type="sibTrans" cxnId="{D5FE1636-16AA-41F3-90F8-7A021ADD0FE5}">
      <dgm:prSet/>
      <dgm:spPr/>
      <dgm:t>
        <a:bodyPr/>
        <a:lstStyle/>
        <a:p>
          <a:endParaRPr lang="en-US"/>
        </a:p>
      </dgm:t>
    </dgm:pt>
    <dgm:pt modelId="{3C1AFEBF-C9CB-4621-9D8C-ED2864666DA3}">
      <dgm:prSet phldrT="[Text]" custT="1"/>
      <dgm:spPr/>
      <dgm:t>
        <a:bodyPr/>
        <a:lstStyle/>
        <a:p>
          <a:r>
            <a:rPr lang="en-US" sz="1800" dirty="0"/>
            <a:t>Optional technical mentor</a:t>
          </a:r>
        </a:p>
      </dgm:t>
    </dgm:pt>
    <dgm:pt modelId="{61489AE2-1771-409C-967A-D7C8DD672350}" type="parTrans" cxnId="{CEAE7331-276E-4383-B0F8-C973BA62EB62}">
      <dgm:prSet/>
      <dgm:spPr/>
      <dgm:t>
        <a:bodyPr/>
        <a:lstStyle/>
        <a:p>
          <a:endParaRPr lang="en-US"/>
        </a:p>
      </dgm:t>
    </dgm:pt>
    <dgm:pt modelId="{F7C5B7A9-D64E-4C4D-926F-278E38AB9BC6}" type="sibTrans" cxnId="{CEAE7331-276E-4383-B0F8-C973BA62EB62}">
      <dgm:prSet/>
      <dgm:spPr/>
      <dgm:t>
        <a:bodyPr/>
        <a:lstStyle/>
        <a:p>
          <a:endParaRPr lang="en-US"/>
        </a:p>
      </dgm:t>
    </dgm:pt>
    <dgm:pt modelId="{06DCC25A-F02C-4814-B080-E84192AFDE4F}" type="pres">
      <dgm:prSet presAssocID="{0B634659-C1B5-4C7C-B38B-891C26EA5FB8}" presName="Name0" presStyleCnt="0">
        <dgm:presLayoutVars>
          <dgm:chMax val="7"/>
          <dgm:chPref val="7"/>
          <dgm:dir/>
          <dgm:animLvl val="lvl"/>
        </dgm:presLayoutVars>
      </dgm:prSet>
      <dgm:spPr/>
    </dgm:pt>
    <dgm:pt modelId="{A56474B6-72DE-44C5-B1C2-70D70511AEF4}" type="pres">
      <dgm:prSet presAssocID="{0DB7C6AA-FDA8-4DC9-9E3A-0B8565AA8015}" presName="Accent1" presStyleCnt="0"/>
      <dgm:spPr/>
    </dgm:pt>
    <dgm:pt modelId="{57176FDE-2FD5-4641-8284-032B54984C9F}" type="pres">
      <dgm:prSet presAssocID="{0DB7C6AA-FDA8-4DC9-9E3A-0B8565AA8015}" presName="Accent" presStyleLbl="node1" presStyleIdx="0" presStyleCnt="3" custLinFactNeighborX="-61764" custLinFactNeighborY="-4239"/>
      <dgm:spPr/>
    </dgm:pt>
    <dgm:pt modelId="{52CFF21E-4C14-4B69-BE82-D8208292DC9F}" type="pres">
      <dgm:prSet presAssocID="{0DB7C6AA-FDA8-4DC9-9E3A-0B8565AA8015}" presName="Child1" presStyleLbl="revTx" presStyleIdx="0" presStyleCnt="6" custScaleX="329781" custScaleY="51856" custLinFactNeighborX="42931" custLinFactNeighborY="-22971">
        <dgm:presLayoutVars>
          <dgm:chMax val="0"/>
          <dgm:chPref val="0"/>
          <dgm:bulletEnabled val="1"/>
        </dgm:presLayoutVars>
      </dgm:prSet>
      <dgm:spPr/>
    </dgm:pt>
    <dgm:pt modelId="{B065FB09-FF05-4640-B962-86B3913A5765}" type="pres">
      <dgm:prSet presAssocID="{0DB7C6AA-FDA8-4DC9-9E3A-0B8565AA8015}" presName="Parent1" presStyleLbl="revTx" presStyleIdx="1" presStyleCnt="6" custScaleX="124007" custLinFactX="-11477" custLinFactNeighborX="-100000" custLinFactNeighborY="-25016">
        <dgm:presLayoutVars>
          <dgm:chMax val="1"/>
          <dgm:chPref val="1"/>
          <dgm:bulletEnabled val="1"/>
        </dgm:presLayoutVars>
      </dgm:prSet>
      <dgm:spPr/>
    </dgm:pt>
    <dgm:pt modelId="{3892D9CF-7550-4FB2-B18E-CAFE50B382E3}" type="pres">
      <dgm:prSet presAssocID="{259DAE8C-6966-4092-9073-DA5C4221DAC6}" presName="Accent2" presStyleCnt="0"/>
      <dgm:spPr/>
    </dgm:pt>
    <dgm:pt modelId="{FE650AFF-EE02-4AAE-80D7-2B20A6983808}" type="pres">
      <dgm:prSet presAssocID="{259DAE8C-6966-4092-9073-DA5C4221DAC6}" presName="Accent" presStyleLbl="node1" presStyleIdx="1" presStyleCnt="3" custLinFactNeighborX="-61764" custLinFactNeighborY="-4239"/>
      <dgm:spPr/>
    </dgm:pt>
    <dgm:pt modelId="{4A14295D-024A-4F49-868A-5D89A4448EFC}" type="pres">
      <dgm:prSet presAssocID="{259DAE8C-6966-4092-9073-DA5C4221DAC6}" presName="Child2" presStyleLbl="revTx" presStyleIdx="2" presStyleCnt="6" custScaleX="316316" custScaleY="70998" custLinFactNeighborX="81513" custLinFactNeighborY="-24145">
        <dgm:presLayoutVars>
          <dgm:chMax val="0"/>
          <dgm:chPref val="0"/>
          <dgm:bulletEnabled val="1"/>
        </dgm:presLayoutVars>
      </dgm:prSet>
      <dgm:spPr/>
    </dgm:pt>
    <dgm:pt modelId="{A924C785-FA02-4FB2-A6A1-89678F2862E2}" type="pres">
      <dgm:prSet presAssocID="{259DAE8C-6966-4092-9073-DA5C4221DAC6}" presName="Parent2" presStyleLbl="revTx" presStyleIdx="3" presStyleCnt="6" custScaleX="128291" custLinFactX="-11548" custLinFactNeighborX="-100000" custLinFactNeighborY="-26843">
        <dgm:presLayoutVars>
          <dgm:chMax val="1"/>
          <dgm:chPref val="1"/>
          <dgm:bulletEnabled val="1"/>
        </dgm:presLayoutVars>
      </dgm:prSet>
      <dgm:spPr/>
    </dgm:pt>
    <dgm:pt modelId="{0ADD1E3C-927A-4087-9140-97189EE0B54E}" type="pres">
      <dgm:prSet presAssocID="{E4EFE34B-1E42-44F4-8ED2-F8A025E4BBB6}" presName="Accent3" presStyleCnt="0"/>
      <dgm:spPr/>
    </dgm:pt>
    <dgm:pt modelId="{8D357ECE-2E25-487F-B650-FE8D97BC9042}" type="pres">
      <dgm:prSet presAssocID="{E4EFE34B-1E42-44F4-8ED2-F8A025E4BBB6}" presName="Accent" presStyleLbl="node1" presStyleIdx="2" presStyleCnt="3" custLinFactNeighborX="-71898" custLinFactNeighborY="-4934"/>
      <dgm:spPr/>
    </dgm:pt>
    <dgm:pt modelId="{21667172-B5A9-413E-A1CF-41B953A1088C}" type="pres">
      <dgm:prSet presAssocID="{E4EFE34B-1E42-44F4-8ED2-F8A025E4BBB6}" presName="Child3" presStyleLbl="revTx" presStyleIdx="4" presStyleCnt="6" custScaleX="325796" custLinFactNeighborX="38229" custLinFactNeighborY="-2874">
        <dgm:presLayoutVars>
          <dgm:chMax val="0"/>
          <dgm:chPref val="0"/>
          <dgm:bulletEnabled val="1"/>
        </dgm:presLayoutVars>
      </dgm:prSet>
      <dgm:spPr/>
    </dgm:pt>
    <dgm:pt modelId="{365C2AAF-F4CE-40DF-A9AC-4F639CAA6B7F}" type="pres">
      <dgm:prSet presAssocID="{E4EFE34B-1E42-44F4-8ED2-F8A025E4BBB6}" presName="Parent3" presStyleLbl="revTx" presStyleIdx="5" presStyleCnt="6" custScaleX="120132" custLinFactX="-12259" custLinFactNeighborX="-100000" custLinFactNeighborY="-25011">
        <dgm:presLayoutVars>
          <dgm:chMax val="1"/>
          <dgm:chPref val="1"/>
          <dgm:bulletEnabled val="1"/>
        </dgm:presLayoutVars>
      </dgm:prSet>
      <dgm:spPr/>
    </dgm:pt>
  </dgm:ptLst>
  <dgm:cxnLst>
    <dgm:cxn modelId="{EEFA5806-370F-4565-8681-499D2797F460}" type="presOf" srcId="{E4EFE34B-1E42-44F4-8ED2-F8A025E4BBB6}" destId="{365C2AAF-F4CE-40DF-A9AC-4F639CAA6B7F}" srcOrd="0" destOrd="0" presId="urn:microsoft.com/office/officeart/2009/layout/CircleArrowProcess"/>
    <dgm:cxn modelId="{CEAE7331-276E-4383-B0F8-C973BA62EB62}" srcId="{0DB7C6AA-FDA8-4DC9-9E3A-0B8565AA8015}" destId="{3C1AFEBF-C9CB-4621-9D8C-ED2864666DA3}" srcOrd="2" destOrd="0" parTransId="{61489AE2-1771-409C-967A-D7C8DD672350}" sibTransId="{F7C5B7A9-D64E-4C4D-926F-278E38AB9BC6}"/>
    <dgm:cxn modelId="{D5FE1636-16AA-41F3-90F8-7A021ADD0FE5}" srcId="{E4EFE34B-1E42-44F4-8ED2-F8A025E4BBB6}" destId="{7709B251-4D6F-4360-BA1A-333C3B1A317F}" srcOrd="1" destOrd="0" parTransId="{E8C6AEA2-B1E5-42C2-B0CC-0965E057DEA2}" sibTransId="{9CC75B59-73F5-476E-89D3-0D07D47E5D6C}"/>
    <dgm:cxn modelId="{67DF7639-77E7-4C87-9452-117E664C4D0A}" srcId="{0B634659-C1B5-4C7C-B38B-891C26EA5FB8}" destId="{259DAE8C-6966-4092-9073-DA5C4221DAC6}" srcOrd="1" destOrd="0" parTransId="{9C226E90-EED6-411E-A6D6-43757512F437}" sibTransId="{33632272-FAF8-4CC1-ABB9-CC65EC1B1A0A}"/>
    <dgm:cxn modelId="{032F6740-35AF-40D5-B54F-A3F43AF4842C}" srcId="{E4EFE34B-1E42-44F4-8ED2-F8A025E4BBB6}" destId="{C57FBCC3-0BDC-498E-BC62-5C9C82A9C448}" srcOrd="0" destOrd="0" parTransId="{A2CEA332-DF05-453A-AE30-665158EB79DF}" sibTransId="{C90060BD-444C-4B85-911D-76CFBA538F7A}"/>
    <dgm:cxn modelId="{A9A63E46-7014-42E9-8914-526F1BAC248E}" type="presOf" srcId="{C57FBCC3-0BDC-498E-BC62-5C9C82A9C448}" destId="{21667172-B5A9-413E-A1CF-41B953A1088C}" srcOrd="0" destOrd="0" presId="urn:microsoft.com/office/officeart/2009/layout/CircleArrowProcess"/>
    <dgm:cxn modelId="{26D73C47-1133-44AA-84D2-720E9EBEDECB}" type="presOf" srcId="{731E6347-8CC8-47B4-A6C0-F25328058858}" destId="{4A14295D-024A-4F49-868A-5D89A4448EFC}" srcOrd="0" destOrd="1" presId="urn:microsoft.com/office/officeart/2009/layout/CircleArrowProcess"/>
    <dgm:cxn modelId="{34BEB06C-463A-43B2-B9FF-141CEE09C57B}" srcId="{259DAE8C-6966-4092-9073-DA5C4221DAC6}" destId="{731E6347-8CC8-47B4-A6C0-F25328058858}" srcOrd="1" destOrd="0" parTransId="{30B292C3-5B05-4AF1-8156-15AAD7D1867E}" sibTransId="{50E03022-7824-4721-95D5-424F69AF2F23}"/>
    <dgm:cxn modelId="{A6140F73-4328-43E4-940F-43AD5019D072}" srcId="{0B634659-C1B5-4C7C-B38B-891C26EA5FB8}" destId="{E4EFE34B-1E42-44F4-8ED2-F8A025E4BBB6}" srcOrd="2" destOrd="0" parTransId="{D3EA163F-47E5-4F4C-B150-C916396B0DB8}" sibTransId="{FA0F0411-03B0-4FF2-8A27-3674ADA47B41}"/>
    <dgm:cxn modelId="{1053ED73-11A4-4268-8612-CB95489F703D}" srcId="{259DAE8C-6966-4092-9073-DA5C4221DAC6}" destId="{C79C28F6-C242-4D82-817A-F21CA678E08D}" srcOrd="0" destOrd="0" parTransId="{B95686E2-CA3B-497B-9826-3162CDD40895}" sibTransId="{8D07BBF5-26FF-491B-BDB4-93A671D6524D}"/>
    <dgm:cxn modelId="{68140876-5125-4660-95FD-C7890FC24D8D}" srcId="{0B634659-C1B5-4C7C-B38B-891C26EA5FB8}" destId="{0DB7C6AA-FDA8-4DC9-9E3A-0B8565AA8015}" srcOrd="0" destOrd="0" parTransId="{9E901C29-F422-4434-8D0F-07A1CF7B5F17}" sibTransId="{9EDF8C17-1288-4703-9153-CECAF2565277}"/>
    <dgm:cxn modelId="{63982978-4079-4066-A544-BF4B264FFC0D}" type="presOf" srcId="{7709B251-4D6F-4360-BA1A-333C3B1A317F}" destId="{21667172-B5A9-413E-A1CF-41B953A1088C}" srcOrd="0" destOrd="1" presId="urn:microsoft.com/office/officeart/2009/layout/CircleArrowProcess"/>
    <dgm:cxn modelId="{EB0AAF7C-CD16-41FD-8B61-C71B9AC9AD34}" type="presOf" srcId="{3C1AFEBF-C9CB-4621-9D8C-ED2864666DA3}" destId="{52CFF21E-4C14-4B69-BE82-D8208292DC9F}" srcOrd="0" destOrd="2" presId="urn:microsoft.com/office/officeart/2009/layout/CircleArrowProcess"/>
    <dgm:cxn modelId="{FAAEC97C-CF43-48BD-8AE3-6EE0B7D60322}" type="presOf" srcId="{B5B2BF2D-12DD-4D4A-91B5-E558A7C0BB01}" destId="{52CFF21E-4C14-4B69-BE82-D8208292DC9F}" srcOrd="0" destOrd="0" presId="urn:microsoft.com/office/officeart/2009/layout/CircleArrowProcess"/>
    <dgm:cxn modelId="{7DE1F590-57CC-4835-88D0-3E9007E624FA}" type="presOf" srcId="{0DB7C6AA-FDA8-4DC9-9E3A-0B8565AA8015}" destId="{B065FB09-FF05-4640-B962-86B3913A5765}" srcOrd="0" destOrd="0" presId="urn:microsoft.com/office/officeart/2009/layout/CircleArrowProcess"/>
    <dgm:cxn modelId="{E7DEEE94-5E2A-4B36-8811-5B2A2D54FDC8}" type="presOf" srcId="{259DAE8C-6966-4092-9073-DA5C4221DAC6}" destId="{A924C785-FA02-4FB2-A6A1-89678F2862E2}" srcOrd="0" destOrd="0" presId="urn:microsoft.com/office/officeart/2009/layout/CircleArrowProcess"/>
    <dgm:cxn modelId="{80778D96-07CD-4228-938E-83B7CF76506C}" srcId="{0DB7C6AA-FDA8-4DC9-9E3A-0B8565AA8015}" destId="{E593657B-CF51-4A70-8BE9-1EFABFF73535}" srcOrd="1" destOrd="0" parTransId="{DB36A956-DED6-4015-89E6-7AD160D11DB0}" sibTransId="{EDAC032C-8031-40EE-BC65-7FE8FE8E3A16}"/>
    <dgm:cxn modelId="{6CBA1CB4-81B5-4CCC-92E8-D10B4C69B709}" srcId="{0DB7C6AA-FDA8-4DC9-9E3A-0B8565AA8015}" destId="{B5B2BF2D-12DD-4D4A-91B5-E558A7C0BB01}" srcOrd="0" destOrd="0" parTransId="{5DB1BFF1-66C8-4DE6-AB23-92283C391D60}" sibTransId="{2EA0733B-E92B-4921-9630-FA503C217A97}"/>
    <dgm:cxn modelId="{1A39A3D5-0376-4586-B34E-63BE0E59902F}" type="presOf" srcId="{0B634659-C1B5-4C7C-B38B-891C26EA5FB8}" destId="{06DCC25A-F02C-4814-B080-E84192AFDE4F}" srcOrd="0" destOrd="0" presId="urn:microsoft.com/office/officeart/2009/layout/CircleArrowProcess"/>
    <dgm:cxn modelId="{B5B33EE0-8705-46FC-8A9F-1FF468E26576}" type="presOf" srcId="{E593657B-CF51-4A70-8BE9-1EFABFF73535}" destId="{52CFF21E-4C14-4B69-BE82-D8208292DC9F}" srcOrd="0" destOrd="1" presId="urn:microsoft.com/office/officeart/2009/layout/CircleArrowProcess"/>
    <dgm:cxn modelId="{C47B98E5-F055-4509-83E4-AEFCAB34F772}" type="presOf" srcId="{C79C28F6-C242-4D82-817A-F21CA678E08D}" destId="{4A14295D-024A-4F49-868A-5D89A4448EFC}" srcOrd="0" destOrd="0" presId="urn:microsoft.com/office/officeart/2009/layout/CircleArrowProcess"/>
    <dgm:cxn modelId="{463BA724-B8C1-498E-AFCE-183D1EA56CB9}" type="presParOf" srcId="{06DCC25A-F02C-4814-B080-E84192AFDE4F}" destId="{A56474B6-72DE-44C5-B1C2-70D70511AEF4}" srcOrd="0" destOrd="0" presId="urn:microsoft.com/office/officeart/2009/layout/CircleArrowProcess"/>
    <dgm:cxn modelId="{426FC370-D731-43F7-89FF-38564F3B0205}" type="presParOf" srcId="{A56474B6-72DE-44C5-B1C2-70D70511AEF4}" destId="{57176FDE-2FD5-4641-8284-032B54984C9F}" srcOrd="0" destOrd="0" presId="urn:microsoft.com/office/officeart/2009/layout/CircleArrowProcess"/>
    <dgm:cxn modelId="{AA60318C-DA7B-487B-B9EA-44EA3C77E8CA}" type="presParOf" srcId="{06DCC25A-F02C-4814-B080-E84192AFDE4F}" destId="{52CFF21E-4C14-4B69-BE82-D8208292DC9F}" srcOrd="1" destOrd="0" presId="urn:microsoft.com/office/officeart/2009/layout/CircleArrowProcess"/>
    <dgm:cxn modelId="{E9AEFA77-A4E8-4FE2-AEE3-CAB4E2D0F657}" type="presParOf" srcId="{06DCC25A-F02C-4814-B080-E84192AFDE4F}" destId="{B065FB09-FF05-4640-B962-86B3913A5765}" srcOrd="2" destOrd="0" presId="urn:microsoft.com/office/officeart/2009/layout/CircleArrowProcess"/>
    <dgm:cxn modelId="{193751B5-3BA5-4F88-B218-4ACB04FFD2FF}" type="presParOf" srcId="{06DCC25A-F02C-4814-B080-E84192AFDE4F}" destId="{3892D9CF-7550-4FB2-B18E-CAFE50B382E3}" srcOrd="3" destOrd="0" presId="urn:microsoft.com/office/officeart/2009/layout/CircleArrowProcess"/>
    <dgm:cxn modelId="{5D0738DF-13F1-4CF2-8104-66F5F14BCE4E}" type="presParOf" srcId="{3892D9CF-7550-4FB2-B18E-CAFE50B382E3}" destId="{FE650AFF-EE02-4AAE-80D7-2B20A6983808}" srcOrd="0" destOrd="0" presId="urn:microsoft.com/office/officeart/2009/layout/CircleArrowProcess"/>
    <dgm:cxn modelId="{82935E14-79E6-4CDD-97D1-61E947FD3210}" type="presParOf" srcId="{06DCC25A-F02C-4814-B080-E84192AFDE4F}" destId="{4A14295D-024A-4F49-868A-5D89A4448EFC}" srcOrd="4" destOrd="0" presId="urn:microsoft.com/office/officeart/2009/layout/CircleArrowProcess"/>
    <dgm:cxn modelId="{4367C2F5-A3B8-4F5A-A498-51801025BAE8}" type="presParOf" srcId="{06DCC25A-F02C-4814-B080-E84192AFDE4F}" destId="{A924C785-FA02-4FB2-A6A1-89678F2862E2}" srcOrd="5" destOrd="0" presId="urn:microsoft.com/office/officeart/2009/layout/CircleArrowProcess"/>
    <dgm:cxn modelId="{CC3646BE-11D3-4176-9D97-368752BB5563}" type="presParOf" srcId="{06DCC25A-F02C-4814-B080-E84192AFDE4F}" destId="{0ADD1E3C-927A-4087-9140-97189EE0B54E}" srcOrd="6" destOrd="0" presId="urn:microsoft.com/office/officeart/2009/layout/CircleArrowProcess"/>
    <dgm:cxn modelId="{36B8961B-D971-49C1-8EE8-A9F752116676}" type="presParOf" srcId="{0ADD1E3C-927A-4087-9140-97189EE0B54E}" destId="{8D357ECE-2E25-487F-B650-FE8D97BC9042}" srcOrd="0" destOrd="0" presId="urn:microsoft.com/office/officeart/2009/layout/CircleArrowProcess"/>
    <dgm:cxn modelId="{A9A572D5-23A5-47A2-B821-0C5451470ECE}" type="presParOf" srcId="{06DCC25A-F02C-4814-B080-E84192AFDE4F}" destId="{21667172-B5A9-413E-A1CF-41B953A1088C}" srcOrd="7" destOrd="0" presId="urn:microsoft.com/office/officeart/2009/layout/CircleArrowProcess"/>
    <dgm:cxn modelId="{01F2DD79-DC5F-4A06-9246-2F1EA50BC05E}" type="presParOf" srcId="{06DCC25A-F02C-4814-B080-E84192AFDE4F}" destId="{365C2AAF-F4CE-40DF-A9AC-4F639CAA6B7F}" srcOrd="8"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76FDE-2FD5-4641-8284-032B54984C9F}">
      <dsp:nvSpPr>
        <dsp:cNvPr id="0" name=""/>
        <dsp:cNvSpPr/>
      </dsp:nvSpPr>
      <dsp:spPr>
        <a:xfrm>
          <a:off x="365303" y="-95480"/>
          <a:ext cx="2252090" cy="2252433"/>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CFF21E-4C14-4B69-BE82-D8208292DC9F}">
      <dsp:nvSpPr>
        <dsp:cNvPr id="0" name=""/>
        <dsp:cNvSpPr/>
      </dsp:nvSpPr>
      <dsp:spPr>
        <a:xfrm>
          <a:off x="3036441" y="681347"/>
          <a:ext cx="4456179" cy="46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Coach registers team(s)</a:t>
          </a:r>
        </a:p>
        <a:p>
          <a:pPr marL="171450" lvl="1" indent="-171450" algn="l" defTabSz="800100">
            <a:lnSpc>
              <a:spcPct val="90000"/>
            </a:lnSpc>
            <a:spcBef>
              <a:spcPct val="0"/>
            </a:spcBef>
            <a:spcAft>
              <a:spcPct val="15000"/>
            </a:spcAft>
            <a:buChar char="•"/>
          </a:pPr>
          <a:r>
            <a:rPr lang="en-US" sz="1800" kern="1200" dirty="0"/>
            <a:t>2-6 students per team</a:t>
          </a:r>
        </a:p>
        <a:p>
          <a:pPr marL="171450" lvl="1" indent="-171450" algn="l" defTabSz="800100">
            <a:lnSpc>
              <a:spcPct val="90000"/>
            </a:lnSpc>
            <a:spcBef>
              <a:spcPct val="0"/>
            </a:spcBef>
            <a:spcAft>
              <a:spcPct val="15000"/>
            </a:spcAft>
            <a:buChar char="•"/>
          </a:pPr>
          <a:r>
            <a:rPr lang="en-US" sz="1800" kern="1200" dirty="0"/>
            <a:t>Optional technical mentor</a:t>
          </a:r>
        </a:p>
      </dsp:txBody>
      <dsp:txXfrm>
        <a:off x="3036441" y="681347"/>
        <a:ext cx="4456179" cy="467305"/>
      </dsp:txXfrm>
    </dsp:sp>
    <dsp:sp modelId="{B065FB09-FF05-4640-B962-86B3913A5765}">
      <dsp:nvSpPr>
        <dsp:cNvPr id="0" name=""/>
        <dsp:cNvSpPr/>
      </dsp:nvSpPr>
      <dsp:spPr>
        <a:xfrm>
          <a:off x="708782" y="656703"/>
          <a:ext cx="1551877" cy="625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Registration</a:t>
          </a:r>
        </a:p>
      </dsp:txBody>
      <dsp:txXfrm>
        <a:off x="708782" y="656703"/>
        <a:ext cx="1551877" cy="625571"/>
      </dsp:txXfrm>
    </dsp:sp>
    <dsp:sp modelId="{FE650AFF-EE02-4AAE-80D7-2B20A6983808}">
      <dsp:nvSpPr>
        <dsp:cNvPr id="0" name=""/>
        <dsp:cNvSpPr/>
      </dsp:nvSpPr>
      <dsp:spPr>
        <a:xfrm>
          <a:off x="-260206" y="1198709"/>
          <a:ext cx="2252090" cy="2252433"/>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14295D-024A-4F49-868A-5D89A4448EFC}">
      <dsp:nvSpPr>
        <dsp:cNvPr id="0" name=""/>
        <dsp:cNvSpPr/>
      </dsp:nvSpPr>
      <dsp:spPr>
        <a:xfrm>
          <a:off x="3022822" y="1886193"/>
          <a:ext cx="4274233" cy="639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10 online training modules</a:t>
          </a:r>
        </a:p>
        <a:p>
          <a:pPr marL="171450" lvl="1" indent="-171450" algn="l" defTabSz="800100">
            <a:lnSpc>
              <a:spcPct val="90000"/>
            </a:lnSpc>
            <a:spcBef>
              <a:spcPct val="0"/>
            </a:spcBef>
            <a:spcAft>
              <a:spcPct val="15000"/>
            </a:spcAft>
            <a:buChar char="•"/>
          </a:pPr>
          <a:r>
            <a:rPr lang="en-US" sz="1800" kern="1200" dirty="0"/>
            <a:t>3+ online competition rounds</a:t>
          </a:r>
        </a:p>
      </dsp:txBody>
      <dsp:txXfrm>
        <a:off x="3022822" y="1886193"/>
        <a:ext cx="4274233" cy="639805"/>
      </dsp:txXfrm>
    </dsp:sp>
    <dsp:sp modelId="{A924C785-FA02-4FB2-A6A1-89678F2862E2}">
      <dsp:nvSpPr>
        <dsp:cNvPr id="0" name=""/>
        <dsp:cNvSpPr/>
      </dsp:nvSpPr>
      <dsp:spPr>
        <a:xfrm>
          <a:off x="58115" y="1946950"/>
          <a:ext cx="1605489" cy="625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Training &amp; Competition</a:t>
          </a:r>
        </a:p>
      </dsp:txBody>
      <dsp:txXfrm>
        <a:off x="58115" y="1946950"/>
        <a:ext cx="1605489" cy="625571"/>
      </dsp:txXfrm>
    </dsp:sp>
    <dsp:sp modelId="{8D357ECE-2E25-487F-B650-FE8D97BC9042}">
      <dsp:nvSpPr>
        <dsp:cNvPr id="0" name=""/>
        <dsp:cNvSpPr/>
      </dsp:nvSpPr>
      <dsp:spPr>
        <a:xfrm>
          <a:off x="525423" y="2647746"/>
          <a:ext cx="1934894" cy="1935670"/>
        </a:xfrm>
        <a:prstGeom prst="blockArc">
          <a:avLst>
            <a:gd name="adj1" fmla="val 13500000"/>
            <a:gd name="adj2" fmla="val 10800000"/>
            <a:gd name="adj3" fmla="val 1274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67172-B5A9-413E-A1CF-41B953A1088C}">
      <dsp:nvSpPr>
        <dsp:cNvPr id="0" name=""/>
        <dsp:cNvSpPr/>
      </dsp:nvSpPr>
      <dsp:spPr>
        <a:xfrm>
          <a:off x="2999829" y="3248410"/>
          <a:ext cx="4402332" cy="90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solidFill>
                <a:prstClr val="black">
                  <a:hueOff val="0"/>
                  <a:satOff val="0"/>
                  <a:lumOff val="0"/>
                  <a:alphaOff val="0"/>
                </a:prstClr>
              </a:solidFill>
              <a:latin typeface="Calibri"/>
              <a:ea typeface="+mn-ea"/>
              <a:cs typeface="+mn-cs"/>
            </a:rPr>
            <a:t>Scored on remediation of cyber vulnerabilities and knowledge of secure networking.</a:t>
          </a:r>
        </a:p>
        <a:p>
          <a:pPr marL="171450" lvl="1" indent="-171450" algn="l" defTabSz="800100">
            <a:lnSpc>
              <a:spcPct val="90000"/>
            </a:lnSpc>
            <a:spcBef>
              <a:spcPct val="0"/>
            </a:spcBef>
            <a:spcAft>
              <a:spcPct val="15000"/>
            </a:spcAft>
            <a:buChar char="•"/>
          </a:pPr>
          <a:r>
            <a:rPr lang="en-US" sz="1800" kern="1200" dirty="0">
              <a:solidFill>
                <a:prstClr val="black">
                  <a:hueOff val="0"/>
                  <a:satOff val="0"/>
                  <a:lumOff val="0"/>
                  <a:alphaOff val="0"/>
                </a:prstClr>
              </a:solidFill>
              <a:latin typeface="Calibri"/>
              <a:ea typeface="+mn-ea"/>
              <a:cs typeface="+mn-cs"/>
            </a:rPr>
            <a:t>Top teams advance to Semifinals and National Finals</a:t>
          </a:r>
        </a:p>
      </dsp:txBody>
      <dsp:txXfrm>
        <a:off x="2999829" y="3248410"/>
        <a:ext cx="4402332" cy="901160"/>
      </dsp:txXfrm>
    </dsp:sp>
    <dsp:sp modelId="{365C2AAF-F4CE-40DF-A9AC-4F639CAA6B7F}">
      <dsp:nvSpPr>
        <dsp:cNvPr id="0" name=""/>
        <dsp:cNvSpPr/>
      </dsp:nvSpPr>
      <dsp:spPr>
        <a:xfrm>
          <a:off x="726203" y="3261958"/>
          <a:ext cx="1503383" cy="625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Scoring &amp; Advancement</a:t>
          </a:r>
        </a:p>
      </dsp:txBody>
      <dsp:txXfrm>
        <a:off x="726203" y="3261958"/>
        <a:ext cx="1503383" cy="62557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89461-9506-487D-9E89-DCD790AB6D36}" type="datetimeFigureOut">
              <a:rPr lang="en-US" smtClean="0"/>
              <a:t>8/16/2021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01A03-E20E-477A-ADDF-77348011917E}" type="slidenum">
              <a:rPr lang="en-US" smtClean="0"/>
              <a:t>‹#›</a:t>
            </a:fld>
            <a:endParaRPr lang="en-US"/>
          </a:p>
        </p:txBody>
      </p:sp>
    </p:spTree>
    <p:extLst>
      <p:ext uri="{BB962C8B-B14F-4D97-AF65-F5344CB8AC3E}">
        <p14:creationId xmlns:p14="http://schemas.microsoft.com/office/powerpoint/2010/main" val="37797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86EC733-6EF2-4363-BCD9-F0918EE4ABBD}" type="slidenum">
              <a:rPr lang="en-US" smtClean="0"/>
              <a:pPr/>
              <a:t>1</a:t>
            </a:fld>
            <a:endParaRPr lang="en-US" dirty="0"/>
          </a:p>
        </p:txBody>
      </p:sp>
    </p:spTree>
    <p:extLst>
      <p:ext uri="{BB962C8B-B14F-4D97-AF65-F5344CB8AC3E}">
        <p14:creationId xmlns:p14="http://schemas.microsoft.com/office/powerpoint/2010/main" val="2219525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4</a:t>
            </a:fld>
            <a:endParaRPr lang="en-US" dirty="0"/>
          </a:p>
        </p:txBody>
      </p:sp>
      <p:sp>
        <p:nvSpPr>
          <p:cNvPr id="6" name="Slide Image Placeholder 5"/>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3935700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5</a:t>
            </a:fld>
            <a:endParaRPr lang="en-US" dirty="0"/>
          </a:p>
        </p:txBody>
      </p:sp>
      <p:sp>
        <p:nvSpPr>
          <p:cNvPr id="7" name="Slide Image Placeholder 6"/>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362536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6</a:t>
            </a:fld>
            <a:endParaRPr lang="en-US" dirty="0"/>
          </a:p>
        </p:txBody>
      </p:sp>
      <p:sp>
        <p:nvSpPr>
          <p:cNvPr id="7" name="Slide Image Placeholder 6"/>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991926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65263" y="995363"/>
            <a:ext cx="4003675" cy="2252662"/>
          </a:xfrm>
        </p:spPr>
      </p:sp>
      <p:sp>
        <p:nvSpPr>
          <p:cNvPr id="3" name="Notes Placeholder 2"/>
          <p:cNvSpPr>
            <a:spLocks noGrp="1"/>
          </p:cNvSpPr>
          <p:nvPr>
            <p:ph type="body" idx="1"/>
          </p:nvPr>
        </p:nvSpPr>
        <p:spPr/>
        <p:txBody>
          <a:bodyPr>
            <a:normAutofit/>
          </a:bodyPr>
          <a:lstStyle/>
          <a:p>
            <a:pPr lvl="1"/>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8</a:t>
            </a:fld>
            <a:endParaRPr lang="en-US" dirty="0"/>
          </a:p>
        </p:txBody>
      </p:sp>
    </p:spTree>
    <p:extLst>
      <p:ext uri="{BB962C8B-B14F-4D97-AF65-F5344CB8AC3E}">
        <p14:creationId xmlns:p14="http://schemas.microsoft.com/office/powerpoint/2010/main" val="3627376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65263" y="995363"/>
            <a:ext cx="4003675" cy="2252662"/>
          </a:xfrm>
        </p:spPr>
      </p:sp>
      <p:sp>
        <p:nvSpPr>
          <p:cNvPr id="3" name="Notes Placeholder 2"/>
          <p:cNvSpPr>
            <a:spLocks noGrp="1"/>
          </p:cNvSpPr>
          <p:nvPr>
            <p:ph type="body" idx="1"/>
          </p:nvPr>
        </p:nvSpPr>
        <p:spPr/>
        <p:txBody>
          <a:bodyPr>
            <a:normAutofit/>
          </a:bodyPr>
          <a:lstStyle/>
          <a:p>
            <a:pPr lvl="1"/>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9</a:t>
            </a:fld>
            <a:endParaRPr lang="en-US" dirty="0"/>
          </a:p>
        </p:txBody>
      </p:sp>
    </p:spTree>
    <p:extLst>
      <p:ext uri="{BB962C8B-B14F-4D97-AF65-F5344CB8AC3E}">
        <p14:creationId xmlns:p14="http://schemas.microsoft.com/office/powerpoint/2010/main" val="2547526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65263" y="995363"/>
            <a:ext cx="4003675" cy="2252662"/>
          </a:xfrm>
        </p:spPr>
      </p:sp>
      <p:sp>
        <p:nvSpPr>
          <p:cNvPr id="3" name="Notes Placeholder 2"/>
          <p:cNvSpPr>
            <a:spLocks noGrp="1"/>
          </p:cNvSpPr>
          <p:nvPr>
            <p:ph type="body" idx="1"/>
          </p:nvPr>
        </p:nvSpPr>
        <p:spPr/>
        <p:txBody>
          <a:bodyPr>
            <a:normAutofit/>
          </a:bodyPr>
          <a:lstStyle/>
          <a:p>
            <a:pPr lvl="1"/>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10</a:t>
            </a:fld>
            <a:endParaRPr lang="en-US" dirty="0"/>
          </a:p>
        </p:txBody>
      </p:sp>
    </p:spTree>
    <p:extLst>
      <p:ext uri="{BB962C8B-B14F-4D97-AF65-F5344CB8AC3E}">
        <p14:creationId xmlns:p14="http://schemas.microsoft.com/office/powerpoint/2010/main" val="1883526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65263" y="995363"/>
            <a:ext cx="4003675" cy="2252662"/>
          </a:xfrm>
        </p:spPr>
      </p:sp>
      <p:sp>
        <p:nvSpPr>
          <p:cNvPr id="3" name="Notes Placeholder 2"/>
          <p:cNvSpPr>
            <a:spLocks noGrp="1"/>
          </p:cNvSpPr>
          <p:nvPr>
            <p:ph type="body" idx="1"/>
          </p:nvPr>
        </p:nvSpPr>
        <p:spPr/>
        <p:txBody>
          <a:bodyPr>
            <a:normAutofit/>
          </a:bodyPr>
          <a:lstStyle/>
          <a:p>
            <a:pPr lvl="1"/>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11</a:t>
            </a:fld>
            <a:endParaRPr lang="en-US" dirty="0"/>
          </a:p>
        </p:txBody>
      </p:sp>
    </p:spTree>
    <p:extLst>
      <p:ext uri="{BB962C8B-B14F-4D97-AF65-F5344CB8AC3E}">
        <p14:creationId xmlns:p14="http://schemas.microsoft.com/office/powerpoint/2010/main" val="3850327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65263" y="995363"/>
            <a:ext cx="4003675" cy="2252662"/>
          </a:xfrm>
        </p:spPr>
      </p:sp>
      <p:sp>
        <p:nvSpPr>
          <p:cNvPr id="3" name="Notes Placeholder 2"/>
          <p:cNvSpPr>
            <a:spLocks noGrp="1"/>
          </p:cNvSpPr>
          <p:nvPr>
            <p:ph type="body" idx="1"/>
          </p:nvPr>
        </p:nvSpPr>
        <p:spPr/>
        <p:txBody>
          <a:bodyPr>
            <a:normAutofit/>
          </a:bodyPr>
          <a:lstStyle/>
          <a:p>
            <a:pPr lvl="2"/>
            <a:endParaRPr lang="en-US" dirty="0"/>
          </a:p>
          <a:p>
            <a:pPr lvl="2">
              <a:buNone/>
            </a:pPr>
            <a:endParaRPr lang="en-US" dirty="0"/>
          </a:p>
          <a:p>
            <a:pPr lvl="2"/>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12</a:t>
            </a:fld>
            <a:endParaRPr lang="en-US" dirty="0"/>
          </a:p>
        </p:txBody>
      </p:sp>
    </p:spTree>
    <p:extLst>
      <p:ext uri="{BB962C8B-B14F-4D97-AF65-F5344CB8AC3E}">
        <p14:creationId xmlns:p14="http://schemas.microsoft.com/office/powerpoint/2010/main" val="28788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15</a:t>
            </a:fld>
            <a:endParaRPr lang="en-US" dirty="0"/>
          </a:p>
        </p:txBody>
      </p:sp>
      <p:sp>
        <p:nvSpPr>
          <p:cNvPr id="7" name="Slide Image Placeholder 6"/>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2124508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17</a:t>
            </a:fld>
            <a:endParaRPr lang="en-US" dirty="0"/>
          </a:p>
        </p:txBody>
      </p:sp>
      <p:sp>
        <p:nvSpPr>
          <p:cNvPr id="6" name="Slide Image Placeholder 5"/>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1026573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347663" lvl="1" indent="0">
              <a:buNone/>
            </a:pPr>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18</a:t>
            </a:fld>
            <a:endParaRPr lang="en-US" dirty="0"/>
          </a:p>
        </p:txBody>
      </p:sp>
      <p:sp>
        <p:nvSpPr>
          <p:cNvPr id="6" name="Slide Image Placeholder 5"/>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2824392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11EADE2E-E079-40C1-B840-D040524D5ACB}" type="slidenum">
              <a:rPr lang="en-US" smtClean="0"/>
              <a:pPr/>
              <a:t>20</a:t>
            </a:fld>
            <a:endParaRPr lang="en-US" dirty="0"/>
          </a:p>
        </p:txBody>
      </p:sp>
      <p:sp>
        <p:nvSpPr>
          <p:cNvPr id="7" name="Notes Placeholder 6"/>
          <p:cNvSpPr>
            <a:spLocks noGrp="1"/>
          </p:cNvSpPr>
          <p:nvPr>
            <p:ph type="body" idx="1"/>
          </p:nvPr>
        </p:nvSpPr>
        <p:spPr/>
        <p:txBody>
          <a:bodyPr/>
          <a:lstStyle/>
          <a:p>
            <a:pPr lvl="1"/>
            <a:endParaRPr lang="en-US" dirty="0"/>
          </a:p>
        </p:txBody>
      </p:sp>
      <p:sp>
        <p:nvSpPr>
          <p:cNvPr id="5" name="Slide Image Placeholder 4"/>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3486256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21</a:t>
            </a:fld>
            <a:endParaRPr lang="en-US" dirty="0"/>
          </a:p>
        </p:txBody>
      </p:sp>
      <p:sp>
        <p:nvSpPr>
          <p:cNvPr id="6" name="Slide Image Placeholder 5"/>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456622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5"/>
            <a:endParaRPr lang="en-US" dirty="0"/>
          </a:p>
        </p:txBody>
      </p:sp>
      <p:sp>
        <p:nvSpPr>
          <p:cNvPr id="4" name="Slide Number Placeholder 3"/>
          <p:cNvSpPr>
            <a:spLocks noGrp="1"/>
          </p:cNvSpPr>
          <p:nvPr>
            <p:ph type="sldNum" sz="quarter" idx="10"/>
          </p:nvPr>
        </p:nvSpPr>
        <p:spPr/>
        <p:txBody>
          <a:bodyPr/>
          <a:lstStyle/>
          <a:p>
            <a:fld id="{11EADE2E-E079-40C1-B840-D040524D5ACB}" type="slidenum">
              <a:rPr lang="en-US" smtClean="0"/>
              <a:pPr/>
              <a:t>22</a:t>
            </a:fld>
            <a:endParaRPr lang="en-US" dirty="0"/>
          </a:p>
        </p:txBody>
      </p:sp>
      <p:sp>
        <p:nvSpPr>
          <p:cNvPr id="6" name="Slide Image Placeholder 5"/>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326828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p:txBody>
          <a:bodyPr/>
          <a:lstStyle/>
          <a:p>
            <a:pPr lvl="2"/>
            <a:endParaRPr lang="en-US" dirty="0"/>
          </a:p>
        </p:txBody>
      </p:sp>
      <p:sp>
        <p:nvSpPr>
          <p:cNvPr id="10" name="TextBox 9"/>
          <p:cNvSpPr txBox="1"/>
          <p:nvPr/>
        </p:nvSpPr>
        <p:spPr>
          <a:xfrm>
            <a:off x="769762" y="940462"/>
            <a:ext cx="716343" cy="369332"/>
          </a:xfrm>
          <a:prstGeom prst="rect">
            <a:avLst/>
          </a:prstGeom>
          <a:noFill/>
        </p:spPr>
        <p:txBody>
          <a:bodyPr wrap="square" rtlCol="0">
            <a:spAutoFit/>
          </a:bodyPr>
          <a:lstStyle/>
          <a:p>
            <a:r>
              <a:rPr lang="en-US" b="1" dirty="0"/>
              <a:t>11</a:t>
            </a:r>
          </a:p>
        </p:txBody>
      </p:sp>
      <p:sp>
        <p:nvSpPr>
          <p:cNvPr id="3" name="Slide Image Placeholder 2"/>
          <p:cNvSpPr>
            <a:spLocks noGrp="1" noRot="1" noChangeAspect="1"/>
          </p:cNvSpPr>
          <p:nvPr>
            <p:ph type="sldImg"/>
          </p:nvPr>
        </p:nvSpPr>
        <p:spPr>
          <a:xfrm>
            <a:off x="685800" y="1143000"/>
            <a:ext cx="5486400" cy="3086100"/>
          </a:xfrm>
        </p:spPr>
      </p:sp>
    </p:spTree>
    <p:extLst>
      <p:ext uri="{BB962C8B-B14F-4D97-AF65-F5344CB8AC3E}">
        <p14:creationId xmlns:p14="http://schemas.microsoft.com/office/powerpoint/2010/main" val="21670964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3468"/>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1447800"/>
          </a:xfrm>
          <a:prstGeom prst="rect">
            <a:avLst/>
          </a:prstGeom>
          <a:solidFill>
            <a:schemeClr val="bg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TextBox 5"/>
          <p:cNvSpPr txBox="1">
            <a:spLocks noChangeArrowheads="1"/>
          </p:cNvSpPr>
          <p:nvPr userDrawn="1"/>
        </p:nvSpPr>
        <p:spPr bwMode="auto">
          <a:xfrm>
            <a:off x="1750568" y="379413"/>
            <a:ext cx="99811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4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CYBERPATRIOT </a:t>
            </a:r>
            <a:endParaRPr kumimoji="0" lang="en-GB" altLang="en-US" sz="4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7" name="Straight Connector 6"/>
          <p:cNvCxnSpPr/>
          <p:nvPr userDrawn="1"/>
        </p:nvCxnSpPr>
        <p:spPr>
          <a:xfrm>
            <a:off x="0" y="1447800"/>
            <a:ext cx="12192000" cy="0"/>
          </a:xfrm>
          <a:prstGeom prst="line">
            <a:avLst/>
          </a:prstGeom>
          <a:ln w="38100">
            <a:solidFill>
              <a:srgbClr val="FFFFFF">
                <a:alpha val="48000"/>
              </a:srgbClr>
            </a:solidFill>
          </a:ln>
        </p:spPr>
        <p:style>
          <a:lnRef idx="1">
            <a:schemeClr val="accent1"/>
          </a:lnRef>
          <a:fillRef idx="0">
            <a:schemeClr val="accent1"/>
          </a:fillRef>
          <a:effectRef idx="0">
            <a:schemeClr val="accent1"/>
          </a:effectRef>
          <a:fontRef idx="minor">
            <a:schemeClr val="tx1"/>
          </a:fontRef>
        </p:style>
      </p:cxnSp>
      <p:sp>
        <p:nvSpPr>
          <p:cNvPr id="10" name="TextBox 14"/>
          <p:cNvSpPr>
            <a:spLocks noChangeArrowheads="1"/>
          </p:cNvSpPr>
          <p:nvPr userDrawn="1"/>
        </p:nvSpPr>
        <p:spPr bwMode="auto">
          <a:xfrm>
            <a:off x="1625600" y="2438401"/>
            <a:ext cx="8940800" cy="1842655"/>
          </a:xfrm>
          <a:prstGeom prst="roundRect">
            <a:avLst>
              <a:gd name="adj" fmla="val 6755"/>
            </a:avLst>
          </a:prstGeom>
          <a:solidFill>
            <a:schemeClr val="bg1"/>
          </a:solidFill>
          <a:ln w="69850">
            <a:solidFill>
              <a:srgbClr val="FFFFFF">
                <a:alpha val="47842"/>
              </a:srgbClr>
            </a:solidFill>
            <a:round/>
            <a:headEnd/>
            <a:tailEnd/>
          </a:ln>
        </p:spPr>
        <p:txBody>
          <a:bodyPr lIns="82058" tIns="41029" rIns="82058" bIns="41029"/>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2813" rtl="0" eaLnBrk="0" fontAlgn="base" latinLnBrk="0" hangingPunct="0">
              <a:lnSpc>
                <a:spcPct val="100000"/>
              </a:lnSpc>
              <a:spcBef>
                <a:spcPct val="0"/>
              </a:spcBef>
              <a:spcAft>
                <a:spcPts val="600"/>
              </a:spcAft>
              <a:buClrTx/>
              <a:buSzTx/>
              <a:buFontTx/>
              <a:buNone/>
              <a:tabLst/>
              <a:defRPr/>
            </a:pPr>
            <a:endParaRPr kumimoji="0" lang="en-GB" altLang="en-US" sz="3200" b="0" i="0" u="none" strike="noStrike" kern="1200" cap="none" spc="0" normalizeH="0" baseline="0" noProof="0" dirty="0">
              <a:ln>
                <a:noFill/>
              </a:ln>
              <a:solidFill>
                <a:srgbClr val="262626"/>
              </a:solidFill>
              <a:effectLst/>
              <a:uLnTx/>
              <a:uFillTx/>
              <a:latin typeface="Calibri" panose="020F0502020204030204" pitchFamily="34" charset="0"/>
              <a:ea typeface="+mn-ea"/>
              <a:cs typeface="+mn-cs"/>
            </a:endParaRPr>
          </a:p>
        </p:txBody>
      </p:sp>
      <p:sp>
        <p:nvSpPr>
          <p:cNvPr id="2" name="Title 1"/>
          <p:cNvSpPr>
            <a:spLocks noGrp="1"/>
          </p:cNvSpPr>
          <p:nvPr>
            <p:ph type="ctrTitle"/>
          </p:nvPr>
        </p:nvSpPr>
        <p:spPr>
          <a:xfrm>
            <a:off x="1625600" y="2699442"/>
            <a:ext cx="8940800" cy="1336023"/>
          </a:xfrm>
        </p:spPr>
        <p:txBody>
          <a:bodyPr/>
          <a:lstStyle>
            <a:lvl1pPr>
              <a:defRPr sz="2800" b="1">
                <a:solidFill>
                  <a:srgbClr val="00B0F0"/>
                </a:solidFill>
                <a:latin typeface="Arial" panose="020B0604020202020204" pitchFamily="34" charset="0"/>
                <a:cs typeface="Arial" panose="020B0604020202020204" pitchFamily="34" charset="0"/>
              </a:defRPr>
            </a:lvl1pPr>
          </a:lstStyle>
          <a:p>
            <a:r>
              <a:rPr lang="en-US" dirty="0"/>
              <a:t>Click to edit Master title style</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4456" y="125754"/>
            <a:ext cx="1167452" cy="1167452"/>
          </a:xfrm>
          <a:prstGeom prst="rect">
            <a:avLst/>
          </a:prstGeom>
        </p:spPr>
      </p:pic>
      <p:sp>
        <p:nvSpPr>
          <p:cNvPr id="13" name="TextBox 12"/>
          <p:cNvSpPr txBox="1">
            <a:spLocks noChangeArrowheads="1"/>
          </p:cNvSpPr>
          <p:nvPr userDrawn="1"/>
        </p:nvSpPr>
        <p:spPr bwMode="auto">
          <a:xfrm>
            <a:off x="7258229" y="6426244"/>
            <a:ext cx="4242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1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program of the Air Force Association</a:t>
            </a:r>
          </a:p>
        </p:txBody>
      </p: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520157" y="6411312"/>
            <a:ext cx="291069" cy="292744"/>
          </a:xfrm>
          <a:prstGeom prst="rect">
            <a:avLst/>
          </a:prstGeom>
        </p:spPr>
      </p:pic>
      <p:sp>
        <p:nvSpPr>
          <p:cNvPr id="16" name="TextBox 15"/>
          <p:cNvSpPr txBox="1">
            <a:spLocks noChangeArrowheads="1"/>
          </p:cNvSpPr>
          <p:nvPr userDrawn="1"/>
        </p:nvSpPr>
        <p:spPr bwMode="auto">
          <a:xfrm>
            <a:off x="448734" y="6403000"/>
            <a:ext cx="28488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www.uscyberpatriot.org</a:t>
            </a:r>
          </a:p>
        </p:txBody>
      </p:sp>
      <p:sp>
        <p:nvSpPr>
          <p:cNvPr id="17" name="TextBox 16">
            <a:extLst>
              <a:ext uri="{FF2B5EF4-FFF2-40B4-BE49-F238E27FC236}">
                <a16:creationId xmlns:a16="http://schemas.microsoft.com/office/drawing/2014/main" id="{F402C751-D83B-4D09-97EC-7EBB56349F45}"/>
              </a:ext>
            </a:extLst>
          </p:cNvPr>
          <p:cNvSpPr txBox="1"/>
          <p:nvPr userDrawn="1"/>
        </p:nvSpPr>
        <p:spPr>
          <a:xfrm>
            <a:off x="6153912" y="417499"/>
            <a:ext cx="5961888"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THE AIR FORCE ASSOCIATION’S</a:t>
            </a:r>
            <a:br>
              <a:rPr kumimoji="0" lang="en-US"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br>
            <a:r>
              <a:rPr kumimoji="0" lang="en-US"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NATIONAL YOUTH CYBER EDUCATION PROGRAM</a:t>
            </a:r>
            <a:endParaRPr kumimoji="0" lang="en-GB"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cxnSp>
        <p:nvCxnSpPr>
          <p:cNvPr id="9" name="Straight Connector 8">
            <a:extLst>
              <a:ext uri="{FF2B5EF4-FFF2-40B4-BE49-F238E27FC236}">
                <a16:creationId xmlns:a16="http://schemas.microsoft.com/office/drawing/2014/main" id="{6649F3B7-14F9-482F-B0CF-EDD234F7720E}"/>
              </a:ext>
            </a:extLst>
          </p:cNvPr>
          <p:cNvCxnSpPr/>
          <p:nvPr userDrawn="1"/>
        </p:nvCxnSpPr>
        <p:spPr>
          <a:xfrm>
            <a:off x="6035040" y="356616"/>
            <a:ext cx="0" cy="79552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23372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rotWithShape="0">
          <a:gsLst>
            <a:gs pos="0">
              <a:srgbClr val="B2B2B2"/>
            </a:gs>
            <a:gs pos="62000">
              <a:srgbClr val="A1A1A1"/>
            </a:gs>
            <a:gs pos="100000">
              <a:srgbClr val="808080"/>
            </a:gs>
          </a:gsLst>
          <a:lin ang="16200000"/>
        </a:gra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1447800"/>
          </a:xfrm>
          <a:prstGeom prst="rect">
            <a:avLst/>
          </a:prstGeom>
          <a:solidFill>
            <a:schemeClr val="bg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7" name="Straight Connector 6"/>
          <p:cNvCxnSpPr/>
          <p:nvPr userDrawn="1"/>
        </p:nvCxnSpPr>
        <p:spPr>
          <a:xfrm>
            <a:off x="0" y="1447800"/>
            <a:ext cx="12192000" cy="0"/>
          </a:xfrm>
          <a:prstGeom prst="line">
            <a:avLst/>
          </a:prstGeom>
          <a:ln w="38100">
            <a:solidFill>
              <a:srgbClr val="FFFFFF">
                <a:alpha val="48000"/>
              </a:srgbClr>
            </a:solidFill>
          </a:ln>
        </p:spPr>
        <p:style>
          <a:lnRef idx="1">
            <a:schemeClr val="accent1"/>
          </a:lnRef>
          <a:fillRef idx="0">
            <a:schemeClr val="accent1"/>
          </a:fillRef>
          <a:effectRef idx="0">
            <a:schemeClr val="accent1"/>
          </a:effectRef>
          <a:fontRef idx="minor">
            <a:schemeClr val="tx1"/>
          </a:fontRef>
        </p:style>
      </p:cxnSp>
      <p:sp>
        <p:nvSpPr>
          <p:cNvPr id="11" name="TextBox 14"/>
          <p:cNvSpPr>
            <a:spLocks noChangeArrowheads="1"/>
          </p:cNvSpPr>
          <p:nvPr userDrawn="1"/>
        </p:nvSpPr>
        <p:spPr bwMode="auto">
          <a:xfrm>
            <a:off x="1625600" y="2438401"/>
            <a:ext cx="8940800" cy="1843043"/>
          </a:xfrm>
          <a:prstGeom prst="roundRect">
            <a:avLst>
              <a:gd name="adj" fmla="val 6755"/>
            </a:avLst>
          </a:prstGeom>
          <a:solidFill>
            <a:schemeClr val="bg1"/>
          </a:solidFill>
          <a:ln w="69850">
            <a:solidFill>
              <a:srgbClr val="FFFFFF">
                <a:alpha val="47842"/>
              </a:srgbClr>
            </a:solidFill>
            <a:round/>
            <a:headEnd/>
            <a:tailEnd/>
          </a:ln>
        </p:spPr>
        <p:txBody>
          <a:bodyPr lIns="82058" tIns="41029" rIns="82058" bIns="41029"/>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2813" rtl="0" eaLnBrk="0" fontAlgn="base" latinLnBrk="0" hangingPunct="0">
              <a:lnSpc>
                <a:spcPct val="100000"/>
              </a:lnSpc>
              <a:spcBef>
                <a:spcPct val="0"/>
              </a:spcBef>
              <a:spcAft>
                <a:spcPts val="600"/>
              </a:spcAft>
              <a:buClrTx/>
              <a:buSzTx/>
              <a:buFontTx/>
              <a:buNone/>
              <a:tabLst/>
              <a:defRPr/>
            </a:pPr>
            <a:endParaRPr kumimoji="0" lang="en-GB" altLang="en-US" sz="3200" b="0" i="0" u="none" strike="noStrike" kern="1200" cap="none" spc="0" normalizeH="0" baseline="0" noProof="0" dirty="0">
              <a:ln>
                <a:noFill/>
              </a:ln>
              <a:solidFill>
                <a:srgbClr val="262626"/>
              </a:solidFill>
              <a:effectLst/>
              <a:uLnTx/>
              <a:uFillTx/>
              <a:latin typeface="Calibri" panose="020F0502020204030204" pitchFamily="34" charset="0"/>
              <a:ea typeface="+mn-ea"/>
              <a:cs typeface="+mn-cs"/>
            </a:endParaRPr>
          </a:p>
        </p:txBody>
      </p:sp>
      <p:sp>
        <p:nvSpPr>
          <p:cNvPr id="2" name="Title 1"/>
          <p:cNvSpPr>
            <a:spLocks noGrp="1"/>
          </p:cNvSpPr>
          <p:nvPr>
            <p:ph type="ctrTitle"/>
          </p:nvPr>
        </p:nvSpPr>
        <p:spPr>
          <a:xfrm>
            <a:off x="1625600" y="2800351"/>
            <a:ext cx="8940800" cy="1177407"/>
          </a:xfrm>
        </p:spPr>
        <p:txBody>
          <a:bodyPr/>
          <a:lstStyle>
            <a:lvl1pPr>
              <a:defRPr sz="2800" b="1">
                <a:solidFill>
                  <a:srgbClr val="00B0F0"/>
                </a:solidFill>
              </a:defRPr>
            </a:lvl1pPr>
          </a:lstStyle>
          <a:p>
            <a:r>
              <a:rPr lang="en-US" dirty="0"/>
              <a:t>Click to edit Master title style</a:t>
            </a:r>
          </a:p>
        </p:txBody>
      </p:sp>
      <p:sp>
        <p:nvSpPr>
          <p:cNvPr id="14" name="TextBox 13">
            <a:extLst>
              <a:ext uri="{FF2B5EF4-FFF2-40B4-BE49-F238E27FC236}">
                <a16:creationId xmlns:a16="http://schemas.microsoft.com/office/drawing/2014/main" id="{CF8FE2BD-4A96-4C5A-B315-7A6D4EBBAB4D}"/>
              </a:ext>
            </a:extLst>
          </p:cNvPr>
          <p:cNvSpPr txBox="1">
            <a:spLocks noChangeArrowheads="1"/>
          </p:cNvSpPr>
          <p:nvPr userDrawn="1"/>
        </p:nvSpPr>
        <p:spPr bwMode="auto">
          <a:xfrm>
            <a:off x="1750568" y="379413"/>
            <a:ext cx="99811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4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CYBERPATRIOT </a:t>
            </a:r>
            <a:endParaRPr kumimoji="0" lang="en-GB" altLang="en-US" sz="4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21" name="Picture 20">
            <a:extLst>
              <a:ext uri="{FF2B5EF4-FFF2-40B4-BE49-F238E27FC236}">
                <a16:creationId xmlns:a16="http://schemas.microsoft.com/office/drawing/2014/main" id="{BD51CB0A-881F-4862-9721-5A5F6479AF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4456" y="125754"/>
            <a:ext cx="1167452" cy="1167452"/>
          </a:xfrm>
          <a:prstGeom prst="rect">
            <a:avLst/>
          </a:prstGeom>
        </p:spPr>
      </p:pic>
      <p:sp>
        <p:nvSpPr>
          <p:cNvPr id="22" name="TextBox 21">
            <a:extLst>
              <a:ext uri="{FF2B5EF4-FFF2-40B4-BE49-F238E27FC236}">
                <a16:creationId xmlns:a16="http://schemas.microsoft.com/office/drawing/2014/main" id="{FAD1D5E4-B220-412A-BABC-3886C0D0EB38}"/>
              </a:ext>
            </a:extLst>
          </p:cNvPr>
          <p:cNvSpPr txBox="1"/>
          <p:nvPr userDrawn="1"/>
        </p:nvSpPr>
        <p:spPr>
          <a:xfrm>
            <a:off x="6153912" y="417499"/>
            <a:ext cx="5961888"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THE AIR FORCE ASSOCIATION’S</a:t>
            </a:r>
            <a:br>
              <a:rPr kumimoji="0" lang="en-US"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br>
            <a:r>
              <a:rPr kumimoji="0" lang="en-US"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NATIONAL YOUTH CYBER EDUCATION PROGRAM</a:t>
            </a:r>
            <a:endParaRPr kumimoji="0" lang="en-GB" alt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cxnSp>
        <p:nvCxnSpPr>
          <p:cNvPr id="23" name="Straight Connector 22">
            <a:extLst>
              <a:ext uri="{FF2B5EF4-FFF2-40B4-BE49-F238E27FC236}">
                <a16:creationId xmlns:a16="http://schemas.microsoft.com/office/drawing/2014/main" id="{45D844EC-60C1-4813-8826-9A068016D654}"/>
              </a:ext>
            </a:extLst>
          </p:cNvPr>
          <p:cNvCxnSpPr/>
          <p:nvPr userDrawn="1"/>
        </p:nvCxnSpPr>
        <p:spPr>
          <a:xfrm>
            <a:off x="6035040" y="356616"/>
            <a:ext cx="0" cy="79552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76E415A-B717-405C-96AF-7F875CF1A301}"/>
              </a:ext>
            </a:extLst>
          </p:cNvPr>
          <p:cNvSpPr txBox="1">
            <a:spLocks noChangeArrowheads="1"/>
          </p:cNvSpPr>
          <p:nvPr userDrawn="1"/>
        </p:nvSpPr>
        <p:spPr bwMode="auto">
          <a:xfrm>
            <a:off x="7258229" y="6426244"/>
            <a:ext cx="4242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1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program of the Air Force Association</a:t>
            </a:r>
          </a:p>
        </p:txBody>
      </p:sp>
      <p:pic>
        <p:nvPicPr>
          <p:cNvPr id="25" name="Picture 24">
            <a:extLst>
              <a:ext uri="{FF2B5EF4-FFF2-40B4-BE49-F238E27FC236}">
                <a16:creationId xmlns:a16="http://schemas.microsoft.com/office/drawing/2014/main" id="{7F792526-670C-4F2B-9223-588C6F09107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520157" y="6411312"/>
            <a:ext cx="291069" cy="292744"/>
          </a:xfrm>
          <a:prstGeom prst="rect">
            <a:avLst/>
          </a:prstGeom>
        </p:spPr>
      </p:pic>
      <p:sp>
        <p:nvSpPr>
          <p:cNvPr id="26" name="TextBox 25">
            <a:extLst>
              <a:ext uri="{FF2B5EF4-FFF2-40B4-BE49-F238E27FC236}">
                <a16:creationId xmlns:a16="http://schemas.microsoft.com/office/drawing/2014/main" id="{04EE03BF-DF75-4D79-957A-D3BE19E76DB1}"/>
              </a:ext>
            </a:extLst>
          </p:cNvPr>
          <p:cNvSpPr txBox="1">
            <a:spLocks noChangeArrowheads="1"/>
          </p:cNvSpPr>
          <p:nvPr userDrawn="1"/>
        </p:nvSpPr>
        <p:spPr bwMode="auto">
          <a:xfrm>
            <a:off x="448734" y="6403000"/>
            <a:ext cx="28488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www.uscyberpatriot.org</a:t>
            </a:r>
          </a:p>
        </p:txBody>
      </p:sp>
    </p:spTree>
    <p:extLst>
      <p:ext uri="{BB962C8B-B14F-4D97-AF65-F5344CB8AC3E}">
        <p14:creationId xmlns:p14="http://schemas.microsoft.com/office/powerpoint/2010/main" val="192230441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userDrawn="1"/>
        </p:nvSpPr>
        <p:spPr>
          <a:xfrm>
            <a:off x="0" y="1"/>
            <a:ext cx="12192000" cy="1096963"/>
          </a:xfrm>
          <a:prstGeom prst="rect">
            <a:avLst/>
          </a:prstGeom>
          <a:solidFill>
            <a:srgbClr val="0034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3468"/>
              </a:solidFill>
              <a:effectLst/>
              <a:uLnTx/>
              <a:uFillTx/>
              <a:latin typeface="Calibri" panose="020F0502020204030204" pitchFamily="34" charset="0"/>
              <a:ea typeface="+mn-ea"/>
              <a:cs typeface="+mn-cs"/>
            </a:endParaRPr>
          </a:p>
        </p:txBody>
      </p:sp>
      <p:cxnSp>
        <p:nvCxnSpPr>
          <p:cNvPr id="5" name="Straight Connector 4"/>
          <p:cNvCxnSpPr/>
          <p:nvPr userDrawn="1"/>
        </p:nvCxnSpPr>
        <p:spPr>
          <a:xfrm>
            <a:off x="0" y="1077913"/>
            <a:ext cx="12192000" cy="0"/>
          </a:xfrm>
          <a:prstGeom prst="line">
            <a:avLst/>
          </a:prstGeom>
          <a:ln w="57150">
            <a:solidFill>
              <a:schemeClr val="bg1">
                <a:alpha val="44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31520" y="231653"/>
            <a:ext cx="10850879" cy="578802"/>
          </a:xfrm>
        </p:spPr>
        <p:txBody>
          <a:bodyPr/>
          <a:lstStyle>
            <a:lvl1pPr algn="l">
              <a:defRPr sz="3400" cap="none" baseline="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731520" y="1509623"/>
            <a:ext cx="10728960" cy="4633793"/>
          </a:xfrm>
        </p:spPr>
        <p:txBody>
          <a:bodyPr/>
          <a:lstStyle>
            <a:lvl1pPr marL="228600" indent="-228600">
              <a:defRPr sz="2200">
                <a:latin typeface="Arial" panose="020B0604020202020204" pitchFamily="34" charset="0"/>
                <a:cs typeface="Arial" panose="020B0604020202020204" pitchFamily="34" charset="0"/>
              </a:defRPr>
            </a:lvl1pPr>
            <a:lvl2pPr>
              <a:defRPr sz="2200">
                <a:latin typeface="Arial" panose="020B0604020202020204" pitchFamily="34" charset="0"/>
                <a:cs typeface="Arial" panose="020B0604020202020204" pitchFamily="34" charset="0"/>
              </a:defRPr>
            </a:lvl2pPr>
            <a:lvl3pPr>
              <a:defRPr sz="2200">
                <a:latin typeface="Arial" panose="020B0604020202020204" pitchFamily="34" charset="0"/>
                <a:cs typeface="Arial" panose="020B0604020202020204" pitchFamily="34" charset="0"/>
              </a:defRPr>
            </a:lvl3pPr>
            <a:lvl4pPr>
              <a:defRPr sz="2200">
                <a:latin typeface="Arial" panose="020B0604020202020204" pitchFamily="34" charset="0"/>
                <a:cs typeface="Arial" panose="020B0604020202020204" pitchFamily="34" charset="0"/>
              </a:defRPr>
            </a:lvl4pPr>
            <a:lvl5pPr>
              <a:defRPr sz="2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Box 14">
            <a:extLst>
              <a:ext uri="{FF2B5EF4-FFF2-40B4-BE49-F238E27FC236}">
                <a16:creationId xmlns:a16="http://schemas.microsoft.com/office/drawing/2014/main" id="{425C40B9-11F1-44CA-923E-849179F4569F}"/>
              </a:ext>
            </a:extLst>
          </p:cNvPr>
          <p:cNvSpPr txBox="1">
            <a:spLocks noChangeArrowheads="1"/>
          </p:cNvSpPr>
          <p:nvPr userDrawn="1"/>
        </p:nvSpPr>
        <p:spPr bwMode="auto">
          <a:xfrm>
            <a:off x="352259" y="6437376"/>
            <a:ext cx="417402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1"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rPr>
              <a:t>© Air Force Association</a:t>
            </a:r>
          </a:p>
        </p:txBody>
      </p:sp>
      <p:sp>
        <p:nvSpPr>
          <p:cNvPr id="16" name="Slide Number Placeholder 5">
            <a:extLst>
              <a:ext uri="{FF2B5EF4-FFF2-40B4-BE49-F238E27FC236}">
                <a16:creationId xmlns:a16="http://schemas.microsoft.com/office/drawing/2014/main" id="{4CFF30D0-990C-47A0-B0D1-983AFC37C107}"/>
              </a:ext>
            </a:extLst>
          </p:cNvPr>
          <p:cNvSpPr>
            <a:spLocks noGrp="1"/>
          </p:cNvSpPr>
          <p:nvPr>
            <p:ph type="sldNum" sz="quarter" idx="10"/>
          </p:nvPr>
        </p:nvSpPr>
        <p:spPr>
          <a:xfrm>
            <a:off x="11265428" y="6338948"/>
            <a:ext cx="678004" cy="365125"/>
          </a:xfrm>
        </p:spPr>
        <p:txBody>
          <a:bodyPr/>
          <a:lstStyle>
            <a:lvl1pPr algn="ctr">
              <a:defRPr sz="1000" b="0">
                <a:solidFill>
                  <a:schemeClr val="bg1">
                    <a:lumMod val="50000"/>
                  </a:schemeClr>
                </a:solidFill>
                <a:latin typeface="Arial" panose="020B0604020202020204" pitchFamily="34" charset="0"/>
                <a:cs typeface="Arial" panose="020B0604020202020204" pitchFamily="34" charset="0"/>
              </a:defRPr>
            </a:lvl1pPr>
          </a:lstStyle>
          <a:p>
            <a:fld id="{58B47EDC-70F1-447E-86E6-DFEA746573BF}" type="slidenum">
              <a:rPr lang="en-US" altLang="en-US" smtClean="0"/>
              <a:pPr/>
              <a:t>‹#›</a:t>
            </a:fld>
            <a:endParaRPr lang="en-US" altLang="en-US" dirty="0"/>
          </a:p>
        </p:txBody>
      </p:sp>
    </p:spTree>
    <p:extLst>
      <p:ext uri="{BB962C8B-B14F-4D97-AF65-F5344CB8AC3E}">
        <p14:creationId xmlns:p14="http://schemas.microsoft.com/office/powerpoint/2010/main" val="2961231039"/>
      </p:ext>
    </p:extLst>
  </p:cSld>
  <p:clrMapOvr>
    <a:masterClrMapping/>
  </p:clrMapOvr>
  <p:transition>
    <p:fade/>
  </p:transition>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5"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01B1A7A8-CDE3-42F1-8A6C-4B964FBB0E40}"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316066262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6"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6B420F23-6CD2-4079-BB30-9FE494229382}"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160246329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8"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9"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7A5634FB-DAB3-4A29-AD68-134257F14A1C}"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99369662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4"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5"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FB9782E5-ACA4-4D15-B3D8-500A238BD417}"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94126731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3"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4"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C0103335-84F7-4DDE-BAD8-5EAA68F75C1D}"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139501519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6"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B51F2012-6616-4294-972B-0802332FAE39}"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364446787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6"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6973CCD2-0B84-4A13-B00D-8C6716469711}"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116195531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5"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DCF0641C-6700-49EB-9620-8D4A99C44818}"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2528254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400" fontAlgn="base">
              <a:spcBef>
                <a:spcPct val="0"/>
              </a:spcBef>
              <a:spcAft>
                <a:spcPct val="0"/>
              </a:spcAft>
              <a:defRPr/>
            </a:pPr>
            <a:endParaRPr lang="en-US" altLang="en-US" dirty="0"/>
          </a:p>
        </p:txBody>
      </p:sp>
      <p:sp>
        <p:nvSpPr>
          <p:cNvPr id="5" name="Footer Placeholder 4"/>
          <p:cNvSpPr>
            <a:spLocks noGrp="1"/>
          </p:cNvSpPr>
          <p:nvPr>
            <p:ph type="ftr" sz="quarter" idx="11"/>
          </p:nvPr>
        </p:nvSpPr>
        <p:spPr/>
        <p:txBody>
          <a:bodyPr/>
          <a:lstStyle>
            <a:lvl1pPr>
              <a:defRPr/>
            </a:lvl1pPr>
          </a:lstStyle>
          <a:p>
            <a:pPr defTabSz="914400" fontAlgn="base">
              <a:spcBef>
                <a:spcPct val="0"/>
              </a:spcBef>
              <a:spcAft>
                <a:spcPct val="0"/>
              </a:spcAft>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defTabSz="914400" fontAlgn="base">
              <a:spcBef>
                <a:spcPct val="0"/>
              </a:spcBef>
              <a:spcAft>
                <a:spcPct val="0"/>
              </a:spcAft>
              <a:defRPr/>
            </a:pPr>
            <a:fld id="{2CF3DE33-ACD2-4C31-A559-A7AAF040C8B6}"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397142541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defTabSz="914400" fontAlgn="base">
              <a:spcBef>
                <a:spcPct val="0"/>
              </a:spcBef>
              <a:spcAft>
                <a:spcPct val="0"/>
              </a:spcAft>
              <a:defRPr/>
            </a:pPr>
            <a:endParaRPr lang="en-US" dirty="0"/>
          </a:p>
        </p:txBody>
      </p:sp>
      <p:sp>
        <p:nvSpPr>
          <p:cNvPr id="5" name="Footer Placeholder 4"/>
          <p:cNvSpPr>
            <a:spLocks noGrp="1"/>
          </p:cNvSpPr>
          <p:nvPr>
            <p:ph type="ftr" sz="quarter" idx="11"/>
          </p:nvPr>
        </p:nvSpPr>
        <p:spPr/>
        <p:txBody>
          <a:bodyPr/>
          <a:lstStyle/>
          <a:p>
            <a:pPr defTabSz="914400" fontAlgn="base">
              <a:spcBef>
                <a:spcPct val="0"/>
              </a:spcBef>
              <a:spcAft>
                <a:spcPct val="0"/>
              </a:spcAft>
              <a:defRPr/>
            </a:pPr>
            <a:endParaRPr lang="en-US" dirty="0"/>
          </a:p>
        </p:txBody>
      </p:sp>
      <p:sp>
        <p:nvSpPr>
          <p:cNvPr id="6" name="Slide Number Placeholder 5"/>
          <p:cNvSpPr>
            <a:spLocks noGrp="1"/>
          </p:cNvSpPr>
          <p:nvPr>
            <p:ph type="sldNum" sz="quarter" idx="12"/>
          </p:nvPr>
        </p:nvSpPr>
        <p:spPr/>
        <p:txBody>
          <a:bodyPr/>
          <a:lstStyle/>
          <a:p>
            <a:pPr defTabSz="914400" fontAlgn="base">
              <a:spcBef>
                <a:spcPct val="0"/>
              </a:spcBef>
              <a:spcAft>
                <a:spcPct val="0"/>
              </a:spcAft>
              <a:defRPr/>
            </a:pPr>
            <a:fld id="{B5C8ED9A-1A6B-4D08-BEDE-3B2114E4B72F}" type="slidenum">
              <a:rPr lang="en-US" smtClean="0"/>
              <a:pPr defTabSz="914400" fontAlgn="base">
                <a:spcBef>
                  <a:spcPct val="0"/>
                </a:spcBef>
                <a:spcAft>
                  <a:spcPct val="0"/>
                </a:spcAft>
                <a:defRPr/>
              </a:pPr>
              <a:t>‹#›</a:t>
            </a:fld>
            <a:endParaRPr lang="en-US" dirty="0"/>
          </a:p>
        </p:txBody>
      </p:sp>
    </p:spTree>
    <p:extLst>
      <p:ext uri="{BB962C8B-B14F-4D97-AF65-F5344CB8AC3E}">
        <p14:creationId xmlns:p14="http://schemas.microsoft.com/office/powerpoint/2010/main" val="558383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defTabSz="914400" fontAlgn="base">
              <a:spcBef>
                <a:spcPct val="0"/>
              </a:spcBef>
              <a:spcAft>
                <a:spcPct val="0"/>
              </a:spcAft>
              <a:defRPr/>
            </a:pPr>
            <a:endParaRPr lang="en-US" alt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anose="020F0502020204030204" pitchFamily="34" charset="0"/>
              </a:defRPr>
            </a:lvl1pPr>
          </a:lstStyle>
          <a:p>
            <a:pPr defTabSz="914400" fontAlgn="base">
              <a:spcBef>
                <a:spcPct val="0"/>
              </a:spcBef>
              <a:spcAft>
                <a:spcPct val="0"/>
              </a:spcAft>
              <a:defRPr/>
            </a:pPr>
            <a:endParaRPr lang="en-US" alt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pPr defTabSz="914400" fontAlgn="base">
              <a:spcBef>
                <a:spcPct val="0"/>
              </a:spcBef>
              <a:spcAft>
                <a:spcPct val="0"/>
              </a:spcAft>
              <a:defRPr/>
            </a:pPr>
            <a:fld id="{385597BB-8BDB-4775-B666-9E4B0F3A5805}" type="slidenum">
              <a:rPr lang="en-US" altLang="en-US" smtClean="0"/>
              <a:pPr defTabSz="914400" fontAlgn="base">
                <a:spcBef>
                  <a:spcPct val="0"/>
                </a:spcBef>
                <a:spcAft>
                  <a:spcPct val="0"/>
                </a:spcAft>
                <a:defRPr/>
              </a:pPr>
              <a:t>‹#›</a:t>
            </a:fld>
            <a:endParaRPr lang="en-US" altLang="en-US" dirty="0"/>
          </a:p>
        </p:txBody>
      </p:sp>
    </p:spTree>
    <p:extLst>
      <p:ext uri="{BB962C8B-B14F-4D97-AF65-F5344CB8AC3E}">
        <p14:creationId xmlns:p14="http://schemas.microsoft.com/office/powerpoint/2010/main" val="22456738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ransition>
    <p:fade/>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video" Target="https://www.youtube.com/embed/sesaiofAEWA" TargetMode="External"/><Relationship Id="rId6" Type="http://schemas.openxmlformats.org/officeDocument/2006/relationships/comments" Target="../comments/comment1.xml"/><Relationship Id="rId5" Type="http://schemas.openxmlformats.org/officeDocument/2006/relationships/image" Target="../media/image3.jpeg"/><Relationship Id="rId4" Type="http://schemas.openxmlformats.org/officeDocument/2006/relationships/hyperlink" Target="https://www.youtube.com/watch?v=sesaiofAEWA"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comments" Target="../comments/commen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www.hackeducation.com/" TargetMode="External"/><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hyperlink" Target="http://www.edupics.com/coloring-page-winner-i14142.html" TargetMode="External"/><Relationship Id="rId5" Type="http://schemas.openxmlformats.org/officeDocument/2006/relationships/diagramQuickStyle" Target="../diagrams/quickStyle1.xml"/><Relationship Id="rId10" Type="http://schemas.microsoft.com/office/2007/relationships/hdphoto" Target="../media/hdphoto1.wdp"/><Relationship Id="rId4" Type="http://schemas.openxmlformats.org/officeDocument/2006/relationships/diagramLayout" Target="../diagrams/layout1.xml"/><Relationship Id="rId9" Type="http://schemas.openxmlformats.org/officeDocument/2006/relationships/image" Target="../media/image7.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omments" Target="../comments/comment3.xml"/></Relationships>
</file>

<file path=ppt/slides/_rels/slide9.xml.rels><?xml version="1.0" encoding="UTF-8" standalone="yes"?>
<Relationships xmlns="http://schemas.openxmlformats.org/package/2006/relationships"><Relationship Id="rId3" Type="http://schemas.openxmlformats.org/officeDocument/2006/relationships/hyperlink" Target="https://www.uscyberpatriot.org/competition/technical-specification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comments" Target="../comments/comment5.xml"/><Relationship Id="rId5" Type="http://schemas.openxmlformats.org/officeDocument/2006/relationships/image" Target="../media/image17.jpeg"/><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umuc.edu/"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7.xml"/></Relationships>
</file>

<file path=ppt/slides/_rels/slide19.xml.rels><?xml version="1.0" encoding="UTF-8" standalone="yes"?>
<Relationships xmlns="http://schemas.openxmlformats.org/package/2006/relationships"><Relationship Id="rId2" Type="http://schemas.openxmlformats.org/officeDocument/2006/relationships/hyperlink" Target="https://www.cisa.gov/critical-infrastructure-sectors"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www.csoonline.com/" TargetMode="External"/><Relationship Id="rId7" Type="http://schemas.openxmlformats.org/officeDocument/2006/relationships/comments" Target="../comments/comment8.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s://www.nytimes.com/" TargetMode="External"/><Relationship Id="rId5" Type="http://schemas.openxmlformats.org/officeDocument/2006/relationships/hyperlink" Target="http://www.gcn.com/" TargetMode="External"/><Relationship Id="rId4" Type="http://schemas.openxmlformats.org/officeDocument/2006/relationships/hyperlink" Target="http://www.bloomberg.co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bits.blogs.nytimes.com/2014/08/22/secret-service-warns-1000-businesses-on-hack-that-affected-target/"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omments" Target="../comments/comment9.xml"/><Relationship Id="rId3" Type="http://schemas.openxmlformats.org/officeDocument/2006/relationships/image" Target="../media/image20.png"/><Relationship Id="rId7" Type="http://schemas.openxmlformats.org/officeDocument/2006/relationships/image" Target="../media/image24.jpeg"/><Relationship Id="rId12" Type="http://schemas.openxmlformats.org/officeDocument/2006/relationships/hyperlink" Target="http://www.computerworld.com/s/article/9237394/Demand_for_IT_security_experts_outstrips_supply?pageNumber=2"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3.jpeg"/><Relationship Id="rId11" Type="http://schemas.openxmlformats.org/officeDocument/2006/relationships/image" Target="../media/image28.png"/><Relationship Id="rId5" Type="http://schemas.openxmlformats.org/officeDocument/2006/relationships/image" Target="../media/image22.jpeg"/><Relationship Id="rId10" Type="http://schemas.openxmlformats.org/officeDocument/2006/relationships/image" Target="../media/image27.jpeg"/><Relationship Id="rId4" Type="http://schemas.openxmlformats.org/officeDocument/2006/relationships/image" Target="../media/image21.jpeg"/><Relationship Id="rId9"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hyperlink" Target="https://medium.com/@coderacademy/10-careers-in-cyber-security-you-should-consider-2613061a8cb2"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omments" Target="../comments/comment10.xml"/></Relationships>
</file>

<file path=ppt/slides/_rels/slide24.xml.rels><?xml version="1.0" encoding="UTF-8" standalone="yes"?>
<Relationships xmlns="http://schemas.openxmlformats.org/package/2006/relationships"><Relationship Id="rId3" Type="http://schemas.openxmlformats.org/officeDocument/2006/relationships/hyperlink" Target="http://www.uscyberpatriot.org/competition/training-materials/windows" TargetMode="External"/><Relationship Id="rId7" Type="http://schemas.openxmlformats.org/officeDocument/2006/relationships/comments" Target="../comments/comment11.xml"/><Relationship Id="rId2" Type="http://schemas.openxmlformats.org/officeDocument/2006/relationships/hyperlink" Target="http://www.uscyberpatriot.org/competition/rules-book" TargetMode="External"/><Relationship Id="rId1" Type="http://schemas.openxmlformats.org/officeDocument/2006/relationships/slideLayout" Target="../slideLayouts/slideLayout3.xml"/><Relationship Id="rId6" Type="http://schemas.openxmlformats.org/officeDocument/2006/relationships/hyperlink" Target="https://www.uscyberpatriot.org/Pages/Announcements/Cisco_Netacad_Courses.aspx" TargetMode="External"/><Relationship Id="rId5" Type="http://schemas.openxmlformats.org/officeDocument/2006/relationships/hyperlink" Target="http://www.uscyberpatriot.org/competition/training-materials/practice-images" TargetMode="External"/><Relationship Id="rId4" Type="http://schemas.openxmlformats.org/officeDocument/2006/relationships/hyperlink" Target="http://www.uscyberpatriot.org/competition/training-materials/linu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UNIT 1</a:t>
            </a:r>
            <a:br>
              <a:rPr lang="en-US" sz="3200" dirty="0"/>
            </a:br>
            <a:br>
              <a:rPr lang="en-US" sz="1100" dirty="0"/>
            </a:br>
            <a:r>
              <a:rPr lang="en-US" sz="2400" b="0" dirty="0">
                <a:solidFill>
                  <a:schemeClr val="tx1"/>
                </a:solidFill>
              </a:rPr>
              <a:t>Introduction to CyberPatriot and Cybersecurity</a:t>
            </a:r>
            <a:endParaRPr lang="en-US" b="0" dirty="0">
              <a:solidFill>
                <a:schemeClr val="tx1"/>
              </a:solidFill>
            </a:endParaRPr>
          </a:p>
        </p:txBody>
      </p:sp>
    </p:spTree>
    <p:extLst>
      <p:ext uri="{BB962C8B-B14F-4D97-AF65-F5344CB8AC3E}">
        <p14:creationId xmlns:p14="http://schemas.microsoft.com/office/powerpoint/2010/main" val="406264749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Understanding of the CyberPatriot competition.</a:t>
            </a:r>
          </a:p>
          <a:p>
            <a:pPr lvl="1"/>
            <a:r>
              <a:rPr lang="en-US" dirty="0"/>
              <a:t>Overview</a:t>
            </a:r>
          </a:p>
          <a:p>
            <a:pPr lvl="1"/>
            <a:r>
              <a:rPr lang="en-US" dirty="0"/>
              <a:t>National Finals Competition</a:t>
            </a:r>
          </a:p>
          <a:p>
            <a:pPr lvl="1"/>
            <a:r>
              <a:rPr lang="en-US" dirty="0"/>
              <a:t>Team Structure</a:t>
            </a:r>
          </a:p>
          <a:p>
            <a:pPr lvl="1"/>
            <a:r>
              <a:rPr lang="en-US" dirty="0"/>
              <a:t>Scoring</a:t>
            </a:r>
          </a:p>
          <a:p>
            <a:pPr lvl="1"/>
            <a:r>
              <a:rPr lang="en-US" dirty="0"/>
              <a:t>Timeline</a:t>
            </a:r>
          </a:p>
          <a:p>
            <a:pPr lvl="1"/>
            <a:endParaRPr lang="en-US" sz="1200" dirty="0"/>
          </a:p>
          <a:p>
            <a:r>
              <a:rPr lang="en-US" dirty="0"/>
              <a:t>Broad understanding of cybersecurity and its importance in everyday life</a:t>
            </a:r>
          </a:p>
          <a:p>
            <a:pPr lvl="1"/>
            <a:r>
              <a:rPr lang="en-US" dirty="0"/>
              <a:t>Cybersecurity in Everyday Life</a:t>
            </a:r>
          </a:p>
          <a:p>
            <a:pPr lvl="1"/>
            <a:r>
              <a:rPr lang="en-US" dirty="0"/>
              <a:t>Cybersecurity in the World</a:t>
            </a:r>
          </a:p>
          <a:p>
            <a:pPr lvl="1"/>
            <a:r>
              <a:rPr lang="en-US" dirty="0"/>
              <a:t>Cybersecurity Careers</a:t>
            </a:r>
          </a:p>
        </p:txBody>
      </p:sp>
      <p:sp>
        <p:nvSpPr>
          <p:cNvPr id="4" name="Title 3"/>
          <p:cNvSpPr>
            <a:spLocks noGrp="1"/>
          </p:cNvSpPr>
          <p:nvPr>
            <p:ph type="title"/>
          </p:nvPr>
        </p:nvSpPr>
        <p:spPr/>
        <p:txBody>
          <a:bodyPr>
            <a:normAutofit fontScale="90000"/>
          </a:bodyPr>
          <a:lstStyle/>
          <a:p>
            <a:r>
              <a:rPr lang="en-US" sz="3600" dirty="0"/>
              <a:t>Learning Objectives</a:t>
            </a:r>
          </a:p>
        </p:txBody>
      </p:sp>
      <p:sp>
        <p:nvSpPr>
          <p:cNvPr id="5" name="Slide Number Placeholder 4">
            <a:extLst>
              <a:ext uri="{FF2B5EF4-FFF2-40B4-BE49-F238E27FC236}">
                <a16:creationId xmlns:a16="http://schemas.microsoft.com/office/drawing/2014/main" id="{149BCB83-330A-44C9-A567-FCF0A2CA3D68}"/>
              </a:ext>
            </a:extLst>
          </p:cNvPr>
          <p:cNvSpPr>
            <a:spLocks noGrp="1"/>
          </p:cNvSpPr>
          <p:nvPr>
            <p:ph type="sldNum" sz="quarter" idx="10"/>
          </p:nvPr>
        </p:nvSpPr>
        <p:spPr/>
        <p:txBody>
          <a:bodyPr/>
          <a:lstStyle/>
          <a:p>
            <a:fld id="{58B47EDC-70F1-447E-86E6-DFEA746573BF}" type="slidenum">
              <a:rPr lang="en-US" altLang="en-US" smtClean="0"/>
              <a:pPr/>
              <a:t>2</a:t>
            </a:fld>
            <a:endParaRPr lang="en-US" altLang="en-US" dirty="0"/>
          </a:p>
        </p:txBody>
      </p:sp>
    </p:spTree>
    <p:extLst>
      <p:ext uri="{BB962C8B-B14F-4D97-AF65-F5344CB8AC3E}">
        <p14:creationId xmlns:p14="http://schemas.microsoft.com/office/powerpoint/2010/main" val="71400525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625600" y="2718055"/>
            <a:ext cx="8940800" cy="1323593"/>
          </a:xfrm>
        </p:spPr>
        <p:txBody>
          <a:bodyPr/>
          <a:lstStyle/>
          <a:p>
            <a:r>
              <a:rPr lang="en-US" dirty="0">
                <a:latin typeface="Arial" panose="020B0604020202020204" pitchFamily="34" charset="0"/>
                <a:cs typeface="Arial" panose="020B0604020202020204" pitchFamily="34" charset="0"/>
              </a:rPr>
              <a:t>UNIT 1 - SECTION 1</a:t>
            </a:r>
            <a:br>
              <a:rPr lang="en-US" dirty="0">
                <a:latin typeface="Arial" panose="020B0604020202020204" pitchFamily="34" charset="0"/>
                <a:cs typeface="Arial" panose="020B0604020202020204" pitchFamily="34" charset="0"/>
              </a:rPr>
            </a:br>
            <a:br>
              <a:rPr lang="en-US" sz="1100" dirty="0">
                <a:latin typeface="Arial" panose="020B0604020202020204" pitchFamily="34" charset="0"/>
                <a:cs typeface="Arial" panose="020B0604020202020204" pitchFamily="34" charset="0"/>
              </a:rPr>
            </a:br>
            <a:r>
              <a:rPr lang="en-US" sz="2400" b="0" dirty="0">
                <a:solidFill>
                  <a:schemeClr val="tx1"/>
                </a:solidFill>
                <a:latin typeface="Arial" panose="020B0604020202020204" pitchFamily="34" charset="0"/>
                <a:cs typeface="Arial" panose="020B0604020202020204" pitchFamily="34" charset="0"/>
              </a:rPr>
              <a:t>The National Youth Cyber Defense Competition</a:t>
            </a:r>
            <a:endParaRPr lang="en-US" b="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6558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normAutofit fontScale="90000"/>
          </a:bodyPr>
          <a:lstStyle/>
          <a:p>
            <a:r>
              <a:rPr lang="en-US" sz="3600" dirty="0"/>
              <a:t>What is CyberPatriot?</a:t>
            </a:r>
          </a:p>
        </p:txBody>
      </p:sp>
      <p:sp>
        <p:nvSpPr>
          <p:cNvPr id="4" name="Rectangle 3"/>
          <p:cNvSpPr/>
          <p:nvPr/>
        </p:nvSpPr>
        <p:spPr>
          <a:xfrm>
            <a:off x="2512099" y="6128586"/>
            <a:ext cx="7167801" cy="461665"/>
          </a:xfrm>
          <a:prstGeom prst="rect">
            <a:avLst/>
          </a:prstGeom>
        </p:spPr>
        <p:txBody>
          <a:bodyPr wrap="square">
            <a:spAutoFit/>
          </a:bodyPr>
          <a:lstStyle/>
          <a:p>
            <a:pPr algn="ctr"/>
            <a:r>
              <a:rPr lang="en-US" sz="1200" dirty="0"/>
              <a:t>Click URL to play CyberPatriot recruitment video: </a:t>
            </a:r>
            <a:r>
              <a:rPr lang="en-US" sz="1200" dirty="0">
                <a:hlinkClick r:id="rId4"/>
              </a:rPr>
              <a:t>https://www.youtube.com/watch?v=sesaiofAEWA</a:t>
            </a:r>
            <a:endParaRPr lang="en-US" sz="1200" dirty="0"/>
          </a:p>
          <a:p>
            <a:pPr algn="ctr"/>
            <a:endParaRPr lang="en-US" sz="1200" dirty="0"/>
          </a:p>
        </p:txBody>
      </p:sp>
      <p:pic>
        <p:nvPicPr>
          <p:cNvPr id="2" name="Online Media 1" title="CyberPatriot X (2017)">
            <a:hlinkClick r:id="" action="ppaction://media"/>
            <a:extLst>
              <a:ext uri="{FF2B5EF4-FFF2-40B4-BE49-F238E27FC236}">
                <a16:creationId xmlns:a16="http://schemas.microsoft.com/office/drawing/2014/main" id="{2D2F7D0A-81B5-4116-A996-699E816C86AC}"/>
              </a:ext>
            </a:extLst>
          </p:cNvPr>
          <p:cNvPicPr>
            <a:picLocks noRot="1" noChangeAspect="1"/>
          </p:cNvPicPr>
          <p:nvPr>
            <a:videoFile r:link="rId1"/>
          </p:nvPr>
        </p:nvPicPr>
        <p:blipFill>
          <a:blip r:embed="rId5"/>
          <a:stretch>
            <a:fillRect/>
          </a:stretch>
        </p:blipFill>
        <p:spPr>
          <a:xfrm>
            <a:off x="1824755" y="1234635"/>
            <a:ext cx="8542489" cy="4805150"/>
          </a:xfrm>
          <a:prstGeom prst="rect">
            <a:avLst/>
          </a:prstGeom>
        </p:spPr>
      </p:pic>
      <p:sp>
        <p:nvSpPr>
          <p:cNvPr id="5" name="Slide Number Placeholder 4">
            <a:extLst>
              <a:ext uri="{FF2B5EF4-FFF2-40B4-BE49-F238E27FC236}">
                <a16:creationId xmlns:a16="http://schemas.microsoft.com/office/drawing/2014/main" id="{EFF287E3-5C71-4901-A037-664E868BD91C}"/>
              </a:ext>
            </a:extLst>
          </p:cNvPr>
          <p:cNvSpPr>
            <a:spLocks noGrp="1"/>
          </p:cNvSpPr>
          <p:nvPr>
            <p:ph type="sldNum" sz="quarter" idx="10"/>
          </p:nvPr>
        </p:nvSpPr>
        <p:spPr/>
        <p:txBody>
          <a:bodyPr/>
          <a:lstStyle/>
          <a:p>
            <a:fld id="{58B47EDC-70F1-447E-86E6-DFEA746573BF}" type="slidenum">
              <a:rPr lang="en-US" altLang="en-US" smtClean="0"/>
              <a:pPr/>
              <a:t>4</a:t>
            </a:fld>
            <a:endParaRPr lang="en-US" altLang="en-US" dirty="0"/>
          </a:p>
        </p:txBody>
      </p:sp>
    </p:spTree>
    <p:extLst>
      <p:ext uri="{BB962C8B-B14F-4D97-AF65-F5344CB8AC3E}">
        <p14:creationId xmlns:p14="http://schemas.microsoft.com/office/powerpoint/2010/main" val="335519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normAutofit fontScale="90000"/>
          </a:bodyPr>
          <a:lstStyle/>
          <a:p>
            <a:r>
              <a:rPr lang="en-US" sz="3600" dirty="0"/>
              <a:t>What is CyberPatriot?</a:t>
            </a:r>
          </a:p>
        </p:txBody>
      </p:sp>
      <p:sp>
        <p:nvSpPr>
          <p:cNvPr id="3" name="Content Placeholder 2"/>
          <p:cNvSpPr>
            <a:spLocks noGrp="1"/>
          </p:cNvSpPr>
          <p:nvPr>
            <p:ph idx="1"/>
          </p:nvPr>
        </p:nvSpPr>
        <p:spPr>
          <a:xfrm>
            <a:off x="731520" y="1509623"/>
            <a:ext cx="10728960" cy="4733522"/>
          </a:xfrm>
        </p:spPr>
        <p:txBody>
          <a:bodyPr>
            <a:normAutofit fontScale="92500" lnSpcReduction="10000"/>
          </a:bodyPr>
          <a:lstStyle/>
          <a:p>
            <a:r>
              <a:rPr lang="en-US" sz="2800" dirty="0"/>
              <a:t>The National Youth Cyber Education Program</a:t>
            </a:r>
          </a:p>
          <a:p>
            <a:pPr lvl="1"/>
            <a:r>
              <a:rPr lang="en-US" sz="1900" dirty="0"/>
              <a:t>National youth Cyber Defense Competition</a:t>
            </a:r>
          </a:p>
          <a:p>
            <a:pPr lvl="1"/>
            <a:r>
              <a:rPr lang="en-US" sz="1900" dirty="0"/>
              <a:t>AFA CyberCamps</a:t>
            </a:r>
          </a:p>
          <a:p>
            <a:pPr lvl="1"/>
            <a:r>
              <a:rPr lang="en-US" sz="1900" dirty="0"/>
              <a:t>Elementary School Cyber Education Initiative</a:t>
            </a:r>
          </a:p>
          <a:p>
            <a:pPr lvl="1"/>
            <a:r>
              <a:rPr lang="en-US" sz="1900" dirty="0"/>
              <a:t>Cyber Education Literature Series</a:t>
            </a:r>
          </a:p>
          <a:p>
            <a:pPr lvl="1"/>
            <a:r>
              <a:rPr lang="en-US" sz="1900" dirty="0"/>
              <a:t>Cyber Generations – Senior Citizens Cyber Safety Initiative</a:t>
            </a:r>
          </a:p>
          <a:p>
            <a:pPr lvl="1"/>
            <a:r>
              <a:rPr lang="en-US" sz="1900" dirty="0"/>
              <a:t>Tech Caregiver Program</a:t>
            </a:r>
          </a:p>
          <a:p>
            <a:pPr lvl="1"/>
            <a:endParaRPr lang="en-US" sz="800" dirty="0"/>
          </a:p>
          <a:p>
            <a:r>
              <a:rPr lang="en-US" sz="2800" b="1" dirty="0"/>
              <a:t>Not hacker training</a:t>
            </a:r>
          </a:p>
          <a:p>
            <a:pPr lvl="1"/>
            <a:r>
              <a:rPr lang="en-US" dirty="0"/>
              <a:t>Offensive behavior is not allowed</a:t>
            </a:r>
          </a:p>
          <a:p>
            <a:pPr lvl="1"/>
            <a:endParaRPr lang="en-US" sz="700" dirty="0"/>
          </a:p>
          <a:p>
            <a:r>
              <a:rPr lang="en-US" sz="2800" dirty="0"/>
              <a:t>Fun way to learn useful skills </a:t>
            </a:r>
          </a:p>
          <a:p>
            <a:pPr lvl="1"/>
            <a:r>
              <a:rPr lang="en-US" sz="1900" dirty="0"/>
              <a:t>Technical skills</a:t>
            </a:r>
          </a:p>
          <a:p>
            <a:pPr lvl="1"/>
            <a:r>
              <a:rPr lang="en-US" sz="1900" dirty="0"/>
              <a:t>Teamwork</a:t>
            </a:r>
          </a:p>
          <a:p>
            <a:pPr lvl="1"/>
            <a:r>
              <a:rPr lang="en-US" sz="1900" dirty="0"/>
              <a:t>Critical thinking</a:t>
            </a:r>
          </a:p>
        </p:txBody>
      </p:sp>
      <p:sp>
        <p:nvSpPr>
          <p:cNvPr id="2" name="Slide Number Placeholder 1">
            <a:extLst>
              <a:ext uri="{FF2B5EF4-FFF2-40B4-BE49-F238E27FC236}">
                <a16:creationId xmlns:a16="http://schemas.microsoft.com/office/drawing/2014/main" id="{36D10FCF-E6D4-4528-B466-C0B345D0483C}"/>
              </a:ext>
            </a:extLst>
          </p:cNvPr>
          <p:cNvSpPr>
            <a:spLocks noGrp="1"/>
          </p:cNvSpPr>
          <p:nvPr>
            <p:ph type="sldNum" sz="quarter" idx="10"/>
          </p:nvPr>
        </p:nvSpPr>
        <p:spPr/>
        <p:txBody>
          <a:bodyPr/>
          <a:lstStyle/>
          <a:p>
            <a:fld id="{58B47EDC-70F1-447E-86E6-DFEA746573BF}" type="slidenum">
              <a:rPr lang="en-US" altLang="en-US" smtClean="0"/>
              <a:pPr/>
              <a:t>5</a:t>
            </a:fld>
            <a:endParaRPr lang="en-US" altLang="en-US" dirty="0"/>
          </a:p>
        </p:txBody>
      </p:sp>
      <p:pic>
        <p:nvPicPr>
          <p:cNvPr id="2052" name="Picture 4" descr="L:\AFA\CyberPatriot\CPV- Photos\Cyber_2013_6109.jpg"/>
          <p:cNvPicPr>
            <a:picLocks noChangeAspect="1" noChangeArrowheads="1"/>
          </p:cNvPicPr>
          <p:nvPr/>
        </p:nvPicPr>
        <p:blipFill>
          <a:blip r:embed="rId3" cstate="print"/>
          <a:srcRect/>
          <a:stretch>
            <a:fillRect/>
          </a:stretch>
        </p:blipFill>
        <p:spPr bwMode="auto">
          <a:xfrm>
            <a:off x="8601641" y="3884210"/>
            <a:ext cx="3017520" cy="2050890"/>
          </a:xfrm>
          <a:prstGeom prst="rect">
            <a:avLst/>
          </a:prstGeom>
          <a:ln>
            <a:noFill/>
          </a:ln>
          <a:effectLst>
            <a:outerShdw blurRad="292100" dist="139700" dir="2700000" algn="tl" rotWithShape="0">
              <a:srgbClr val="333333">
                <a:alpha val="65000"/>
              </a:srgbClr>
            </a:outerShdw>
          </a:effectLst>
        </p:spPr>
      </p:pic>
      <p:pic>
        <p:nvPicPr>
          <p:cNvPr id="2050" name="Picture 2" descr="L:\AFA\CyberPatriot\CPV- Photos\Cyber_2013_6565.jpg"/>
          <p:cNvPicPr>
            <a:picLocks noChangeAspect="1" noChangeArrowheads="1"/>
          </p:cNvPicPr>
          <p:nvPr/>
        </p:nvPicPr>
        <p:blipFill>
          <a:blip r:embed="rId4" cstate="print"/>
          <a:srcRect/>
          <a:stretch>
            <a:fillRect/>
          </a:stretch>
        </p:blipFill>
        <p:spPr bwMode="auto">
          <a:xfrm>
            <a:off x="8614263" y="1508906"/>
            <a:ext cx="3017520" cy="20117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64281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4">
            <a:extLst>
              <a:ext uri="{FF2B5EF4-FFF2-40B4-BE49-F238E27FC236}">
                <a16:creationId xmlns:a16="http://schemas.microsoft.com/office/drawing/2014/main" id="{20D1D0E8-F1AD-48A0-A894-3EED0437E99D}"/>
              </a:ext>
            </a:extLst>
          </p:cNvPr>
          <p:cNvGraphicFramePr>
            <a:graphicFrameLocks/>
          </p:cNvGraphicFramePr>
          <p:nvPr>
            <p:extLst>
              <p:ext uri="{D42A27DB-BD31-4B8C-83A1-F6EECF244321}">
                <p14:modId xmlns:p14="http://schemas.microsoft.com/office/powerpoint/2010/main" val="3469027483"/>
              </p:ext>
            </p:extLst>
          </p:nvPr>
        </p:nvGraphicFramePr>
        <p:xfrm>
          <a:off x="3654724" y="1431986"/>
          <a:ext cx="8043289" cy="46789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 8">
            <a:extLst>
              <a:ext uri="{FF2B5EF4-FFF2-40B4-BE49-F238E27FC236}">
                <a16:creationId xmlns:a16="http://schemas.microsoft.com/office/drawing/2014/main" id="{6FD02A1C-0DD6-47A4-9345-826262765325}"/>
              </a:ext>
            </a:extLst>
          </p:cNvPr>
          <p:cNvGrpSpPr/>
          <p:nvPr/>
        </p:nvGrpSpPr>
        <p:grpSpPr>
          <a:xfrm>
            <a:off x="1121000" y="1730548"/>
            <a:ext cx="1633106" cy="953964"/>
            <a:chOff x="621100" y="1832368"/>
            <a:chExt cx="1891273" cy="1104770"/>
          </a:xfrm>
        </p:grpSpPr>
        <p:pic>
          <p:nvPicPr>
            <p:cNvPr id="10" name="Picture 9">
              <a:extLst>
                <a:ext uri="{FF2B5EF4-FFF2-40B4-BE49-F238E27FC236}">
                  <a16:creationId xmlns:a16="http://schemas.microsoft.com/office/drawing/2014/main" id="{6EDDD0E7-692D-4C0E-A6D8-2D26A7121E42}"/>
                </a:ext>
              </a:extLst>
            </p:cNvPr>
            <p:cNvPicPr>
              <a:picLocks noChangeAspect="1"/>
            </p:cNvPicPr>
            <p:nvPr/>
          </p:nvPicPr>
          <p:blipFill>
            <a:blip r:embed="rId8" cstate="hqprint">
              <a:biLevel thresh="50000"/>
              <a:extLst>
                <a:ext uri="{28A0092B-C50C-407E-A947-70E740481C1C}">
                  <a14:useLocalDpi xmlns:a14="http://schemas.microsoft.com/office/drawing/2010/main" val="0"/>
                </a:ext>
              </a:extLst>
            </a:blip>
            <a:stretch>
              <a:fillRect/>
            </a:stretch>
          </p:blipFill>
          <p:spPr>
            <a:xfrm>
              <a:off x="621100" y="1832368"/>
              <a:ext cx="376681" cy="1080671"/>
            </a:xfrm>
            <a:prstGeom prst="rect">
              <a:avLst/>
            </a:prstGeom>
          </p:spPr>
        </p:pic>
        <p:pic>
          <p:nvPicPr>
            <p:cNvPr id="11" name="Picture 10">
              <a:extLst>
                <a:ext uri="{FF2B5EF4-FFF2-40B4-BE49-F238E27FC236}">
                  <a16:creationId xmlns:a16="http://schemas.microsoft.com/office/drawing/2014/main" id="{62C2DAFE-0570-4B17-B957-37E1068DBEE8}"/>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997781" y="2157699"/>
              <a:ext cx="271683" cy="779439"/>
            </a:xfrm>
            <a:prstGeom prst="rect">
              <a:avLst/>
            </a:prstGeom>
          </p:spPr>
        </p:pic>
        <p:pic>
          <p:nvPicPr>
            <p:cNvPr id="12" name="Picture 11">
              <a:extLst>
                <a:ext uri="{FF2B5EF4-FFF2-40B4-BE49-F238E27FC236}">
                  <a16:creationId xmlns:a16="http://schemas.microsoft.com/office/drawing/2014/main" id="{1D2DB353-D011-4C48-9AA3-5F2C812B0AA0}"/>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238620" y="2157698"/>
              <a:ext cx="271683" cy="779439"/>
            </a:xfrm>
            <a:prstGeom prst="rect">
              <a:avLst/>
            </a:prstGeom>
          </p:spPr>
        </p:pic>
        <p:pic>
          <p:nvPicPr>
            <p:cNvPr id="13" name="Picture 12">
              <a:extLst>
                <a:ext uri="{FF2B5EF4-FFF2-40B4-BE49-F238E27FC236}">
                  <a16:creationId xmlns:a16="http://schemas.microsoft.com/office/drawing/2014/main" id="{0CDB36B7-31E4-45F2-B7F8-2FE46E996850}"/>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498816" y="2157698"/>
              <a:ext cx="271683" cy="779439"/>
            </a:xfrm>
            <a:prstGeom prst="rect">
              <a:avLst/>
            </a:prstGeom>
          </p:spPr>
        </p:pic>
        <p:pic>
          <p:nvPicPr>
            <p:cNvPr id="14" name="Picture 13">
              <a:extLst>
                <a:ext uri="{FF2B5EF4-FFF2-40B4-BE49-F238E27FC236}">
                  <a16:creationId xmlns:a16="http://schemas.microsoft.com/office/drawing/2014/main" id="{C02DF002-F5C7-4CD2-9EE5-0850A11A6B1A}"/>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739655" y="2157697"/>
              <a:ext cx="271683" cy="779439"/>
            </a:xfrm>
            <a:prstGeom prst="rect">
              <a:avLst/>
            </a:prstGeom>
          </p:spPr>
        </p:pic>
        <p:pic>
          <p:nvPicPr>
            <p:cNvPr id="15" name="Picture 14">
              <a:extLst>
                <a:ext uri="{FF2B5EF4-FFF2-40B4-BE49-F238E27FC236}">
                  <a16:creationId xmlns:a16="http://schemas.microsoft.com/office/drawing/2014/main" id="{DDF76FA4-4676-4333-9A39-29EDE0C4BBC9}"/>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999851" y="2156790"/>
              <a:ext cx="271683" cy="779439"/>
            </a:xfrm>
            <a:prstGeom prst="rect">
              <a:avLst/>
            </a:prstGeom>
          </p:spPr>
        </p:pic>
        <p:pic>
          <p:nvPicPr>
            <p:cNvPr id="16" name="Picture 15">
              <a:extLst>
                <a:ext uri="{FF2B5EF4-FFF2-40B4-BE49-F238E27FC236}">
                  <a16:creationId xmlns:a16="http://schemas.microsoft.com/office/drawing/2014/main" id="{DD4CDA41-7B47-44C6-B50B-0F0A784FD5B9}"/>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2240690" y="2156789"/>
              <a:ext cx="271683" cy="779439"/>
            </a:xfrm>
            <a:prstGeom prst="rect">
              <a:avLst/>
            </a:prstGeom>
          </p:spPr>
        </p:pic>
      </p:grpSp>
      <p:pic>
        <p:nvPicPr>
          <p:cNvPr id="17" name="Picture 16">
            <a:extLst>
              <a:ext uri="{FF2B5EF4-FFF2-40B4-BE49-F238E27FC236}">
                <a16:creationId xmlns:a16="http://schemas.microsoft.com/office/drawing/2014/main" id="{59B2B443-38CC-483C-9495-6053A5CA4791}"/>
              </a:ext>
            </a:extLst>
          </p:cNvPr>
          <p:cNvPicPr>
            <a:picLocks noChangeAspect="1"/>
          </p:cNvPicPr>
          <p:nvPr/>
        </p:nvPicPr>
        <p:blipFill>
          <a:blip r:embed="rId9">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1407510" y="4727275"/>
            <a:ext cx="1194692" cy="1194692"/>
          </a:xfrm>
          <a:prstGeom prst="rect">
            <a:avLst/>
          </a:prstGeom>
        </p:spPr>
      </p:pic>
      <p:pic>
        <p:nvPicPr>
          <p:cNvPr id="18" name="Picture 17">
            <a:extLst>
              <a:ext uri="{FF2B5EF4-FFF2-40B4-BE49-F238E27FC236}">
                <a16:creationId xmlns:a16="http://schemas.microsoft.com/office/drawing/2014/main" id="{AEB7B90B-1BCA-4BBC-9B0D-CE7293D890AD}"/>
              </a:ext>
            </a:extLst>
          </p:cNvPr>
          <p:cNvPicPr>
            <a:picLocks noChangeAspect="1"/>
          </p:cNvPicPr>
          <p:nvPr/>
        </p:nvPicPr>
        <p:blipFill>
          <a:blip r:embed="rId12" cstate="print">
            <a:clrChange>
              <a:clrFrom>
                <a:srgbClr val="FEFFFF"/>
              </a:clrFrom>
              <a:clrTo>
                <a:srgbClr val="FEFFFF">
                  <a:alpha val="0"/>
                </a:srgbClr>
              </a:clrTo>
            </a:clrChange>
            <a:duotone>
              <a:schemeClr val="accent4">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a:off x="2191627" y="5208709"/>
            <a:ext cx="407086" cy="407086"/>
          </a:xfrm>
          <a:prstGeom prst="rect">
            <a:avLst/>
          </a:prstGeom>
        </p:spPr>
      </p:pic>
      <p:pic>
        <p:nvPicPr>
          <p:cNvPr id="19" name="Picture 18">
            <a:extLst>
              <a:ext uri="{FF2B5EF4-FFF2-40B4-BE49-F238E27FC236}">
                <a16:creationId xmlns:a16="http://schemas.microsoft.com/office/drawing/2014/main" id="{6A39E8F8-BBF7-4D27-83F1-49E9EA7708CE}"/>
              </a:ext>
            </a:extLst>
          </p:cNvPr>
          <p:cNvPicPr>
            <a:picLocks noChangeAspect="1"/>
          </p:cNvPicPr>
          <p:nvPr/>
        </p:nvPicPr>
        <p:blipFill>
          <a:blip r:embed="rId12" cstate="print">
            <a:clrChange>
              <a:clrFrom>
                <a:srgbClr val="FEFFFF"/>
              </a:clrFrom>
              <a:clrTo>
                <a:srgbClr val="FEFFFF">
                  <a:alpha val="0"/>
                </a:srgbClr>
              </a:clrTo>
            </a:clrChange>
            <a:duotone>
              <a:schemeClr val="accent4">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a:off x="1433198" y="5121078"/>
            <a:ext cx="407086" cy="407086"/>
          </a:xfrm>
          <a:prstGeom prst="rect">
            <a:avLst/>
          </a:prstGeom>
        </p:spPr>
      </p:pic>
      <p:pic>
        <p:nvPicPr>
          <p:cNvPr id="20" name="Picture 19">
            <a:extLst>
              <a:ext uri="{FF2B5EF4-FFF2-40B4-BE49-F238E27FC236}">
                <a16:creationId xmlns:a16="http://schemas.microsoft.com/office/drawing/2014/main" id="{83C4E146-D4F6-47BF-BC95-6B597DFD116D}"/>
              </a:ext>
            </a:extLst>
          </p:cNvPr>
          <p:cNvPicPr>
            <a:picLocks noChangeAspect="1"/>
          </p:cNvPicPr>
          <p:nvPr/>
        </p:nvPicPr>
        <p:blipFill>
          <a:blip r:embed="rId1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496529" y="3095712"/>
            <a:ext cx="1218986" cy="1320798"/>
          </a:xfrm>
          <a:prstGeom prst="rect">
            <a:avLst/>
          </a:prstGeom>
        </p:spPr>
      </p:pic>
      <p:sp>
        <p:nvSpPr>
          <p:cNvPr id="21" name="Title 20">
            <a:extLst>
              <a:ext uri="{FF2B5EF4-FFF2-40B4-BE49-F238E27FC236}">
                <a16:creationId xmlns:a16="http://schemas.microsoft.com/office/drawing/2014/main" id="{FCFBF51E-03C1-473C-8221-0CE228B8F492}"/>
              </a:ext>
            </a:extLst>
          </p:cNvPr>
          <p:cNvSpPr>
            <a:spLocks noGrp="1"/>
          </p:cNvSpPr>
          <p:nvPr>
            <p:ph type="title"/>
          </p:nvPr>
        </p:nvSpPr>
        <p:spPr/>
        <p:txBody>
          <a:bodyPr/>
          <a:lstStyle/>
          <a:p>
            <a:r>
              <a:rPr lang="en-US" sz="2800" dirty="0"/>
              <a:t>The National Youth Cyber Defense Competition</a:t>
            </a:r>
          </a:p>
        </p:txBody>
      </p:sp>
      <p:sp>
        <p:nvSpPr>
          <p:cNvPr id="2" name="Slide Number Placeholder 1">
            <a:extLst>
              <a:ext uri="{FF2B5EF4-FFF2-40B4-BE49-F238E27FC236}">
                <a16:creationId xmlns:a16="http://schemas.microsoft.com/office/drawing/2014/main" id="{E77A8108-C04E-45E4-89FA-25612231BE60}"/>
              </a:ext>
            </a:extLst>
          </p:cNvPr>
          <p:cNvSpPr>
            <a:spLocks noGrp="1"/>
          </p:cNvSpPr>
          <p:nvPr>
            <p:ph type="sldNum" sz="quarter" idx="10"/>
          </p:nvPr>
        </p:nvSpPr>
        <p:spPr/>
        <p:txBody>
          <a:bodyPr/>
          <a:lstStyle/>
          <a:p>
            <a:fld id="{58B47EDC-70F1-447E-86E6-DFEA746573BF}" type="slidenum">
              <a:rPr lang="en-US" altLang="en-US" smtClean="0"/>
              <a:pPr/>
              <a:t>6</a:t>
            </a:fld>
            <a:endParaRPr lang="en-US" altLang="en-US" dirty="0"/>
          </a:p>
        </p:txBody>
      </p:sp>
    </p:spTree>
    <p:extLst>
      <p:ext uri="{BB962C8B-B14F-4D97-AF65-F5344CB8AC3E}">
        <p14:creationId xmlns:p14="http://schemas.microsoft.com/office/powerpoint/2010/main" val="3653059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56473BF-E060-49CD-A2AD-FA53928B7410}"/>
              </a:ext>
            </a:extLst>
          </p:cNvPr>
          <p:cNvSpPr>
            <a:spLocks noGrp="1"/>
          </p:cNvSpPr>
          <p:nvPr>
            <p:ph type="title"/>
          </p:nvPr>
        </p:nvSpPr>
        <p:spPr/>
        <p:txBody>
          <a:bodyPr/>
          <a:lstStyle/>
          <a:p>
            <a:r>
              <a:rPr lang="en-US" dirty="0"/>
              <a:t>Team Structure</a:t>
            </a:r>
          </a:p>
        </p:txBody>
      </p:sp>
      <p:sp>
        <p:nvSpPr>
          <p:cNvPr id="2" name="Content Placeholder 1"/>
          <p:cNvSpPr>
            <a:spLocks noGrp="1"/>
          </p:cNvSpPr>
          <p:nvPr>
            <p:ph idx="1"/>
          </p:nvPr>
        </p:nvSpPr>
        <p:spPr>
          <a:xfrm>
            <a:off x="731520" y="1236354"/>
            <a:ext cx="10728960" cy="4633793"/>
          </a:xfrm>
        </p:spPr>
        <p:txBody>
          <a:bodyPr>
            <a:noAutofit/>
          </a:bodyPr>
          <a:lstStyle/>
          <a:p>
            <a:r>
              <a:rPr lang="en-US" sz="2400" dirty="0">
                <a:solidFill>
                  <a:schemeClr val="accent1"/>
                </a:solidFill>
              </a:rPr>
              <a:t>Coaches</a:t>
            </a:r>
            <a:r>
              <a:rPr lang="en-US" sz="2400" dirty="0"/>
              <a:t> are the administrative lead of the team</a:t>
            </a:r>
          </a:p>
          <a:p>
            <a:pPr lvl="1"/>
            <a:r>
              <a:rPr lang="en-US" sz="2000" dirty="0"/>
              <a:t>Supervise students</a:t>
            </a:r>
          </a:p>
          <a:p>
            <a:pPr lvl="1"/>
            <a:r>
              <a:rPr lang="en-US" sz="2000" dirty="0"/>
              <a:t>Are the main point of contact for CyberPatriot Program Office</a:t>
            </a:r>
          </a:p>
          <a:p>
            <a:pPr lvl="1"/>
            <a:r>
              <a:rPr lang="en-US" sz="2000" dirty="0"/>
              <a:t>Ensure integrity of the competition</a:t>
            </a:r>
          </a:p>
          <a:p>
            <a:pPr lvl="1"/>
            <a:r>
              <a:rPr lang="en-US" sz="2000" dirty="0"/>
              <a:t>Train teams for competition (if technically savvy)</a:t>
            </a:r>
          </a:p>
          <a:p>
            <a:pPr lvl="1"/>
            <a:endParaRPr lang="en-US" sz="400" dirty="0"/>
          </a:p>
          <a:p>
            <a:r>
              <a:rPr lang="en-US" sz="2400" dirty="0">
                <a:solidFill>
                  <a:schemeClr val="accent1"/>
                </a:solidFill>
              </a:rPr>
              <a:t>Technical Mentors </a:t>
            </a:r>
            <a:r>
              <a:rPr lang="en-US" sz="2400" dirty="0"/>
              <a:t>volunteer to help Coaches train teams</a:t>
            </a:r>
          </a:p>
          <a:p>
            <a:pPr lvl="1"/>
            <a:r>
              <a:rPr lang="en-US" sz="2000" dirty="0"/>
              <a:t>Use industry expertise to teach students about cybersecurity</a:t>
            </a:r>
          </a:p>
          <a:p>
            <a:pPr lvl="1"/>
            <a:r>
              <a:rPr lang="en-US" sz="2000" dirty="0"/>
              <a:t>Guest lecture or work with team(s) on a regular basis</a:t>
            </a:r>
          </a:p>
          <a:p>
            <a:pPr lvl="1"/>
            <a:endParaRPr lang="en-US" sz="400" dirty="0"/>
          </a:p>
          <a:p>
            <a:r>
              <a:rPr lang="en-US" sz="2400" dirty="0">
                <a:solidFill>
                  <a:schemeClr val="accent1"/>
                </a:solidFill>
              </a:rPr>
              <a:t>Team Assistants </a:t>
            </a:r>
            <a:r>
              <a:rPr lang="en-US" sz="2400" dirty="0"/>
              <a:t>volunteer to provide non-technical support and encouragement to the team</a:t>
            </a:r>
          </a:p>
          <a:p>
            <a:pPr>
              <a:spcBef>
                <a:spcPts val="600"/>
              </a:spcBef>
            </a:pPr>
            <a:endParaRPr lang="en-US" sz="400" dirty="0"/>
          </a:p>
          <a:p>
            <a:r>
              <a:rPr lang="en-US" sz="2400" dirty="0">
                <a:solidFill>
                  <a:schemeClr val="accent1"/>
                </a:solidFill>
              </a:rPr>
              <a:t>Competitors</a:t>
            </a:r>
            <a:r>
              <a:rPr lang="en-US" sz="2400" dirty="0"/>
              <a:t> work together to find and fix vulnerabilities in a simulated computer system and build secure virtual networks</a:t>
            </a:r>
          </a:p>
          <a:p>
            <a:endParaRPr lang="en-US" sz="2400" dirty="0"/>
          </a:p>
        </p:txBody>
      </p:sp>
      <p:sp>
        <p:nvSpPr>
          <p:cNvPr id="4" name="Slide Number Placeholder 3">
            <a:extLst>
              <a:ext uri="{FF2B5EF4-FFF2-40B4-BE49-F238E27FC236}">
                <a16:creationId xmlns:a16="http://schemas.microsoft.com/office/drawing/2014/main" id="{2F6931A5-8F49-47EA-BB89-A5EC0DB1E209}"/>
              </a:ext>
            </a:extLst>
          </p:cNvPr>
          <p:cNvSpPr>
            <a:spLocks noGrp="1"/>
          </p:cNvSpPr>
          <p:nvPr>
            <p:ph type="sldNum" sz="quarter" idx="10"/>
          </p:nvPr>
        </p:nvSpPr>
        <p:spPr/>
        <p:txBody>
          <a:bodyPr/>
          <a:lstStyle/>
          <a:p>
            <a:fld id="{58B47EDC-70F1-447E-86E6-DFEA746573BF}" type="slidenum">
              <a:rPr lang="en-US" altLang="en-US" smtClean="0"/>
              <a:pPr/>
              <a:t>7</a:t>
            </a:fld>
            <a:endParaRPr lang="en-US" altLang="en-US" dirty="0"/>
          </a:p>
        </p:txBody>
      </p:sp>
    </p:spTree>
    <p:extLst>
      <p:ext uri="{BB962C8B-B14F-4D97-AF65-F5344CB8AC3E}">
        <p14:creationId xmlns:p14="http://schemas.microsoft.com/office/powerpoint/2010/main" val="2540585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Scoring</a:t>
            </a:r>
          </a:p>
        </p:txBody>
      </p:sp>
      <p:sp>
        <p:nvSpPr>
          <p:cNvPr id="6" name="Content Placeholder 5">
            <a:extLst>
              <a:ext uri="{FF2B5EF4-FFF2-40B4-BE49-F238E27FC236}">
                <a16:creationId xmlns:a16="http://schemas.microsoft.com/office/drawing/2014/main" id="{2D32CCC3-8380-45DF-84D9-462EF51AD0E2}"/>
              </a:ext>
            </a:extLst>
          </p:cNvPr>
          <p:cNvSpPr>
            <a:spLocks noGrp="1"/>
          </p:cNvSpPr>
          <p:nvPr>
            <p:ph idx="1"/>
          </p:nvPr>
        </p:nvSpPr>
        <p:spPr/>
        <p:txBody>
          <a:bodyPr/>
          <a:lstStyle/>
          <a:p>
            <a:r>
              <a:rPr lang="en-US" sz="2400" dirty="0">
                <a:solidFill>
                  <a:schemeClr val="accent1"/>
                </a:solidFill>
              </a:rPr>
              <a:t>Earn points </a:t>
            </a:r>
            <a:r>
              <a:rPr lang="en-US" sz="2400" dirty="0"/>
              <a:t>by fixing vulnerabilities in a virtual machine (</a:t>
            </a:r>
            <a:r>
              <a:rPr lang="en-US" sz="2400" dirty="0" err="1"/>
              <a:t>VM</a:t>
            </a:r>
            <a:r>
              <a:rPr lang="en-US" sz="2400" dirty="0"/>
              <a:t>*), answering forensic questions, networking quiz questions and building secure virtual networks</a:t>
            </a:r>
          </a:p>
          <a:p>
            <a:pPr lvl="1">
              <a:spcAft>
                <a:spcPts val="600"/>
              </a:spcAft>
            </a:pPr>
            <a:r>
              <a:rPr lang="en-US" sz="2000" dirty="0"/>
              <a:t>Virtual machines (aka “images”) are software</a:t>
            </a:r>
            <a:br>
              <a:rPr lang="en-US" sz="2000" dirty="0"/>
            </a:br>
            <a:r>
              <a:rPr lang="en-US" sz="2000" dirty="0"/>
              <a:t>programs that simulate computer systems</a:t>
            </a:r>
          </a:p>
          <a:p>
            <a:pPr lvl="1">
              <a:spcAft>
                <a:spcPts val="600"/>
              </a:spcAft>
            </a:pPr>
            <a:r>
              <a:rPr lang="en-US" sz="2000" dirty="0"/>
              <a:t>Short quizzes are based on assigned materials</a:t>
            </a:r>
          </a:p>
          <a:p>
            <a:pPr lvl="1">
              <a:spcAft>
                <a:spcPts val="600"/>
              </a:spcAft>
            </a:pPr>
            <a:r>
              <a:rPr lang="en-US" sz="2000" dirty="0"/>
              <a:t>Virtual networks are built with </a:t>
            </a:r>
            <a:br>
              <a:rPr lang="en-US" sz="2000" dirty="0"/>
            </a:br>
            <a:r>
              <a:rPr lang="en-US" sz="2000" dirty="0"/>
              <a:t>Cisco’s Packet Tracer program</a:t>
            </a:r>
            <a:endParaRPr lang="en-US" sz="1400" dirty="0">
              <a:solidFill>
                <a:schemeClr val="accent4"/>
              </a:solidFill>
            </a:endParaRPr>
          </a:p>
          <a:p>
            <a:r>
              <a:rPr lang="en-US" sz="2400" dirty="0">
                <a:solidFill>
                  <a:schemeClr val="accent1"/>
                </a:solidFill>
              </a:rPr>
              <a:t>Lose points </a:t>
            </a:r>
            <a:r>
              <a:rPr lang="en-US" sz="2400" dirty="0"/>
              <a:t>for making the system less secure</a:t>
            </a:r>
          </a:p>
          <a:p>
            <a:endParaRPr lang="en-US" sz="2400" dirty="0"/>
          </a:p>
          <a:p>
            <a:endParaRPr lang="en-US" sz="2400" dirty="0"/>
          </a:p>
          <a:p>
            <a:pPr lvl="1"/>
            <a:endParaRPr lang="en-US" sz="600" dirty="0"/>
          </a:p>
          <a:p>
            <a:pPr marL="0" indent="0">
              <a:buNone/>
            </a:pPr>
            <a:r>
              <a:rPr lang="en-US" sz="1400" dirty="0"/>
              <a:t>* More information on </a:t>
            </a:r>
            <a:r>
              <a:rPr lang="en-US" sz="1400" dirty="0" err="1"/>
              <a:t>VMs</a:t>
            </a:r>
            <a:r>
              <a:rPr lang="en-US" sz="1400" dirty="0"/>
              <a:t> is available in Unit Five of these training materials </a:t>
            </a:r>
          </a:p>
          <a:p>
            <a:endParaRPr lang="en-US" sz="2000" dirty="0"/>
          </a:p>
        </p:txBody>
      </p:sp>
      <p:sp>
        <p:nvSpPr>
          <p:cNvPr id="2" name="Slide Number Placeholder 1">
            <a:extLst>
              <a:ext uri="{FF2B5EF4-FFF2-40B4-BE49-F238E27FC236}">
                <a16:creationId xmlns:a16="http://schemas.microsoft.com/office/drawing/2014/main" id="{9C580EF6-ABE5-47D0-895B-91578C8EBDBC}"/>
              </a:ext>
            </a:extLst>
          </p:cNvPr>
          <p:cNvSpPr>
            <a:spLocks noGrp="1"/>
          </p:cNvSpPr>
          <p:nvPr>
            <p:ph type="sldNum" sz="quarter" idx="10"/>
          </p:nvPr>
        </p:nvSpPr>
        <p:spPr/>
        <p:txBody>
          <a:bodyPr/>
          <a:lstStyle/>
          <a:p>
            <a:fld id="{58B47EDC-70F1-447E-86E6-DFEA746573BF}" type="slidenum">
              <a:rPr lang="en-US" altLang="en-US" smtClean="0"/>
              <a:pPr/>
              <a:t>8</a:t>
            </a:fld>
            <a:endParaRPr lang="en-US" altLang="en-US" dirty="0"/>
          </a:p>
        </p:txBody>
      </p:sp>
      <p:pic>
        <p:nvPicPr>
          <p:cNvPr id="7" name="Picture 6"/>
          <p:cNvPicPr>
            <a:picLocks noChangeAspect="1"/>
          </p:cNvPicPr>
          <p:nvPr/>
        </p:nvPicPr>
        <p:blipFill rotWithShape="1">
          <a:blip r:embed="rId3" cstate="hqprint">
            <a:extLst>
              <a:ext uri="{28A0092B-C50C-407E-A947-70E740481C1C}">
                <a14:useLocalDpi xmlns:a14="http://schemas.microsoft.com/office/drawing/2010/main" val="0"/>
              </a:ext>
            </a:extLst>
          </a:blip>
          <a:srcRect r="46385"/>
          <a:stretch/>
        </p:blipFill>
        <p:spPr>
          <a:xfrm>
            <a:off x="7834201" y="2458638"/>
            <a:ext cx="2739205" cy="1940724"/>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9" name="Picture 8">
            <a:extLst>
              <a:ext uri="{FF2B5EF4-FFF2-40B4-BE49-F238E27FC236}">
                <a16:creationId xmlns:a16="http://schemas.microsoft.com/office/drawing/2014/main" id="{FF64192D-27DB-4E1C-913A-9886F1643FE5}"/>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l="53512"/>
          <a:stretch/>
        </p:blipFill>
        <p:spPr>
          <a:xfrm>
            <a:off x="7987862" y="4611413"/>
            <a:ext cx="2375095" cy="1940724"/>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1673341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Train and Prepare</a:t>
            </a:r>
          </a:p>
        </p:txBody>
      </p:sp>
      <p:sp>
        <p:nvSpPr>
          <p:cNvPr id="6" name="Content Placeholder 5">
            <a:extLst>
              <a:ext uri="{FF2B5EF4-FFF2-40B4-BE49-F238E27FC236}">
                <a16:creationId xmlns:a16="http://schemas.microsoft.com/office/drawing/2014/main" id="{2D32CCC3-8380-45DF-84D9-462EF51AD0E2}"/>
              </a:ext>
            </a:extLst>
          </p:cNvPr>
          <p:cNvSpPr>
            <a:spLocks noGrp="1"/>
          </p:cNvSpPr>
          <p:nvPr>
            <p:ph idx="1"/>
          </p:nvPr>
        </p:nvSpPr>
        <p:spPr>
          <a:xfrm>
            <a:off x="731519" y="1509623"/>
            <a:ext cx="6362963" cy="4633793"/>
          </a:xfrm>
        </p:spPr>
        <p:txBody>
          <a:bodyPr/>
          <a:lstStyle/>
          <a:p>
            <a:r>
              <a:rPr lang="en-US" sz="2000" b="1" u="sng" dirty="0">
                <a:solidFill>
                  <a:schemeClr val="accent1"/>
                </a:solidFill>
              </a:rPr>
              <a:t>READ</a:t>
            </a:r>
            <a:r>
              <a:rPr lang="en-US" sz="2000" dirty="0">
                <a:solidFill>
                  <a:schemeClr val="accent1"/>
                </a:solidFill>
              </a:rPr>
              <a:t> </a:t>
            </a:r>
            <a:r>
              <a:rPr lang="en-US" sz="2000" dirty="0"/>
              <a:t>scheduled competition round challenges on CyberPatriot website</a:t>
            </a:r>
          </a:p>
          <a:p>
            <a:r>
              <a:rPr lang="en-US" sz="2000" b="1" u="sng" dirty="0">
                <a:solidFill>
                  <a:schemeClr val="accent1"/>
                </a:solidFill>
              </a:rPr>
              <a:t>TRAIN</a:t>
            </a:r>
            <a:r>
              <a:rPr lang="en-US" sz="2000" dirty="0"/>
              <a:t> with training materials, operating systems, and Cisco Networking assignments prior to rounds</a:t>
            </a:r>
          </a:p>
          <a:p>
            <a:r>
              <a:rPr lang="en-US" sz="2000" b="1" u="sng" dirty="0">
                <a:solidFill>
                  <a:schemeClr val="accent1"/>
                </a:solidFill>
              </a:rPr>
              <a:t>PARTICIPATE</a:t>
            </a:r>
            <a:r>
              <a:rPr lang="en-US" sz="2000" dirty="0"/>
              <a:t> in the unscored rounds</a:t>
            </a:r>
          </a:p>
          <a:p>
            <a:pPr indent="0">
              <a:buNone/>
            </a:pPr>
            <a:r>
              <a:rPr lang="en-US" sz="2000" dirty="0"/>
              <a:t> - Exhibition Rounds </a:t>
            </a:r>
          </a:p>
          <a:p>
            <a:pPr indent="0">
              <a:buNone/>
            </a:pPr>
            <a:r>
              <a:rPr lang="en-US" sz="2000" dirty="0"/>
              <a:t> - Training Rounds (answer keys provided)</a:t>
            </a:r>
          </a:p>
          <a:p>
            <a:pPr indent="0">
              <a:buNone/>
            </a:pPr>
            <a:r>
              <a:rPr lang="en-US" sz="2000" dirty="0"/>
              <a:t> - Practice Rounds</a:t>
            </a:r>
          </a:p>
          <a:p>
            <a:r>
              <a:rPr lang="en-US" sz="2000" b="1" u="sng" dirty="0">
                <a:solidFill>
                  <a:schemeClr val="accent1"/>
                </a:solidFill>
              </a:rPr>
              <a:t>PREPARE</a:t>
            </a:r>
            <a:r>
              <a:rPr lang="en-US" sz="2000" dirty="0"/>
              <a:t> hardware, software, and network for competition to </a:t>
            </a:r>
            <a:r>
              <a:rPr lang="en-US" sz="2000" dirty="0">
                <a:hlinkClick r:id="rId3"/>
              </a:rPr>
              <a:t>technical specifications </a:t>
            </a:r>
            <a:r>
              <a:rPr lang="en-US" sz="2000" dirty="0"/>
              <a:t>on CyberPatriot website</a:t>
            </a:r>
          </a:p>
          <a:p>
            <a:r>
              <a:rPr lang="en-US" sz="2000" b="1" u="sng" dirty="0">
                <a:solidFill>
                  <a:schemeClr val="accent1"/>
                </a:solidFill>
              </a:rPr>
              <a:t>DOWNLOAD</a:t>
            </a:r>
            <a:r>
              <a:rPr lang="en-US" sz="2000" dirty="0"/>
              <a:t> password-protected competition images from links in the download instructions email</a:t>
            </a:r>
          </a:p>
        </p:txBody>
      </p:sp>
      <p:sp>
        <p:nvSpPr>
          <p:cNvPr id="2" name="Slide Number Placeholder 1">
            <a:extLst>
              <a:ext uri="{FF2B5EF4-FFF2-40B4-BE49-F238E27FC236}">
                <a16:creationId xmlns:a16="http://schemas.microsoft.com/office/drawing/2014/main" id="{9C580EF6-ABE5-47D0-895B-91578C8EBDBC}"/>
              </a:ext>
            </a:extLst>
          </p:cNvPr>
          <p:cNvSpPr>
            <a:spLocks noGrp="1"/>
          </p:cNvSpPr>
          <p:nvPr>
            <p:ph type="sldNum" sz="quarter" idx="10"/>
          </p:nvPr>
        </p:nvSpPr>
        <p:spPr/>
        <p:txBody>
          <a:bodyPr/>
          <a:lstStyle/>
          <a:p>
            <a:fld id="{58B47EDC-70F1-447E-86E6-DFEA746573BF}" type="slidenum">
              <a:rPr lang="en-US" altLang="en-US" smtClean="0"/>
              <a:pPr/>
              <a:t>9</a:t>
            </a:fld>
            <a:endParaRPr lang="en-US" altLang="en-US" dirty="0"/>
          </a:p>
        </p:txBody>
      </p:sp>
      <p:grpSp>
        <p:nvGrpSpPr>
          <p:cNvPr id="18" name="Group 17"/>
          <p:cNvGrpSpPr/>
          <p:nvPr/>
        </p:nvGrpSpPr>
        <p:grpSpPr>
          <a:xfrm>
            <a:off x="7440145" y="1645306"/>
            <a:ext cx="4124325" cy="4138886"/>
            <a:chOff x="4970213" y="1287954"/>
            <a:chExt cx="4124325" cy="413888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9966" y="1287954"/>
              <a:ext cx="3706917" cy="2424730"/>
            </a:xfrm>
            <a:prstGeom prst="rect">
              <a:avLst/>
            </a:prstGeom>
            <a:ln w="38100">
              <a:solidFill>
                <a:schemeClr val="tx1"/>
              </a:solidFill>
            </a:ln>
          </p:spPr>
        </p:pic>
        <p:pic>
          <p:nvPicPr>
            <p:cNvPr id="13" name="Picture 12"/>
            <p:cNvPicPr>
              <a:picLocks noChangeAspect="1"/>
            </p:cNvPicPr>
            <p:nvPr/>
          </p:nvPicPr>
          <p:blipFill>
            <a:blip r:embed="rId5"/>
            <a:stretch>
              <a:fillRect/>
            </a:stretch>
          </p:blipFill>
          <p:spPr>
            <a:xfrm>
              <a:off x="4970213" y="4188590"/>
              <a:ext cx="4124325" cy="1238250"/>
            </a:xfrm>
            <a:prstGeom prst="rect">
              <a:avLst/>
            </a:prstGeom>
            <a:ln w="38100">
              <a:solidFill>
                <a:schemeClr val="tx1"/>
              </a:solidFill>
            </a:ln>
          </p:spPr>
        </p:pic>
        <p:cxnSp>
          <p:nvCxnSpPr>
            <p:cNvPr id="15" name="Straight Connector 14"/>
            <p:cNvCxnSpPr>
              <a:cxnSpLocks/>
            </p:cNvCxnSpPr>
            <p:nvPr/>
          </p:nvCxnSpPr>
          <p:spPr>
            <a:xfrm flipH="1">
              <a:off x="6169571" y="3316077"/>
              <a:ext cx="297331" cy="8460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cxnSpLocks/>
            </p:cNvCxnSpPr>
            <p:nvPr/>
          </p:nvCxnSpPr>
          <p:spPr>
            <a:xfrm>
              <a:off x="7774603" y="3338111"/>
              <a:ext cx="265809" cy="802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44704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Competing</a:t>
            </a:r>
          </a:p>
        </p:txBody>
      </p:sp>
      <p:sp>
        <p:nvSpPr>
          <p:cNvPr id="6" name="Content Placeholder 5">
            <a:extLst>
              <a:ext uri="{FF2B5EF4-FFF2-40B4-BE49-F238E27FC236}">
                <a16:creationId xmlns:a16="http://schemas.microsoft.com/office/drawing/2014/main" id="{2D32CCC3-8380-45DF-84D9-462EF51AD0E2}"/>
              </a:ext>
            </a:extLst>
          </p:cNvPr>
          <p:cNvSpPr>
            <a:spLocks noGrp="1"/>
          </p:cNvSpPr>
          <p:nvPr>
            <p:ph idx="1"/>
          </p:nvPr>
        </p:nvSpPr>
        <p:spPr/>
        <p:txBody>
          <a:bodyPr/>
          <a:lstStyle/>
          <a:p>
            <a:r>
              <a:rPr lang="en-US" sz="2400" b="1" u="sng" dirty="0">
                <a:solidFill>
                  <a:schemeClr val="accent1"/>
                </a:solidFill>
              </a:rPr>
              <a:t>EXTRACT</a:t>
            </a:r>
            <a:r>
              <a:rPr lang="en-US" sz="2400" dirty="0"/>
              <a:t> and open images with password provided in StartEx email</a:t>
            </a:r>
          </a:p>
          <a:p>
            <a:r>
              <a:rPr lang="en-US" sz="2400" b="1" u="sng" dirty="0">
                <a:solidFill>
                  <a:schemeClr val="accent1"/>
                </a:solidFill>
              </a:rPr>
              <a:t>IDENTIFY</a:t>
            </a:r>
            <a:r>
              <a:rPr lang="en-US" sz="2400" dirty="0"/>
              <a:t> team with Unique ID</a:t>
            </a:r>
          </a:p>
          <a:p>
            <a:r>
              <a:rPr lang="en-US" sz="2400" b="1" u="sng" dirty="0">
                <a:solidFill>
                  <a:schemeClr val="accent1"/>
                </a:solidFill>
              </a:rPr>
              <a:t>FIX </a:t>
            </a:r>
            <a:r>
              <a:rPr lang="en-US" sz="2400" dirty="0"/>
              <a:t>Harden your system and defend against outside attacks by starting with hints and the scenario in the </a:t>
            </a:r>
            <a:r>
              <a:rPr lang="en-US" sz="2400" dirty="0">
                <a:solidFill>
                  <a:schemeClr val="accent1"/>
                </a:solidFill>
              </a:rPr>
              <a:t>ReadMe</a:t>
            </a:r>
            <a:r>
              <a:rPr lang="en-US" sz="2400" dirty="0"/>
              <a:t> file on the desktop (Score, Compare, Login, Open, Ask)</a:t>
            </a:r>
          </a:p>
          <a:p>
            <a:pPr marL="0" indent="0">
              <a:buNone/>
            </a:pPr>
            <a:endParaRPr lang="en-US" sz="2400" dirty="0"/>
          </a:p>
          <a:p>
            <a:r>
              <a:rPr lang="en-US" sz="2400" dirty="0"/>
              <a:t>Not all vulnerabilities are scored or hinted at in the </a:t>
            </a:r>
            <a:r>
              <a:rPr lang="en-US" sz="2400" dirty="0">
                <a:solidFill>
                  <a:schemeClr val="accent1"/>
                </a:solidFill>
              </a:rPr>
              <a:t>ReadMe</a:t>
            </a:r>
          </a:p>
          <a:p>
            <a:pPr lvl="1"/>
            <a:r>
              <a:rPr lang="en-US" sz="2400" dirty="0"/>
              <a:t>The goal of the competition is to harden the system as completely as possible in the provided time</a:t>
            </a:r>
          </a:p>
          <a:p>
            <a:pPr lvl="1"/>
            <a:r>
              <a:rPr lang="en-US" sz="2400" dirty="0"/>
              <a:t>You might do something that improves the system, but does not earn your team points</a:t>
            </a:r>
          </a:p>
          <a:p>
            <a:pPr lvl="1"/>
            <a:endParaRPr lang="en-US" sz="1800" dirty="0"/>
          </a:p>
          <a:p>
            <a:endParaRPr lang="en-US" sz="1800" dirty="0"/>
          </a:p>
        </p:txBody>
      </p:sp>
      <p:sp>
        <p:nvSpPr>
          <p:cNvPr id="2" name="Slide Number Placeholder 1">
            <a:extLst>
              <a:ext uri="{FF2B5EF4-FFF2-40B4-BE49-F238E27FC236}">
                <a16:creationId xmlns:a16="http://schemas.microsoft.com/office/drawing/2014/main" id="{9C580EF6-ABE5-47D0-895B-91578C8EBDBC}"/>
              </a:ext>
            </a:extLst>
          </p:cNvPr>
          <p:cNvSpPr>
            <a:spLocks noGrp="1"/>
          </p:cNvSpPr>
          <p:nvPr>
            <p:ph type="sldNum" sz="quarter" idx="10"/>
          </p:nvPr>
        </p:nvSpPr>
        <p:spPr/>
        <p:txBody>
          <a:bodyPr/>
          <a:lstStyle/>
          <a:p>
            <a:fld id="{58B47EDC-70F1-447E-86E6-DFEA746573BF}" type="slidenum">
              <a:rPr lang="en-US" altLang="en-US" smtClean="0"/>
              <a:pPr/>
              <a:t>10</a:t>
            </a:fld>
            <a:endParaRPr lang="en-US" altLang="en-US" dirty="0"/>
          </a:p>
        </p:txBody>
      </p:sp>
    </p:spTree>
    <p:extLst>
      <p:ext uri="{BB962C8B-B14F-4D97-AF65-F5344CB8AC3E}">
        <p14:creationId xmlns:p14="http://schemas.microsoft.com/office/powerpoint/2010/main" val="2604109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Scoring – How to Score</a:t>
            </a:r>
          </a:p>
        </p:txBody>
      </p:sp>
      <p:sp>
        <p:nvSpPr>
          <p:cNvPr id="6" name="Content Placeholder 5">
            <a:extLst>
              <a:ext uri="{FF2B5EF4-FFF2-40B4-BE49-F238E27FC236}">
                <a16:creationId xmlns:a16="http://schemas.microsoft.com/office/drawing/2014/main" id="{2D32CCC3-8380-45DF-84D9-462EF51AD0E2}"/>
              </a:ext>
            </a:extLst>
          </p:cNvPr>
          <p:cNvSpPr>
            <a:spLocks noGrp="1"/>
          </p:cNvSpPr>
          <p:nvPr>
            <p:ph idx="1"/>
          </p:nvPr>
        </p:nvSpPr>
        <p:spPr/>
        <p:txBody>
          <a:bodyPr/>
          <a:lstStyle/>
          <a:p>
            <a:r>
              <a:rPr lang="en-US" sz="2800" dirty="0">
                <a:solidFill>
                  <a:schemeClr val="accent1"/>
                </a:solidFill>
              </a:rPr>
              <a:t>Prepare </a:t>
            </a:r>
            <a:r>
              <a:rPr lang="en-US" sz="2800" dirty="0"/>
              <a:t>– read scheduled competition round challenges on CyberPatriot Website</a:t>
            </a:r>
          </a:p>
          <a:p>
            <a:r>
              <a:rPr lang="en-US" sz="2800" dirty="0"/>
              <a:t>Study operating systems and Cisco Networking assignments</a:t>
            </a:r>
          </a:p>
          <a:p>
            <a:r>
              <a:rPr lang="en-US" sz="2800" dirty="0"/>
              <a:t>Harden your system and defend against outside attacks by starting with hints and the scenario in the </a:t>
            </a:r>
            <a:r>
              <a:rPr lang="en-US" sz="2800" dirty="0">
                <a:solidFill>
                  <a:schemeClr val="accent1"/>
                </a:solidFill>
              </a:rPr>
              <a:t>ReadMe</a:t>
            </a:r>
            <a:r>
              <a:rPr lang="en-US" sz="2800" dirty="0"/>
              <a:t> file on the desktop</a:t>
            </a:r>
          </a:p>
          <a:p>
            <a:r>
              <a:rPr lang="en-US" sz="2800" dirty="0"/>
              <a:t>Not all vulnerabilities are scored or hinted at in the </a:t>
            </a:r>
            <a:r>
              <a:rPr lang="en-US" sz="2800" dirty="0">
                <a:solidFill>
                  <a:schemeClr val="accent1"/>
                </a:solidFill>
              </a:rPr>
              <a:t>ReadMe</a:t>
            </a:r>
          </a:p>
          <a:p>
            <a:pPr lvl="1"/>
            <a:r>
              <a:rPr lang="en-US" sz="2000" dirty="0"/>
              <a:t>The goal of the competition is to harden the system as completely as possible in the provided time</a:t>
            </a:r>
          </a:p>
          <a:p>
            <a:pPr lvl="1"/>
            <a:r>
              <a:rPr lang="en-US" sz="2000" dirty="0"/>
              <a:t>You might do something that improves the system, but does not earn your team points</a:t>
            </a:r>
          </a:p>
        </p:txBody>
      </p:sp>
      <p:sp>
        <p:nvSpPr>
          <p:cNvPr id="2" name="Slide Number Placeholder 1">
            <a:extLst>
              <a:ext uri="{FF2B5EF4-FFF2-40B4-BE49-F238E27FC236}">
                <a16:creationId xmlns:a16="http://schemas.microsoft.com/office/drawing/2014/main" id="{9C580EF6-ABE5-47D0-895B-91578C8EBDBC}"/>
              </a:ext>
            </a:extLst>
          </p:cNvPr>
          <p:cNvSpPr>
            <a:spLocks noGrp="1"/>
          </p:cNvSpPr>
          <p:nvPr>
            <p:ph type="sldNum" sz="quarter" idx="10"/>
          </p:nvPr>
        </p:nvSpPr>
        <p:spPr/>
        <p:txBody>
          <a:bodyPr/>
          <a:lstStyle/>
          <a:p>
            <a:fld id="{58B47EDC-70F1-447E-86E6-DFEA746573BF}" type="slidenum">
              <a:rPr lang="en-US" altLang="en-US" smtClean="0"/>
              <a:pPr/>
              <a:t>11</a:t>
            </a:fld>
            <a:endParaRPr lang="en-US" altLang="en-US" dirty="0"/>
          </a:p>
        </p:txBody>
      </p:sp>
    </p:spTree>
    <p:extLst>
      <p:ext uri="{BB962C8B-B14F-4D97-AF65-F5344CB8AC3E}">
        <p14:creationId xmlns:p14="http://schemas.microsoft.com/office/powerpoint/2010/main" val="79754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342011C4-D133-4BBD-93A0-C983D3AFD123}"/>
              </a:ext>
            </a:extLst>
          </p:cNvPr>
          <p:cNvSpPr>
            <a:spLocks noGrp="1"/>
          </p:cNvSpPr>
          <p:nvPr>
            <p:ph idx="1"/>
          </p:nvPr>
        </p:nvSpPr>
        <p:spPr/>
        <p:txBody>
          <a:bodyPr/>
          <a:lstStyle/>
          <a:p>
            <a:pPr>
              <a:spcBef>
                <a:spcPts val="0"/>
              </a:spcBef>
              <a:spcAft>
                <a:spcPts val="600"/>
              </a:spcAft>
            </a:pPr>
            <a:r>
              <a:rPr lang="en-US" sz="2000" dirty="0"/>
              <a:t>The CyberPatriot Competition System (CCS) automatically transmits your team’s progress in the competition image (</a:t>
            </a:r>
            <a:r>
              <a:rPr lang="en-US" sz="2000" dirty="0" err="1"/>
              <a:t>VM</a:t>
            </a:r>
            <a:r>
              <a:rPr lang="en-US" sz="2000" dirty="0"/>
              <a:t>) to the CyberPatriot scoring server</a:t>
            </a:r>
          </a:p>
          <a:p>
            <a:pPr>
              <a:spcBef>
                <a:spcPts val="0"/>
              </a:spcBef>
              <a:spcAft>
                <a:spcPts val="600"/>
              </a:spcAft>
            </a:pPr>
            <a:r>
              <a:rPr lang="en-US" sz="2000" dirty="0"/>
              <a:t>Use the </a:t>
            </a:r>
            <a:r>
              <a:rPr lang="en-US" sz="2000" dirty="0">
                <a:solidFill>
                  <a:schemeClr val="accent1"/>
                </a:solidFill>
              </a:rPr>
              <a:t>CyberPatriot Scoring Report </a:t>
            </a:r>
            <a:r>
              <a:rPr lang="en-US" sz="2000" dirty="0"/>
              <a:t>to check your score and your connection status</a:t>
            </a:r>
          </a:p>
          <a:p>
            <a:pPr>
              <a:spcBef>
                <a:spcPts val="0"/>
              </a:spcBef>
              <a:spcAft>
                <a:spcPts val="600"/>
              </a:spcAft>
            </a:pPr>
            <a:r>
              <a:rPr lang="en-US" sz="2000" dirty="0"/>
              <a:t>A chime will play when you gain points and a buzzer will sound when you lose points</a:t>
            </a:r>
          </a:p>
          <a:p>
            <a:pPr>
              <a:spcBef>
                <a:spcPts val="0"/>
              </a:spcBef>
              <a:spcAft>
                <a:spcPts val="600"/>
              </a:spcAft>
            </a:pPr>
            <a:r>
              <a:rPr lang="en-US" sz="2000" dirty="0"/>
              <a:t>Do not open, modify, or delete anything in the “CyberPatriot” folder of any image</a:t>
            </a:r>
          </a:p>
          <a:p>
            <a:pPr lvl="1">
              <a:spcBef>
                <a:spcPts val="0"/>
              </a:spcBef>
              <a:spcAft>
                <a:spcPts val="600"/>
              </a:spcAft>
            </a:pPr>
            <a:r>
              <a:rPr lang="en-US" sz="1800" dirty="0"/>
              <a:t>Doing so could cause you to lose your progress in the image</a:t>
            </a:r>
          </a:p>
          <a:p>
            <a:endParaRPr lang="en-US" dirty="0"/>
          </a:p>
        </p:txBody>
      </p:sp>
      <p:sp>
        <p:nvSpPr>
          <p:cNvPr id="7" name="AutoShape 2" descr="https://outlook.office365.com/owa/service.svc/s/GetFileAttachment?id=AAMkADZhM2IwYmIwLTA5ZGItNGE4ZC04NGQ2LTIzY2RkMWVmZmE5NABGAAAAAADDDrT3xxOvRJdr6hCqbZQCBwCtkOyhxF3rSbJyNqtlGmYfAAAAAAAOAACtkOyhxF3rSbJyNqtlGmYfAADs%2FdnIAAABEgAQAIh%2BAONwrx1NqHFojdBvVD8%3D&amp;X-OWA-CANARY=TirlAqy5SEuA6GBIqrSZD3Fj6n4NXtEIlFlKZCOHPyiN6zlNhp9RhgwsRuCp683qYM7tOSgNHDw."/>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nvGrpSpPr>
          <p:cNvPr id="5" name="Group 4"/>
          <p:cNvGrpSpPr/>
          <p:nvPr/>
        </p:nvGrpSpPr>
        <p:grpSpPr>
          <a:xfrm>
            <a:off x="3928678" y="3860921"/>
            <a:ext cx="4339507" cy="2381040"/>
            <a:chOff x="1988987" y="2654310"/>
            <a:chExt cx="5035396" cy="2820764"/>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8987" y="2654310"/>
              <a:ext cx="5035396" cy="2819170"/>
            </a:xfrm>
            <a:prstGeom prst="rect">
              <a:avLst/>
            </a:prstGeom>
            <a:ln>
              <a:solidFill>
                <a:schemeClr val="accent2"/>
              </a:solidFill>
            </a:ln>
          </p:spPr>
        </p:pic>
        <p:sp>
          <p:nvSpPr>
            <p:cNvPr id="12" name="Rounded Rectangle 11"/>
            <p:cNvSpPr/>
            <p:nvPr/>
          </p:nvSpPr>
          <p:spPr>
            <a:xfrm>
              <a:off x="1988987" y="4443179"/>
              <a:ext cx="3178100" cy="1031895"/>
            </a:xfrm>
            <a:prstGeom prst="roundRect">
              <a:avLst>
                <a:gd name="adj" fmla="val 5415"/>
              </a:avLst>
            </a:prstGeom>
            <a:noFill/>
            <a:ln>
              <a:solidFill>
                <a:srgbClr val="FF2F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Arrow Connector 12"/>
            <p:cNvCxnSpPr/>
            <p:nvPr/>
          </p:nvCxnSpPr>
          <p:spPr>
            <a:xfrm flipH="1">
              <a:off x="5167087" y="4596887"/>
              <a:ext cx="502919" cy="362239"/>
            </a:xfrm>
            <a:prstGeom prst="straightConnector1">
              <a:avLst/>
            </a:prstGeom>
            <a:ln w="28575">
              <a:solidFill>
                <a:srgbClr val="FF2F2F"/>
              </a:solidFill>
              <a:tailEnd type="triangle"/>
            </a:ln>
          </p:spPr>
          <p:style>
            <a:lnRef idx="1">
              <a:schemeClr val="accent1"/>
            </a:lnRef>
            <a:fillRef idx="0">
              <a:schemeClr val="accent1"/>
            </a:fillRef>
            <a:effectRef idx="0">
              <a:schemeClr val="accent1"/>
            </a:effectRef>
            <a:fontRef idx="minor">
              <a:schemeClr val="tx1"/>
            </a:fontRef>
          </p:style>
        </p:cxnSp>
      </p:grpSp>
      <p:sp>
        <p:nvSpPr>
          <p:cNvPr id="8" name="Title 7">
            <a:extLst>
              <a:ext uri="{FF2B5EF4-FFF2-40B4-BE49-F238E27FC236}">
                <a16:creationId xmlns:a16="http://schemas.microsoft.com/office/drawing/2014/main" id="{B73706D7-BDCE-489E-B0A5-2D582F185148}"/>
              </a:ext>
            </a:extLst>
          </p:cNvPr>
          <p:cNvSpPr>
            <a:spLocks noGrp="1"/>
          </p:cNvSpPr>
          <p:nvPr>
            <p:ph type="title"/>
          </p:nvPr>
        </p:nvSpPr>
        <p:spPr/>
        <p:txBody>
          <a:bodyPr/>
          <a:lstStyle/>
          <a:p>
            <a:r>
              <a:rPr lang="en-US" sz="3200" dirty="0"/>
              <a:t>CyberPatriot Competition System (CCS)</a:t>
            </a:r>
          </a:p>
        </p:txBody>
      </p:sp>
      <p:sp>
        <p:nvSpPr>
          <p:cNvPr id="2" name="Slide Number Placeholder 1">
            <a:extLst>
              <a:ext uri="{FF2B5EF4-FFF2-40B4-BE49-F238E27FC236}">
                <a16:creationId xmlns:a16="http://schemas.microsoft.com/office/drawing/2014/main" id="{761FA9A6-326F-41B0-8EB3-D521FC9CBE29}"/>
              </a:ext>
            </a:extLst>
          </p:cNvPr>
          <p:cNvSpPr>
            <a:spLocks noGrp="1"/>
          </p:cNvSpPr>
          <p:nvPr>
            <p:ph type="sldNum" sz="quarter" idx="10"/>
          </p:nvPr>
        </p:nvSpPr>
        <p:spPr/>
        <p:txBody>
          <a:bodyPr/>
          <a:lstStyle/>
          <a:p>
            <a:fld id="{58B47EDC-70F1-447E-86E6-DFEA746573BF}" type="slidenum">
              <a:rPr lang="en-US" altLang="en-US" smtClean="0"/>
              <a:pPr/>
              <a:t>12</a:t>
            </a:fld>
            <a:endParaRPr lang="en-US" altLang="en-US" dirty="0"/>
          </a:p>
        </p:txBody>
      </p:sp>
    </p:spTree>
    <p:extLst>
      <p:ext uri="{BB962C8B-B14F-4D97-AF65-F5344CB8AC3E}">
        <p14:creationId xmlns:p14="http://schemas.microsoft.com/office/powerpoint/2010/main" val="1650530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345808646"/>
              </p:ext>
            </p:extLst>
          </p:nvPr>
        </p:nvGraphicFramePr>
        <p:xfrm>
          <a:off x="2516606" y="1648205"/>
          <a:ext cx="7158788" cy="3273815"/>
        </p:xfrm>
        <a:graphic>
          <a:graphicData uri="http://schemas.openxmlformats.org/drawingml/2006/table">
            <a:tbl>
              <a:tblPr firstRow="1" bandRow="1">
                <a:tableStyleId>{5C22544A-7EE6-4342-B048-85BDC9FD1C3A}</a:tableStyleId>
              </a:tblPr>
              <a:tblGrid>
                <a:gridCol w="1022684">
                  <a:extLst>
                    <a:ext uri="{9D8B030D-6E8A-4147-A177-3AD203B41FA5}">
                      <a16:colId xmlns:a16="http://schemas.microsoft.com/office/drawing/2014/main" val="20000"/>
                    </a:ext>
                  </a:extLst>
                </a:gridCol>
                <a:gridCol w="1022684">
                  <a:extLst>
                    <a:ext uri="{9D8B030D-6E8A-4147-A177-3AD203B41FA5}">
                      <a16:colId xmlns:a16="http://schemas.microsoft.com/office/drawing/2014/main" val="20001"/>
                    </a:ext>
                  </a:extLst>
                </a:gridCol>
                <a:gridCol w="1022684">
                  <a:extLst>
                    <a:ext uri="{9D8B030D-6E8A-4147-A177-3AD203B41FA5}">
                      <a16:colId xmlns:a16="http://schemas.microsoft.com/office/drawing/2014/main" val="20002"/>
                    </a:ext>
                  </a:extLst>
                </a:gridCol>
                <a:gridCol w="1022684">
                  <a:extLst>
                    <a:ext uri="{9D8B030D-6E8A-4147-A177-3AD203B41FA5}">
                      <a16:colId xmlns:a16="http://schemas.microsoft.com/office/drawing/2014/main" val="20003"/>
                    </a:ext>
                  </a:extLst>
                </a:gridCol>
                <a:gridCol w="1022684">
                  <a:extLst>
                    <a:ext uri="{9D8B030D-6E8A-4147-A177-3AD203B41FA5}">
                      <a16:colId xmlns:a16="http://schemas.microsoft.com/office/drawing/2014/main" val="20004"/>
                    </a:ext>
                  </a:extLst>
                </a:gridCol>
                <a:gridCol w="1022684">
                  <a:extLst>
                    <a:ext uri="{9D8B030D-6E8A-4147-A177-3AD203B41FA5}">
                      <a16:colId xmlns:a16="http://schemas.microsoft.com/office/drawing/2014/main" val="20005"/>
                    </a:ext>
                  </a:extLst>
                </a:gridCol>
                <a:gridCol w="1022684">
                  <a:extLst>
                    <a:ext uri="{9D8B030D-6E8A-4147-A177-3AD203B41FA5}">
                      <a16:colId xmlns:a16="http://schemas.microsoft.com/office/drawing/2014/main" val="20006"/>
                    </a:ext>
                  </a:extLst>
                </a:gridCol>
              </a:tblGrid>
              <a:tr h="239960">
                <a:tc>
                  <a:txBody>
                    <a:bodyPr/>
                    <a:lstStyle/>
                    <a:p>
                      <a:pPr algn="ctr"/>
                      <a:r>
                        <a:rPr lang="en-US" sz="1200" b="0" dirty="0"/>
                        <a:t>Sunday</a:t>
                      </a:r>
                    </a:p>
                  </a:txBody>
                  <a:tcPr/>
                </a:tc>
                <a:tc>
                  <a:txBody>
                    <a:bodyPr/>
                    <a:lstStyle/>
                    <a:p>
                      <a:pPr algn="ctr"/>
                      <a:r>
                        <a:rPr lang="en-US" sz="1200" b="0" dirty="0"/>
                        <a:t>Monday</a:t>
                      </a:r>
                    </a:p>
                  </a:txBody>
                  <a:tcPr/>
                </a:tc>
                <a:tc>
                  <a:txBody>
                    <a:bodyPr/>
                    <a:lstStyle/>
                    <a:p>
                      <a:pPr algn="ctr"/>
                      <a:r>
                        <a:rPr lang="en-US" sz="1200" b="0" dirty="0"/>
                        <a:t>Tuesday</a:t>
                      </a:r>
                    </a:p>
                  </a:txBody>
                  <a:tcPr/>
                </a:tc>
                <a:tc>
                  <a:txBody>
                    <a:bodyPr/>
                    <a:lstStyle/>
                    <a:p>
                      <a:pPr algn="ctr"/>
                      <a:r>
                        <a:rPr lang="en-US" sz="1200" b="0" dirty="0"/>
                        <a:t>Wednesday</a:t>
                      </a:r>
                    </a:p>
                  </a:txBody>
                  <a:tcPr/>
                </a:tc>
                <a:tc>
                  <a:txBody>
                    <a:bodyPr/>
                    <a:lstStyle/>
                    <a:p>
                      <a:pPr algn="ctr"/>
                      <a:r>
                        <a:rPr lang="en-US" sz="1200" b="0" dirty="0"/>
                        <a:t>Thursday</a:t>
                      </a:r>
                    </a:p>
                  </a:txBody>
                  <a:tcPr/>
                </a:tc>
                <a:tc>
                  <a:txBody>
                    <a:bodyPr/>
                    <a:lstStyle/>
                    <a:p>
                      <a:pPr algn="ctr"/>
                      <a:r>
                        <a:rPr lang="en-US" sz="1200" b="0" dirty="0"/>
                        <a:t>Friday</a:t>
                      </a:r>
                    </a:p>
                  </a:txBody>
                  <a:tcPr/>
                </a:tc>
                <a:tc>
                  <a:txBody>
                    <a:bodyPr/>
                    <a:lstStyle/>
                    <a:p>
                      <a:pPr algn="ctr"/>
                      <a:r>
                        <a:rPr lang="en-US" sz="1200" b="0" dirty="0"/>
                        <a:t>Saturday</a:t>
                      </a:r>
                    </a:p>
                  </a:txBody>
                  <a:tcPr/>
                </a:tc>
                <a:extLst>
                  <a:ext uri="{0D108BD9-81ED-4DB2-BD59-A6C34878D82A}">
                    <a16:rowId xmlns:a16="http://schemas.microsoft.com/office/drawing/2014/main" val="10000"/>
                  </a:ext>
                </a:extLst>
              </a:tr>
              <a:tr h="599899">
                <a:tc>
                  <a:txBody>
                    <a:bodyPr/>
                    <a:lstStyle/>
                    <a:p>
                      <a:endParaRPr lang="en-US" sz="1200" dirty="0"/>
                    </a:p>
                  </a:txBody>
                  <a:tcPr/>
                </a:tc>
                <a:tc>
                  <a:txBody>
                    <a:bodyPr/>
                    <a:lstStyle/>
                    <a:p>
                      <a:endParaRPr lang="en-US" sz="1200" dirty="0"/>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tc>
                  <a:txBody>
                    <a:bodyPr/>
                    <a:lstStyle/>
                    <a:p>
                      <a:r>
                        <a:rPr lang="en-US" sz="1200" dirty="0"/>
                        <a:t>4</a:t>
                      </a:r>
                    </a:p>
                  </a:txBody>
                  <a:tcPr/>
                </a:tc>
                <a:tc>
                  <a:txBody>
                    <a:bodyPr/>
                    <a:lstStyle/>
                    <a:p>
                      <a:r>
                        <a:rPr lang="en-US" sz="1200" dirty="0"/>
                        <a:t>5</a:t>
                      </a:r>
                    </a:p>
                  </a:txBody>
                  <a:tcPr/>
                </a:tc>
                <a:extLst>
                  <a:ext uri="{0D108BD9-81ED-4DB2-BD59-A6C34878D82A}">
                    <a16:rowId xmlns:a16="http://schemas.microsoft.com/office/drawing/2014/main" val="10001"/>
                  </a:ext>
                </a:extLst>
              </a:tr>
              <a:tr h="599899">
                <a:tc>
                  <a:txBody>
                    <a:bodyPr/>
                    <a:lstStyle/>
                    <a:p>
                      <a:r>
                        <a:rPr lang="en-US" sz="1200" dirty="0"/>
                        <a:t>6</a:t>
                      </a:r>
                    </a:p>
                  </a:txBody>
                  <a:tcPr/>
                </a:tc>
                <a:tc>
                  <a:txBody>
                    <a:bodyPr/>
                    <a:lstStyle/>
                    <a:p>
                      <a:r>
                        <a:rPr lang="en-US" sz="1200" dirty="0"/>
                        <a:t>7</a:t>
                      </a:r>
                    </a:p>
                  </a:txBody>
                  <a:tcPr/>
                </a:tc>
                <a:tc>
                  <a:txBody>
                    <a:bodyPr/>
                    <a:lstStyle/>
                    <a:p>
                      <a:r>
                        <a:rPr lang="en-US" sz="1200" dirty="0"/>
                        <a:t>8</a:t>
                      </a:r>
                    </a:p>
                  </a:txBody>
                  <a:tcPr/>
                </a:tc>
                <a:tc>
                  <a:txBody>
                    <a:bodyPr/>
                    <a:lstStyle/>
                    <a:p>
                      <a:r>
                        <a:rPr lang="en-US" sz="1200" dirty="0"/>
                        <a:t>9</a:t>
                      </a:r>
                    </a:p>
                  </a:txBody>
                  <a:tcPr/>
                </a:tc>
                <a:tc>
                  <a:txBody>
                    <a:bodyPr/>
                    <a:lstStyle/>
                    <a:p>
                      <a:r>
                        <a:rPr lang="en-US" sz="1200" dirty="0"/>
                        <a:t>10</a:t>
                      </a:r>
                    </a:p>
                  </a:txBody>
                  <a:tcPr/>
                </a:tc>
                <a:tc>
                  <a:txBody>
                    <a:bodyPr/>
                    <a:lstStyle/>
                    <a:p>
                      <a:r>
                        <a:rPr lang="en-US" sz="1200" dirty="0"/>
                        <a:t>11</a:t>
                      </a:r>
                    </a:p>
                  </a:txBody>
                  <a:tcPr/>
                </a:tc>
                <a:tc>
                  <a:txBody>
                    <a:bodyPr/>
                    <a:lstStyle/>
                    <a:p>
                      <a:r>
                        <a:rPr lang="en-US" sz="1200" dirty="0"/>
                        <a:t>12</a:t>
                      </a:r>
                    </a:p>
                  </a:txBody>
                  <a:tcPr/>
                </a:tc>
                <a:extLst>
                  <a:ext uri="{0D108BD9-81ED-4DB2-BD59-A6C34878D82A}">
                    <a16:rowId xmlns:a16="http://schemas.microsoft.com/office/drawing/2014/main" val="10002"/>
                  </a:ext>
                </a:extLst>
              </a:tr>
              <a:tr h="599899">
                <a:tc>
                  <a:txBody>
                    <a:bodyPr/>
                    <a:lstStyle/>
                    <a:p>
                      <a:r>
                        <a:rPr lang="en-US" sz="1200" dirty="0"/>
                        <a:t>13</a:t>
                      </a:r>
                    </a:p>
                  </a:txBody>
                  <a:tcPr/>
                </a:tc>
                <a:tc>
                  <a:txBody>
                    <a:bodyPr/>
                    <a:lstStyle/>
                    <a:p>
                      <a:r>
                        <a:rPr lang="en-US" sz="1200" dirty="0"/>
                        <a:t>14</a:t>
                      </a:r>
                    </a:p>
                  </a:txBody>
                  <a:tcPr/>
                </a:tc>
                <a:tc>
                  <a:txBody>
                    <a:bodyPr/>
                    <a:lstStyle/>
                    <a:p>
                      <a:r>
                        <a:rPr lang="en-US" sz="1200" dirty="0"/>
                        <a:t>15</a:t>
                      </a:r>
                    </a:p>
                  </a:txBody>
                  <a:tcPr/>
                </a:tc>
                <a:tc>
                  <a:txBody>
                    <a:bodyPr/>
                    <a:lstStyle/>
                    <a:p>
                      <a:r>
                        <a:rPr lang="en-US" sz="1200" dirty="0"/>
                        <a:t>16</a:t>
                      </a:r>
                    </a:p>
                  </a:txBody>
                  <a:tcPr/>
                </a:tc>
                <a:tc>
                  <a:txBody>
                    <a:bodyPr/>
                    <a:lstStyle/>
                    <a:p>
                      <a:r>
                        <a:rPr lang="en-US" sz="1200" dirty="0"/>
                        <a:t>17</a:t>
                      </a:r>
                    </a:p>
                  </a:txBody>
                  <a:tcPr/>
                </a:tc>
                <a:tc>
                  <a:txBody>
                    <a:bodyPr/>
                    <a:lstStyle/>
                    <a:p>
                      <a:r>
                        <a:rPr lang="en-US" sz="1200" dirty="0"/>
                        <a:t>18</a:t>
                      </a:r>
                    </a:p>
                  </a:txBody>
                  <a:tcPr/>
                </a:tc>
                <a:tc>
                  <a:txBody>
                    <a:bodyPr/>
                    <a:lstStyle/>
                    <a:p>
                      <a:r>
                        <a:rPr lang="en-US" sz="1200" dirty="0"/>
                        <a:t>19</a:t>
                      </a:r>
                    </a:p>
                  </a:txBody>
                  <a:tcPr/>
                </a:tc>
                <a:extLst>
                  <a:ext uri="{0D108BD9-81ED-4DB2-BD59-A6C34878D82A}">
                    <a16:rowId xmlns:a16="http://schemas.microsoft.com/office/drawing/2014/main" val="10003"/>
                  </a:ext>
                </a:extLst>
              </a:tr>
              <a:tr h="599899">
                <a:tc>
                  <a:txBody>
                    <a:bodyPr/>
                    <a:lstStyle/>
                    <a:p>
                      <a:r>
                        <a:rPr lang="en-US" sz="1200" dirty="0"/>
                        <a:t>20</a:t>
                      </a:r>
                    </a:p>
                  </a:txBody>
                  <a:tcPr/>
                </a:tc>
                <a:tc>
                  <a:txBody>
                    <a:bodyPr/>
                    <a:lstStyle/>
                    <a:p>
                      <a:r>
                        <a:rPr lang="en-US" sz="1200" dirty="0"/>
                        <a:t>21</a:t>
                      </a:r>
                    </a:p>
                  </a:txBody>
                  <a:tcPr/>
                </a:tc>
                <a:tc>
                  <a:txBody>
                    <a:bodyPr/>
                    <a:lstStyle/>
                    <a:p>
                      <a:r>
                        <a:rPr lang="en-US" sz="1200" dirty="0"/>
                        <a:t>22</a:t>
                      </a:r>
                    </a:p>
                  </a:txBody>
                  <a:tcPr/>
                </a:tc>
                <a:tc>
                  <a:txBody>
                    <a:bodyPr/>
                    <a:lstStyle/>
                    <a:p>
                      <a:r>
                        <a:rPr lang="en-US" sz="1200" dirty="0"/>
                        <a:t>23</a:t>
                      </a:r>
                    </a:p>
                  </a:txBody>
                  <a:tcPr/>
                </a:tc>
                <a:tc>
                  <a:txBody>
                    <a:bodyPr/>
                    <a:lstStyle/>
                    <a:p>
                      <a:r>
                        <a:rPr lang="en-US" sz="1200" dirty="0"/>
                        <a:t>24</a:t>
                      </a:r>
                    </a:p>
                  </a:txBody>
                  <a:tcPr/>
                </a:tc>
                <a:tc>
                  <a:txBody>
                    <a:bodyPr/>
                    <a:lstStyle/>
                    <a:p>
                      <a:r>
                        <a:rPr lang="en-US" sz="1200" dirty="0"/>
                        <a:t>25</a:t>
                      </a:r>
                    </a:p>
                  </a:txBody>
                  <a:tcPr/>
                </a:tc>
                <a:tc>
                  <a:txBody>
                    <a:bodyPr/>
                    <a:lstStyle/>
                    <a:p>
                      <a:r>
                        <a:rPr lang="en-US" sz="1200" dirty="0"/>
                        <a:t>26</a:t>
                      </a:r>
                    </a:p>
                  </a:txBody>
                  <a:tcPr/>
                </a:tc>
                <a:extLst>
                  <a:ext uri="{0D108BD9-81ED-4DB2-BD59-A6C34878D82A}">
                    <a16:rowId xmlns:a16="http://schemas.microsoft.com/office/drawing/2014/main" val="10004"/>
                  </a:ext>
                </a:extLst>
              </a:tr>
              <a:tr h="599899">
                <a:tc>
                  <a:txBody>
                    <a:bodyPr/>
                    <a:lstStyle/>
                    <a:p>
                      <a:r>
                        <a:rPr lang="en-US" sz="1200" dirty="0"/>
                        <a:t>27</a:t>
                      </a:r>
                    </a:p>
                  </a:txBody>
                  <a:tcPr/>
                </a:tc>
                <a:tc>
                  <a:txBody>
                    <a:bodyPr/>
                    <a:lstStyle/>
                    <a:p>
                      <a:r>
                        <a:rPr lang="en-US" sz="1200" dirty="0"/>
                        <a:t>28</a:t>
                      </a:r>
                    </a:p>
                  </a:txBody>
                  <a:tcPr/>
                </a:tc>
                <a:tc>
                  <a:txBody>
                    <a:bodyPr/>
                    <a:lstStyle/>
                    <a:p>
                      <a:r>
                        <a:rPr lang="en-US" sz="1200" dirty="0"/>
                        <a:t>29</a:t>
                      </a:r>
                    </a:p>
                  </a:txBody>
                  <a:tcPr/>
                </a:tc>
                <a:tc>
                  <a:txBody>
                    <a:bodyPr/>
                    <a:lstStyle/>
                    <a:p>
                      <a:r>
                        <a:rPr lang="en-US" sz="1200" dirty="0"/>
                        <a:t>30</a:t>
                      </a:r>
                    </a:p>
                  </a:txBody>
                  <a:tcPr/>
                </a:tc>
                <a:tc>
                  <a:txBody>
                    <a:bodyPr/>
                    <a:lstStyle/>
                    <a:p>
                      <a:r>
                        <a:rPr lang="en-US" sz="1200" dirty="0">
                          <a:solidFill>
                            <a:schemeClr val="bg1">
                              <a:lumMod val="50000"/>
                            </a:schemeClr>
                          </a:solidFill>
                        </a:rPr>
                        <a:t>1</a:t>
                      </a:r>
                    </a:p>
                  </a:txBody>
                  <a:tcPr/>
                </a:tc>
                <a:tc>
                  <a:txBody>
                    <a:bodyPr/>
                    <a:lstStyle/>
                    <a:p>
                      <a:r>
                        <a:rPr lang="en-US" sz="1200" dirty="0">
                          <a:solidFill>
                            <a:schemeClr val="bg1">
                              <a:lumMod val="50000"/>
                            </a:schemeClr>
                          </a:solidFill>
                        </a:rPr>
                        <a:t>2</a:t>
                      </a:r>
                    </a:p>
                  </a:txBody>
                  <a:tcPr/>
                </a:tc>
                <a:tc>
                  <a:txBody>
                    <a:bodyPr/>
                    <a:lstStyle/>
                    <a:p>
                      <a:r>
                        <a:rPr lang="en-US" sz="1200" dirty="0">
                          <a:solidFill>
                            <a:schemeClr val="bg1">
                              <a:lumMod val="50000"/>
                            </a:schemeClr>
                          </a:solidFill>
                        </a:rPr>
                        <a:t>3</a:t>
                      </a:r>
                    </a:p>
                  </a:txBody>
                  <a:tcPr/>
                </a:tc>
                <a:extLst>
                  <a:ext uri="{0D108BD9-81ED-4DB2-BD59-A6C34878D82A}">
                    <a16:rowId xmlns:a16="http://schemas.microsoft.com/office/drawing/2014/main" val="10005"/>
                  </a:ext>
                </a:extLst>
              </a:tr>
            </a:tbl>
          </a:graphicData>
        </a:graphic>
      </p:graphicFrame>
      <p:sp>
        <p:nvSpPr>
          <p:cNvPr id="5" name="Rectangle 4"/>
          <p:cNvSpPr/>
          <p:nvPr/>
        </p:nvSpPr>
        <p:spPr>
          <a:xfrm>
            <a:off x="5056901" y="1258863"/>
            <a:ext cx="2078198" cy="369332"/>
          </a:xfrm>
          <a:prstGeom prst="rect">
            <a:avLst/>
          </a:prstGeom>
        </p:spPr>
        <p:txBody>
          <a:bodyPr wrap="none">
            <a:spAutoFit/>
          </a:bodyPr>
          <a:lstStyle/>
          <a:p>
            <a:r>
              <a:rPr lang="en-US" b="1" dirty="0">
                <a:solidFill>
                  <a:schemeClr val="accent1"/>
                </a:solidFill>
              </a:rPr>
              <a:t>SAMPLE SCHEDULE:</a:t>
            </a:r>
          </a:p>
        </p:txBody>
      </p:sp>
      <p:sp>
        <p:nvSpPr>
          <p:cNvPr id="7" name="TextBox 6"/>
          <p:cNvSpPr txBox="1"/>
          <p:nvPr/>
        </p:nvSpPr>
        <p:spPr>
          <a:xfrm>
            <a:off x="7640983" y="3498855"/>
            <a:ext cx="2040429" cy="184666"/>
          </a:xfrm>
          <a:prstGeom prst="rect">
            <a:avLst/>
          </a:prstGeom>
          <a:solidFill>
            <a:schemeClr val="accent4"/>
          </a:solidFill>
          <a:effectLst>
            <a:outerShdw blurRad="50800" dist="38100" dir="2700000" algn="tl" rotWithShape="0">
              <a:prstClr val="black">
                <a:alpha val="40000"/>
              </a:prstClr>
            </a:outerShdw>
          </a:effectLst>
        </p:spPr>
        <p:txBody>
          <a:bodyPr wrap="square" tIns="0" bIns="0" rtlCol="0" anchor="ctr" anchorCtr="0">
            <a:spAutoFit/>
          </a:bodyPr>
          <a:lstStyle/>
          <a:p>
            <a:pPr algn="ctr"/>
            <a:r>
              <a:rPr lang="en-US" sz="1200" dirty="0">
                <a:solidFill>
                  <a:schemeClr val="bg1"/>
                </a:solidFill>
              </a:rPr>
              <a:t>COMPETITION</a:t>
            </a:r>
          </a:p>
        </p:txBody>
      </p:sp>
      <p:sp>
        <p:nvSpPr>
          <p:cNvPr id="8" name="Rectangle 7"/>
          <p:cNvSpPr/>
          <p:nvPr/>
        </p:nvSpPr>
        <p:spPr>
          <a:xfrm>
            <a:off x="2499361" y="4108849"/>
            <a:ext cx="1072109" cy="184666"/>
          </a:xfrm>
          <a:prstGeom prst="rect">
            <a:avLst/>
          </a:prstGeom>
          <a:solidFill>
            <a:schemeClr val="accent4"/>
          </a:solidFill>
          <a:effectLst>
            <a:outerShdw blurRad="50800" dist="38100" dir="2700000" algn="tl" rotWithShape="0">
              <a:prstClr val="black">
                <a:alpha val="40000"/>
              </a:prstClr>
            </a:outerShdw>
          </a:effectLst>
        </p:spPr>
        <p:txBody>
          <a:bodyPr wrap="square" tIns="0" bIns="0" anchor="ctr" anchorCtr="0">
            <a:spAutoFit/>
          </a:bodyPr>
          <a:lstStyle/>
          <a:p>
            <a:pPr algn="ctr"/>
            <a:r>
              <a:rPr lang="en-US" sz="1200" dirty="0">
                <a:solidFill>
                  <a:schemeClr val="bg1"/>
                </a:solidFill>
              </a:rPr>
              <a:t>ROUND</a:t>
            </a:r>
          </a:p>
        </p:txBody>
      </p:sp>
      <p:sp>
        <p:nvSpPr>
          <p:cNvPr id="11" name="TextBox 10"/>
          <p:cNvSpPr txBox="1"/>
          <p:nvPr/>
        </p:nvSpPr>
        <p:spPr>
          <a:xfrm>
            <a:off x="3316458" y="3362503"/>
            <a:ext cx="1463040" cy="369332"/>
          </a:xfrm>
          <a:prstGeom prst="rect">
            <a:avLst/>
          </a:prstGeom>
          <a:solidFill>
            <a:schemeClr val="accent6"/>
          </a:solidFill>
          <a:effectLst>
            <a:outerShdw blurRad="50800" dist="38100" dir="2700000" algn="tl" rotWithShape="0">
              <a:prstClr val="black">
                <a:alpha val="40000"/>
              </a:prstClr>
            </a:outerShdw>
          </a:effectLst>
        </p:spPr>
        <p:txBody>
          <a:bodyPr wrap="square" lIns="0" tIns="0" rIns="0" bIns="0" rtlCol="0" anchor="ctr" anchorCtr="0">
            <a:spAutoFit/>
          </a:bodyPr>
          <a:lstStyle/>
          <a:p>
            <a:pPr algn="ctr"/>
            <a:r>
              <a:rPr lang="en-US" sz="1200" dirty="0">
                <a:solidFill>
                  <a:schemeClr val="bg1"/>
                </a:solidFill>
              </a:rPr>
              <a:t>Image Download and Instructions Email sent</a:t>
            </a:r>
          </a:p>
        </p:txBody>
      </p:sp>
      <p:sp>
        <p:nvSpPr>
          <p:cNvPr id="12" name="Oval 11"/>
          <p:cNvSpPr/>
          <p:nvPr/>
        </p:nvSpPr>
        <p:spPr>
          <a:xfrm>
            <a:off x="3571469" y="3166532"/>
            <a:ext cx="274320" cy="18288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7640982" y="2935010"/>
            <a:ext cx="1188720" cy="184666"/>
          </a:xfrm>
          <a:prstGeom prst="rect">
            <a:avLst/>
          </a:prstGeom>
          <a:solidFill>
            <a:schemeClr val="accent6"/>
          </a:solidFill>
          <a:effectLst>
            <a:outerShdw blurRad="50800" dist="38100" dir="2700000" algn="tl" rotWithShape="0">
              <a:prstClr val="black">
                <a:alpha val="40000"/>
              </a:prstClr>
            </a:outerShdw>
          </a:effectLst>
        </p:spPr>
        <p:txBody>
          <a:bodyPr wrap="square" lIns="0" tIns="0" rIns="0" bIns="0" rtlCol="0" anchor="ctr" anchorCtr="0">
            <a:spAutoFit/>
          </a:bodyPr>
          <a:lstStyle/>
          <a:p>
            <a:pPr algn="ctr"/>
            <a:r>
              <a:rPr lang="en-US" sz="1200" dirty="0">
                <a:solidFill>
                  <a:schemeClr val="bg1"/>
                </a:solidFill>
              </a:rPr>
              <a:t>StartEx Email sent</a:t>
            </a:r>
          </a:p>
        </p:txBody>
      </p:sp>
      <p:sp>
        <p:nvSpPr>
          <p:cNvPr id="16" name="Oval 15"/>
          <p:cNvSpPr/>
          <p:nvPr/>
        </p:nvSpPr>
        <p:spPr>
          <a:xfrm>
            <a:off x="7670011" y="3164792"/>
            <a:ext cx="274320" cy="18288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2511972" y="5129167"/>
            <a:ext cx="7168056" cy="1200329"/>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marL="174625" indent="-174625">
              <a:buFont typeface="Arial" panose="020B0604020202020204" pitchFamily="34" charset="0"/>
              <a:buChar char="•"/>
            </a:pPr>
            <a:r>
              <a:rPr lang="en-US" sz="1200" dirty="0"/>
              <a:t>Competition emails are only sent to registered Coaches</a:t>
            </a:r>
          </a:p>
          <a:p>
            <a:pPr marL="174625" indent="-174625">
              <a:buFont typeface="Arial" panose="020B0604020202020204" pitchFamily="34" charset="0"/>
              <a:buChar char="•"/>
            </a:pPr>
            <a:r>
              <a:rPr lang="en-US" sz="1200" dirty="0"/>
              <a:t>Image Download and Instructions email includes download links and thorough instructions for the round.</a:t>
            </a:r>
          </a:p>
          <a:p>
            <a:pPr marL="174625" indent="-174625">
              <a:buFont typeface="Arial" panose="020B0604020202020204" pitchFamily="34" charset="0"/>
              <a:buChar char="•"/>
            </a:pPr>
            <a:r>
              <a:rPr lang="en-US" sz="1200" dirty="0" err="1"/>
              <a:t>StartEx</a:t>
            </a:r>
            <a:r>
              <a:rPr lang="en-US" sz="1200" dirty="0"/>
              <a:t> email contains password to unzip images and log into user account.</a:t>
            </a:r>
          </a:p>
          <a:p>
            <a:pPr marL="174625" indent="-174625">
              <a:buFont typeface="Arial" panose="020B0604020202020204" pitchFamily="34" charset="0"/>
              <a:buChar char="•"/>
            </a:pPr>
            <a:r>
              <a:rPr lang="en-US" sz="1200" dirty="0"/>
              <a:t>Teams choose a six-consecutive-hour window during the competition weekend to compete. Six-hours must fall between support times posted by CPOC.</a:t>
            </a:r>
          </a:p>
          <a:p>
            <a:pPr marL="174625" indent="-174625">
              <a:buFont typeface="Arial" panose="020B0604020202020204" pitchFamily="34" charset="0"/>
              <a:buChar char="•"/>
            </a:pPr>
            <a:r>
              <a:rPr lang="en-US" sz="1200" dirty="0"/>
              <a:t>Later rounds have a Preliminary Results email sent to Coaches for review prior to general score release</a:t>
            </a:r>
          </a:p>
        </p:txBody>
      </p:sp>
      <p:sp>
        <p:nvSpPr>
          <p:cNvPr id="19" name="TextBox 18"/>
          <p:cNvSpPr txBox="1"/>
          <p:nvPr/>
        </p:nvSpPr>
        <p:spPr>
          <a:xfrm>
            <a:off x="4462541" y="4615736"/>
            <a:ext cx="1188720" cy="365760"/>
          </a:xfrm>
          <a:prstGeom prst="rect">
            <a:avLst/>
          </a:prstGeom>
          <a:solidFill>
            <a:schemeClr val="accent6"/>
          </a:solidFill>
          <a:effectLst>
            <a:outerShdw blurRad="50800" dist="38100" dir="2700000" algn="tl" rotWithShape="0">
              <a:prstClr val="black">
                <a:alpha val="40000"/>
              </a:prstClr>
            </a:outerShdw>
          </a:effectLst>
        </p:spPr>
        <p:txBody>
          <a:bodyPr wrap="square" lIns="0" tIns="0" rIns="0" bIns="0" rtlCol="0" anchor="ctr" anchorCtr="0">
            <a:spAutoFit/>
          </a:bodyPr>
          <a:lstStyle/>
          <a:p>
            <a:pPr algn="ctr"/>
            <a:r>
              <a:rPr lang="en-US" sz="1200" dirty="0">
                <a:solidFill>
                  <a:schemeClr val="bg1"/>
                </a:solidFill>
              </a:rPr>
              <a:t>Round Results Email sent</a:t>
            </a:r>
          </a:p>
        </p:txBody>
      </p:sp>
      <p:sp>
        <p:nvSpPr>
          <p:cNvPr id="20" name="Oval 19"/>
          <p:cNvSpPr/>
          <p:nvPr/>
        </p:nvSpPr>
        <p:spPr>
          <a:xfrm>
            <a:off x="4588389" y="4363375"/>
            <a:ext cx="274320" cy="18288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4B8951E-DAFE-40B2-AF20-DA740C55F72A}"/>
              </a:ext>
            </a:extLst>
          </p:cNvPr>
          <p:cNvSpPr>
            <a:spLocks noGrp="1"/>
          </p:cNvSpPr>
          <p:nvPr>
            <p:ph type="title"/>
          </p:nvPr>
        </p:nvSpPr>
        <p:spPr/>
        <p:txBody>
          <a:bodyPr/>
          <a:lstStyle/>
          <a:p>
            <a:r>
              <a:rPr lang="en-US" dirty="0"/>
              <a:t>Competition Deployment</a:t>
            </a:r>
          </a:p>
        </p:txBody>
      </p:sp>
      <p:sp>
        <p:nvSpPr>
          <p:cNvPr id="2" name="Slide Number Placeholder 1">
            <a:extLst>
              <a:ext uri="{FF2B5EF4-FFF2-40B4-BE49-F238E27FC236}">
                <a16:creationId xmlns:a16="http://schemas.microsoft.com/office/drawing/2014/main" id="{FF64DC77-4897-40C1-B907-F0964A537EEA}"/>
              </a:ext>
            </a:extLst>
          </p:cNvPr>
          <p:cNvSpPr>
            <a:spLocks noGrp="1"/>
          </p:cNvSpPr>
          <p:nvPr>
            <p:ph type="sldNum" sz="quarter" idx="10"/>
          </p:nvPr>
        </p:nvSpPr>
        <p:spPr/>
        <p:txBody>
          <a:bodyPr/>
          <a:lstStyle/>
          <a:p>
            <a:fld id="{58B47EDC-70F1-447E-86E6-DFEA746573BF}" type="slidenum">
              <a:rPr lang="en-US" altLang="en-US" smtClean="0"/>
              <a:pPr/>
              <a:t>13</a:t>
            </a:fld>
            <a:endParaRPr lang="en-US" altLang="en-US" dirty="0"/>
          </a:p>
        </p:txBody>
      </p:sp>
    </p:spTree>
    <p:extLst>
      <p:ext uri="{BB962C8B-B14F-4D97-AF65-F5344CB8AC3E}">
        <p14:creationId xmlns:p14="http://schemas.microsoft.com/office/powerpoint/2010/main" val="311612912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3600" dirty="0"/>
              <a:t>CyberPatriot Example Timeline</a:t>
            </a:r>
          </a:p>
        </p:txBody>
      </p:sp>
      <p:sp>
        <p:nvSpPr>
          <p:cNvPr id="2" name="Slide Number Placeholder 1">
            <a:extLst>
              <a:ext uri="{FF2B5EF4-FFF2-40B4-BE49-F238E27FC236}">
                <a16:creationId xmlns:a16="http://schemas.microsoft.com/office/drawing/2014/main" id="{F35B2651-FB48-4265-8266-83B8FAF8786B}"/>
              </a:ext>
            </a:extLst>
          </p:cNvPr>
          <p:cNvSpPr>
            <a:spLocks noGrp="1"/>
          </p:cNvSpPr>
          <p:nvPr>
            <p:ph type="sldNum" sz="quarter" idx="10"/>
          </p:nvPr>
        </p:nvSpPr>
        <p:spPr/>
        <p:txBody>
          <a:bodyPr/>
          <a:lstStyle/>
          <a:p>
            <a:fld id="{58B47EDC-70F1-447E-86E6-DFEA746573BF}" type="slidenum">
              <a:rPr lang="en-US" altLang="en-US" smtClean="0"/>
              <a:pPr/>
              <a:t>14</a:t>
            </a:fld>
            <a:endParaRPr lang="en-US" altLang="en-US" dirty="0"/>
          </a:p>
        </p:txBody>
      </p:sp>
      <p:pic>
        <p:nvPicPr>
          <p:cNvPr id="5" name="Picture 4" descr="Graphical user interface, text&#10;&#10;Description automatically generated">
            <a:extLst>
              <a:ext uri="{FF2B5EF4-FFF2-40B4-BE49-F238E27FC236}">
                <a16:creationId xmlns:a16="http://schemas.microsoft.com/office/drawing/2014/main" id="{276218A2-0538-4340-A3E3-6976957FF46A}"/>
              </a:ext>
            </a:extLst>
          </p:cNvPr>
          <p:cNvPicPr>
            <a:picLocks noChangeAspect="1"/>
          </p:cNvPicPr>
          <p:nvPr/>
        </p:nvPicPr>
        <p:blipFill rotWithShape="1">
          <a:blip r:embed="rId2">
            <a:extLst>
              <a:ext uri="{28A0092B-C50C-407E-A947-70E740481C1C}">
                <a14:useLocalDpi xmlns:a14="http://schemas.microsoft.com/office/drawing/2010/main" val="0"/>
              </a:ext>
            </a:extLst>
          </a:blip>
          <a:srcRect t="9101"/>
          <a:stretch/>
        </p:blipFill>
        <p:spPr>
          <a:xfrm>
            <a:off x="778574" y="1543050"/>
            <a:ext cx="10634852" cy="4445601"/>
          </a:xfrm>
          <a:prstGeom prst="rect">
            <a:avLst/>
          </a:prstGeom>
        </p:spPr>
      </p:pic>
    </p:spTree>
    <p:extLst>
      <p:ext uri="{BB962C8B-B14F-4D97-AF65-F5344CB8AC3E}">
        <p14:creationId xmlns:p14="http://schemas.microsoft.com/office/powerpoint/2010/main" val="270607906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fontScale="90000"/>
          </a:bodyPr>
          <a:lstStyle/>
          <a:p>
            <a:r>
              <a:rPr lang="en-US" sz="3600" dirty="0"/>
              <a:t>The National Finals Competition</a:t>
            </a:r>
          </a:p>
        </p:txBody>
      </p:sp>
      <p:sp>
        <p:nvSpPr>
          <p:cNvPr id="3" name="Content Placeholder 2">
            <a:extLst>
              <a:ext uri="{FF2B5EF4-FFF2-40B4-BE49-F238E27FC236}">
                <a16:creationId xmlns:a16="http://schemas.microsoft.com/office/drawing/2014/main" id="{E64E72C6-A42C-43FF-A46C-BFBA9FE8B70C}"/>
              </a:ext>
            </a:extLst>
          </p:cNvPr>
          <p:cNvSpPr>
            <a:spLocks noGrp="1"/>
          </p:cNvSpPr>
          <p:nvPr>
            <p:ph idx="1"/>
          </p:nvPr>
        </p:nvSpPr>
        <p:spPr/>
        <p:txBody>
          <a:bodyPr/>
          <a:lstStyle/>
          <a:p>
            <a:pPr>
              <a:lnSpc>
                <a:spcPct val="120000"/>
              </a:lnSpc>
              <a:spcBef>
                <a:spcPts val="0"/>
              </a:spcBef>
              <a:spcAft>
                <a:spcPts val="400"/>
              </a:spcAft>
            </a:pPr>
            <a:r>
              <a:rPr lang="en-US" sz="2000" dirty="0"/>
              <a:t>Top teams earn all-expenses-paid trips to the District of Columbia metropolitan area</a:t>
            </a:r>
          </a:p>
          <a:p>
            <a:pPr>
              <a:lnSpc>
                <a:spcPct val="110000"/>
              </a:lnSpc>
              <a:spcBef>
                <a:spcPts val="0"/>
              </a:spcBef>
            </a:pPr>
            <a:r>
              <a:rPr lang="en-US" sz="2000" dirty="0"/>
              <a:t>More than just competing in front of a computer</a:t>
            </a:r>
          </a:p>
          <a:p>
            <a:pPr lvl="1">
              <a:lnSpc>
                <a:spcPct val="110000"/>
              </a:lnSpc>
              <a:spcBef>
                <a:spcPts val="0"/>
              </a:spcBef>
            </a:pPr>
            <a:r>
              <a:rPr lang="en-US" sz="2000" dirty="0"/>
              <a:t>National Finals includes the Network Security Master Challenge, Cisco Networking Challenge, an AT&amp;T Component and other additional components</a:t>
            </a:r>
          </a:p>
          <a:p>
            <a:pPr>
              <a:lnSpc>
                <a:spcPct val="120000"/>
              </a:lnSpc>
              <a:spcBef>
                <a:spcPts val="0"/>
              </a:spcBef>
              <a:spcAft>
                <a:spcPts val="400"/>
              </a:spcAft>
            </a:pPr>
            <a:r>
              <a:rPr lang="en-US" sz="2000" dirty="0"/>
              <a:t>Opportunity to win scholarships, network with industry leaders, and enjoy media recognition</a:t>
            </a:r>
          </a:p>
          <a:p>
            <a:endParaRPr lang="en-US" sz="2800" dirty="0"/>
          </a:p>
        </p:txBody>
      </p:sp>
      <p:sp>
        <p:nvSpPr>
          <p:cNvPr id="2" name="Slide Number Placeholder 1">
            <a:extLst>
              <a:ext uri="{FF2B5EF4-FFF2-40B4-BE49-F238E27FC236}">
                <a16:creationId xmlns:a16="http://schemas.microsoft.com/office/drawing/2014/main" id="{B9388670-EB73-44A7-A876-4252C879BDE3}"/>
              </a:ext>
            </a:extLst>
          </p:cNvPr>
          <p:cNvSpPr>
            <a:spLocks noGrp="1"/>
          </p:cNvSpPr>
          <p:nvPr>
            <p:ph type="sldNum" sz="quarter" idx="10"/>
          </p:nvPr>
        </p:nvSpPr>
        <p:spPr/>
        <p:txBody>
          <a:bodyPr/>
          <a:lstStyle/>
          <a:p>
            <a:fld id="{58B47EDC-70F1-447E-86E6-DFEA746573BF}" type="slidenum">
              <a:rPr lang="en-US" altLang="en-US" smtClean="0"/>
              <a:pPr/>
              <a:t>15</a:t>
            </a:fld>
            <a:endParaRPr lang="en-US" altLang="en-US" dirty="0"/>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6269" t="15204" r="2711"/>
          <a:stretch/>
        </p:blipFill>
        <p:spPr>
          <a:xfrm>
            <a:off x="4599768" y="4056635"/>
            <a:ext cx="2992463" cy="2088006"/>
          </a:xfrm>
          <a:prstGeom prst="rect">
            <a:avLst/>
          </a:prstGeom>
          <a:effectLst>
            <a:outerShdw blurRad="50800" dist="38100" dir="2700000" algn="tl" rotWithShape="0">
              <a:prstClr val="black">
                <a:alpha val="40000"/>
              </a:prstClr>
            </a:outerShdw>
          </a:effectLst>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l="2300" t="5004" r="5419" b="8150"/>
          <a:stretch/>
        </p:blipFill>
        <p:spPr>
          <a:xfrm>
            <a:off x="7763694" y="4057650"/>
            <a:ext cx="3301609" cy="2071688"/>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rotWithShape="1">
          <a:blip r:embed="rId5" cstate="print">
            <a:extLst>
              <a:ext uri="{28A0092B-C50C-407E-A947-70E740481C1C}">
                <a14:useLocalDpi xmlns:a14="http://schemas.microsoft.com/office/drawing/2010/main" val="0"/>
              </a:ext>
            </a:extLst>
          </a:blip>
          <a:srcRect l="9590" t="11637" r="9855" b="4235"/>
          <a:stretch/>
        </p:blipFill>
        <p:spPr>
          <a:xfrm>
            <a:off x="1407325" y="4071938"/>
            <a:ext cx="2996127" cy="208597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80975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latin typeface="Arial" panose="020B0604020202020204" pitchFamily="34" charset="0"/>
                <a:cs typeface="Arial" panose="020B0604020202020204" pitchFamily="34" charset="0"/>
              </a:rPr>
              <a:t>UNIT 1 - SECTION 2</a:t>
            </a:r>
            <a:br>
              <a:rPr lang="en-US" dirty="0">
                <a:latin typeface="Arial" panose="020B0604020202020204" pitchFamily="34" charset="0"/>
                <a:cs typeface="Arial" panose="020B0604020202020204" pitchFamily="34" charset="0"/>
              </a:rPr>
            </a:br>
            <a:br>
              <a:rPr lang="en-US" sz="1100" dirty="0">
                <a:latin typeface="Arial" panose="020B0604020202020204" pitchFamily="34" charset="0"/>
                <a:cs typeface="Arial" panose="020B0604020202020204" pitchFamily="34" charset="0"/>
              </a:rPr>
            </a:br>
            <a:r>
              <a:rPr lang="en-US" sz="2400" b="0" dirty="0">
                <a:solidFill>
                  <a:schemeClr val="tx1"/>
                </a:solidFill>
                <a:latin typeface="Arial" panose="020B0604020202020204" pitchFamily="34" charset="0"/>
                <a:cs typeface="Arial" panose="020B0604020202020204" pitchFamily="34" charset="0"/>
              </a:rPr>
              <a:t>Introduction to Cybersecurity</a:t>
            </a:r>
            <a:endParaRPr lang="en-US" b="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823925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a:spLocks noGrp="1"/>
          </p:cNvSpPr>
          <p:nvPr>
            <p:ph type="title"/>
          </p:nvPr>
        </p:nvSpPr>
        <p:spPr/>
        <p:txBody>
          <a:bodyPr>
            <a:normAutofit fontScale="90000"/>
          </a:bodyPr>
          <a:lstStyle/>
          <a:p>
            <a:r>
              <a:rPr lang="en-US" sz="3600" dirty="0"/>
              <a:t>What is Cybersecurity?</a:t>
            </a:r>
          </a:p>
        </p:txBody>
      </p:sp>
      <p:sp>
        <p:nvSpPr>
          <p:cNvPr id="5" name="Content Placeholder 4">
            <a:extLst>
              <a:ext uri="{FF2B5EF4-FFF2-40B4-BE49-F238E27FC236}">
                <a16:creationId xmlns:a16="http://schemas.microsoft.com/office/drawing/2014/main" id="{374407CC-7630-44E8-AD78-CE508CB37E07}"/>
              </a:ext>
            </a:extLst>
          </p:cNvPr>
          <p:cNvSpPr>
            <a:spLocks noGrp="1"/>
          </p:cNvSpPr>
          <p:nvPr>
            <p:ph idx="1"/>
          </p:nvPr>
        </p:nvSpPr>
        <p:spPr/>
        <p:txBody>
          <a:bodyPr/>
          <a:lstStyle/>
          <a:p>
            <a:r>
              <a:rPr lang="en-US" sz="2800" dirty="0"/>
              <a:t>All the tools we use and actions we take to keep computers, networks, and information safe and available for those who need it, and unavailable for those who should not have it.</a:t>
            </a:r>
          </a:p>
          <a:p>
            <a:endParaRPr lang="en-US" sz="2800" dirty="0"/>
          </a:p>
          <a:p>
            <a:r>
              <a:rPr lang="en-US" sz="2800" dirty="0"/>
              <a:t>That means protecting hardware </a:t>
            </a:r>
            <a:br>
              <a:rPr lang="en-US" sz="2800" dirty="0"/>
            </a:br>
            <a:r>
              <a:rPr lang="en-US" sz="2800" dirty="0"/>
              <a:t>and data from everything from </a:t>
            </a:r>
            <a:br>
              <a:rPr lang="en-US" sz="2800" dirty="0"/>
            </a:br>
            <a:r>
              <a:rPr lang="en-US" sz="2800" dirty="0"/>
              <a:t>hacktivists to earthquakes.</a:t>
            </a:r>
          </a:p>
        </p:txBody>
      </p:sp>
      <p:sp>
        <p:nvSpPr>
          <p:cNvPr id="4" name="Slide Number Placeholder 3">
            <a:extLst>
              <a:ext uri="{FF2B5EF4-FFF2-40B4-BE49-F238E27FC236}">
                <a16:creationId xmlns:a16="http://schemas.microsoft.com/office/drawing/2014/main" id="{38029CF6-6092-4A0E-98EE-9E54676D0BB3}"/>
              </a:ext>
            </a:extLst>
          </p:cNvPr>
          <p:cNvSpPr>
            <a:spLocks noGrp="1"/>
          </p:cNvSpPr>
          <p:nvPr>
            <p:ph type="sldNum" sz="quarter" idx="10"/>
          </p:nvPr>
        </p:nvSpPr>
        <p:spPr/>
        <p:txBody>
          <a:bodyPr/>
          <a:lstStyle/>
          <a:p>
            <a:fld id="{58B47EDC-70F1-447E-86E6-DFEA746573BF}" type="slidenum">
              <a:rPr lang="en-US" altLang="en-US" smtClean="0"/>
              <a:pPr/>
              <a:t>17</a:t>
            </a:fld>
            <a:endParaRPr lang="en-US" altLang="en-US" dirty="0"/>
          </a:p>
        </p:txBody>
      </p:sp>
      <p:sp>
        <p:nvSpPr>
          <p:cNvPr id="2" name="Rectangle 1"/>
          <p:cNvSpPr/>
          <p:nvPr/>
        </p:nvSpPr>
        <p:spPr>
          <a:xfrm>
            <a:off x="8222766" y="5751262"/>
            <a:ext cx="1548181" cy="246221"/>
          </a:xfrm>
          <a:prstGeom prst="rect">
            <a:avLst/>
          </a:prstGeom>
        </p:spPr>
        <p:txBody>
          <a:bodyPr wrap="square">
            <a:spAutoFit/>
          </a:bodyPr>
          <a:lstStyle/>
          <a:p>
            <a:pPr algn="ctr"/>
            <a:r>
              <a:rPr lang="en-US" sz="1000" dirty="0">
                <a:solidFill>
                  <a:prstClr val="black"/>
                </a:solidFill>
              </a:rPr>
              <a:t>Source: </a:t>
            </a:r>
            <a:r>
              <a:rPr lang="en-US" sz="1000" dirty="0">
                <a:solidFill>
                  <a:prstClr val="black"/>
                </a:solidFill>
                <a:hlinkClick r:id="rId3"/>
              </a:rPr>
              <a:t>www.UMUC.edu</a:t>
            </a:r>
            <a:r>
              <a:rPr lang="en-US" sz="1000" dirty="0">
                <a:solidFill>
                  <a:prstClr val="black"/>
                </a:solidFill>
              </a:rPr>
              <a:t> </a:t>
            </a:r>
            <a:endParaRPr lang="en-US" sz="1000" dirty="0"/>
          </a:p>
        </p:txBody>
      </p:sp>
      <p:pic>
        <p:nvPicPr>
          <p:cNvPr id="141326" name="Picture 14" descr="C:\Users\L.Walczak\AppData\Local\Microsoft\Windows\Temporary Internet Files\Content.IE5\D2YBM0OZ\MC900439607[1].png"/>
          <p:cNvPicPr>
            <a:picLocks noChangeAspect="1" noChangeArrowheads="1"/>
          </p:cNvPicPr>
          <p:nvPr/>
        </p:nvPicPr>
        <p:blipFill>
          <a:blip r:embed="rId4" cstate="print"/>
          <a:srcRect/>
          <a:stretch>
            <a:fillRect/>
          </a:stretch>
        </p:blipFill>
        <p:spPr bwMode="auto">
          <a:xfrm>
            <a:off x="7529275" y="3429000"/>
            <a:ext cx="3040262" cy="2648613"/>
          </a:xfrm>
          <a:prstGeom prst="rect">
            <a:avLst/>
          </a:prstGeom>
          <a:noFill/>
        </p:spPr>
      </p:pic>
    </p:spTree>
    <p:extLst>
      <p:ext uri="{BB962C8B-B14F-4D97-AF65-F5344CB8AC3E}">
        <p14:creationId xmlns:p14="http://schemas.microsoft.com/office/powerpoint/2010/main" val="217507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a:spLocks noGrp="1"/>
          </p:cNvSpPr>
          <p:nvPr>
            <p:ph type="title"/>
          </p:nvPr>
        </p:nvSpPr>
        <p:spPr/>
        <p:txBody>
          <a:bodyPr>
            <a:normAutofit fontScale="90000"/>
          </a:bodyPr>
          <a:lstStyle/>
          <a:p>
            <a:r>
              <a:rPr lang="en-US" sz="3600" dirty="0"/>
              <a:t>Why is Cybersecurity Important?</a:t>
            </a:r>
          </a:p>
        </p:txBody>
      </p:sp>
      <p:sp>
        <p:nvSpPr>
          <p:cNvPr id="3" name="Content Placeholder 2">
            <a:extLst>
              <a:ext uri="{FF2B5EF4-FFF2-40B4-BE49-F238E27FC236}">
                <a16:creationId xmlns:a16="http://schemas.microsoft.com/office/drawing/2014/main" id="{911EC50B-6829-4AA5-9C5B-FD3B786E4138}"/>
              </a:ext>
            </a:extLst>
          </p:cNvPr>
          <p:cNvSpPr>
            <a:spLocks noGrp="1"/>
          </p:cNvSpPr>
          <p:nvPr>
            <p:ph idx="1"/>
          </p:nvPr>
        </p:nvSpPr>
        <p:spPr/>
        <p:txBody>
          <a:bodyPr/>
          <a:lstStyle/>
          <a:p>
            <a:pPr marL="0" indent="0">
              <a:buNone/>
            </a:pPr>
            <a:endParaRPr lang="en-US" dirty="0"/>
          </a:p>
        </p:txBody>
      </p:sp>
      <p:sp>
        <p:nvSpPr>
          <p:cNvPr id="2" name="Slide Number Placeholder 1">
            <a:extLst>
              <a:ext uri="{FF2B5EF4-FFF2-40B4-BE49-F238E27FC236}">
                <a16:creationId xmlns:a16="http://schemas.microsoft.com/office/drawing/2014/main" id="{FFB54796-BF8C-4B01-B7C4-3DE74698436A}"/>
              </a:ext>
            </a:extLst>
          </p:cNvPr>
          <p:cNvSpPr>
            <a:spLocks noGrp="1"/>
          </p:cNvSpPr>
          <p:nvPr>
            <p:ph type="sldNum" sz="quarter" idx="10"/>
          </p:nvPr>
        </p:nvSpPr>
        <p:spPr/>
        <p:txBody>
          <a:bodyPr/>
          <a:lstStyle/>
          <a:p>
            <a:fld id="{58B47EDC-70F1-447E-86E6-DFEA746573BF}" type="slidenum">
              <a:rPr lang="en-US" altLang="en-US" smtClean="0"/>
              <a:pPr/>
              <a:t>18</a:t>
            </a:fld>
            <a:endParaRPr lang="en-US" altLang="en-US" dirty="0"/>
          </a:p>
        </p:txBody>
      </p:sp>
      <p:sp>
        <p:nvSpPr>
          <p:cNvPr id="27" name="Content Placeholder 2"/>
          <p:cNvSpPr txBox="1">
            <a:spLocks/>
          </p:cNvSpPr>
          <p:nvPr/>
        </p:nvSpPr>
        <p:spPr bwMode="auto">
          <a:xfrm>
            <a:off x="1946276" y="1875999"/>
            <a:ext cx="4810125" cy="3412901"/>
          </a:xfrm>
          <a:prstGeom prst="rect">
            <a:avLst/>
          </a:prstGeom>
          <a:noFill/>
          <a:ln w="9525">
            <a:noFill/>
            <a:miter lim="800000"/>
            <a:headEnd/>
            <a:tailEnd/>
          </a:ln>
        </p:spPr>
        <p:txBody>
          <a:bodyPr lIns="101882" tIns="50941" rIns="101882" bIns="50941"/>
          <a:lstStyle/>
          <a:p>
            <a:pPr marL="800100" lvl="1" indent="-342900">
              <a:spcAft>
                <a:spcPts val="1200"/>
              </a:spcAft>
              <a:buFont typeface="Arial" pitchFamily="34" charset="0"/>
              <a:buChar char="•"/>
            </a:pPr>
            <a:r>
              <a:rPr lang="en-US" dirty="0"/>
              <a:t>Banks</a:t>
            </a:r>
          </a:p>
          <a:p>
            <a:pPr marL="800100" lvl="1" indent="-342900">
              <a:spcAft>
                <a:spcPts val="1200"/>
              </a:spcAft>
              <a:buFont typeface="Arial" pitchFamily="34" charset="0"/>
              <a:buChar char="•"/>
            </a:pPr>
            <a:r>
              <a:rPr lang="en-US" dirty="0"/>
              <a:t>Social Media</a:t>
            </a:r>
          </a:p>
          <a:p>
            <a:pPr marL="800100" lvl="1" indent="-342900">
              <a:spcAft>
                <a:spcPts val="1200"/>
              </a:spcAft>
              <a:buFont typeface="Arial" pitchFamily="34" charset="0"/>
              <a:buChar char="•"/>
            </a:pPr>
            <a:r>
              <a:rPr lang="en-US" dirty="0"/>
              <a:t>Schools</a:t>
            </a:r>
          </a:p>
          <a:p>
            <a:pPr marL="800100" lvl="1" indent="-342900">
              <a:spcAft>
                <a:spcPts val="1200"/>
              </a:spcAft>
              <a:buFont typeface="Arial" pitchFamily="34" charset="0"/>
              <a:buChar char="•"/>
            </a:pPr>
            <a:r>
              <a:rPr lang="en-US" dirty="0"/>
              <a:t>Airlines and Railroads</a:t>
            </a:r>
          </a:p>
          <a:p>
            <a:pPr marL="800100" lvl="1" indent="-342900">
              <a:spcAft>
                <a:spcPts val="1200"/>
              </a:spcAft>
              <a:buFont typeface="Arial" pitchFamily="34" charset="0"/>
              <a:buChar char="•"/>
            </a:pPr>
            <a:r>
              <a:rPr lang="en-US" dirty="0"/>
              <a:t>Stores</a:t>
            </a:r>
          </a:p>
          <a:p>
            <a:pPr marL="800100" lvl="1" indent="-342900">
              <a:spcAft>
                <a:spcPts val="1200"/>
              </a:spcAft>
              <a:buFont typeface="Arial" pitchFamily="34" charset="0"/>
              <a:buChar char="•"/>
            </a:pPr>
            <a:r>
              <a:rPr lang="en-US" dirty="0"/>
              <a:t>Police and fire departments</a:t>
            </a:r>
          </a:p>
          <a:p>
            <a:pPr marL="800100" lvl="1" indent="-342900">
              <a:spcAft>
                <a:spcPts val="1200"/>
              </a:spcAft>
              <a:buFont typeface="Arial" pitchFamily="34" charset="0"/>
              <a:buChar char="•"/>
            </a:pPr>
            <a:r>
              <a:rPr lang="en-US" dirty="0"/>
              <a:t>Military and government systems</a:t>
            </a:r>
          </a:p>
          <a:p>
            <a:pPr marL="800100" lvl="1" indent="-342900">
              <a:spcAft>
                <a:spcPts val="1200"/>
              </a:spcAft>
              <a:buFont typeface="Arial" pitchFamily="34" charset="0"/>
              <a:buChar char="•"/>
            </a:pPr>
            <a:r>
              <a:rPr lang="en-US" dirty="0"/>
              <a:t>Doctors’ offices</a:t>
            </a:r>
          </a:p>
        </p:txBody>
      </p:sp>
      <p:sp>
        <p:nvSpPr>
          <p:cNvPr id="9" name="Rectangle 8"/>
          <p:cNvSpPr/>
          <p:nvPr/>
        </p:nvSpPr>
        <p:spPr>
          <a:xfrm>
            <a:off x="1958340" y="5530895"/>
            <a:ext cx="8275320" cy="597599"/>
          </a:xfrm>
          <a:prstGeom prst="rect">
            <a:avLst/>
          </a:prstGeom>
        </p:spPr>
        <p:txBody>
          <a:bodyPr wrap="square">
            <a:spAutoFit/>
          </a:bodyPr>
          <a:lstStyle/>
          <a:p>
            <a:pPr algn="ctr">
              <a:spcAft>
                <a:spcPts val="100"/>
              </a:spcAft>
            </a:pPr>
            <a:r>
              <a:rPr lang="en-US" sz="1600" b="1" dirty="0">
                <a:solidFill>
                  <a:schemeClr val="accent3"/>
                </a:solidFill>
              </a:rPr>
              <a:t>Cybersecurity isn’t just about protecting computers.</a:t>
            </a:r>
          </a:p>
          <a:p>
            <a:pPr algn="ctr">
              <a:spcAft>
                <a:spcPts val="100"/>
              </a:spcAft>
            </a:pPr>
            <a:r>
              <a:rPr lang="en-US" sz="1600" b="1" dirty="0">
                <a:solidFill>
                  <a:schemeClr val="accent3"/>
                </a:solidFill>
              </a:rPr>
              <a:t>Almost everything relies on or could be affected by a computer.</a:t>
            </a:r>
          </a:p>
        </p:txBody>
      </p:sp>
      <p:grpSp>
        <p:nvGrpSpPr>
          <p:cNvPr id="10" name="Group 9"/>
          <p:cNvGrpSpPr/>
          <p:nvPr/>
        </p:nvGrpSpPr>
        <p:grpSpPr>
          <a:xfrm>
            <a:off x="6385560" y="1710842"/>
            <a:ext cx="3779520" cy="2481932"/>
            <a:chOff x="2533683" y="3012316"/>
            <a:chExt cx="4086213" cy="2530282"/>
          </a:xfrm>
        </p:grpSpPr>
        <p:pic>
          <p:nvPicPr>
            <p:cNvPr id="11" name="Picture 2" descr="cyberattacks map 2"/>
            <p:cNvPicPr>
              <a:picLocks noChangeAspect="1" noChangeArrowheads="1"/>
            </p:cNvPicPr>
            <p:nvPr/>
          </p:nvPicPr>
          <p:blipFill>
            <a:blip r:embed="rId3" cstate="print"/>
            <a:srcRect b="2403"/>
            <a:stretch>
              <a:fillRect/>
            </a:stretch>
          </p:blipFill>
          <p:spPr bwMode="auto">
            <a:xfrm>
              <a:off x="2552275" y="3012316"/>
              <a:ext cx="4065659" cy="2271977"/>
            </a:xfrm>
            <a:prstGeom prst="rect">
              <a:avLst/>
            </a:prstGeom>
            <a:noFill/>
            <a:ln w="28575">
              <a:solidFill>
                <a:schemeClr val="accent1"/>
              </a:solidFill>
            </a:ln>
          </p:spPr>
        </p:pic>
        <p:sp>
          <p:nvSpPr>
            <p:cNvPr id="12" name="TextBox 11"/>
            <p:cNvSpPr txBox="1"/>
            <p:nvPr/>
          </p:nvSpPr>
          <p:spPr>
            <a:xfrm>
              <a:off x="2533683" y="5291580"/>
              <a:ext cx="4086213" cy="251018"/>
            </a:xfrm>
            <a:prstGeom prst="rect">
              <a:avLst/>
            </a:prstGeom>
            <a:noFill/>
          </p:spPr>
          <p:txBody>
            <a:bodyPr wrap="square" rtlCol="0">
              <a:spAutoFit/>
            </a:bodyPr>
            <a:lstStyle/>
            <a:p>
              <a:pPr algn="ctr"/>
              <a:r>
                <a:rPr lang="en-US" sz="1000" dirty="0"/>
                <a:t>Source: US Department of Homeland Security</a:t>
              </a:r>
            </a:p>
          </p:txBody>
        </p:sp>
      </p:grpSp>
      <p:sp>
        <p:nvSpPr>
          <p:cNvPr id="13" name="TextBox 12"/>
          <p:cNvSpPr txBox="1"/>
          <p:nvPr/>
        </p:nvSpPr>
        <p:spPr>
          <a:xfrm>
            <a:off x="6383746" y="4332202"/>
            <a:ext cx="3779521" cy="461665"/>
          </a:xfrm>
          <a:prstGeom prst="rect">
            <a:avLst/>
          </a:prstGeom>
          <a:noFill/>
        </p:spPr>
        <p:txBody>
          <a:bodyPr wrap="square" rtlCol="0">
            <a:spAutoFit/>
          </a:bodyPr>
          <a:lstStyle/>
          <a:p>
            <a:r>
              <a:rPr lang="en-US" sz="1200" dirty="0"/>
              <a:t>7,200+ critical American industrial control systems are linked to the Internet, and therefore vulnerable to attack</a:t>
            </a:r>
          </a:p>
        </p:txBody>
      </p:sp>
    </p:spTree>
    <p:extLst>
      <p:ext uri="{BB962C8B-B14F-4D97-AF65-F5344CB8AC3E}">
        <p14:creationId xmlns:p14="http://schemas.microsoft.com/office/powerpoint/2010/main" val="891080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B6C8C-AD1A-4566-9B6A-ED31E0BB5208}"/>
              </a:ext>
            </a:extLst>
          </p:cNvPr>
          <p:cNvSpPr>
            <a:spLocks noGrp="1"/>
          </p:cNvSpPr>
          <p:nvPr>
            <p:ph type="title"/>
          </p:nvPr>
        </p:nvSpPr>
        <p:spPr/>
        <p:txBody>
          <a:bodyPr/>
          <a:lstStyle/>
          <a:p>
            <a:r>
              <a:rPr lang="en-US" sz="3200" dirty="0"/>
              <a:t>Why is Cybersecurity Important?</a:t>
            </a:r>
            <a:endParaRPr lang="en-US" dirty="0"/>
          </a:p>
        </p:txBody>
      </p:sp>
      <p:sp>
        <p:nvSpPr>
          <p:cNvPr id="3" name="Content Placeholder 2">
            <a:extLst>
              <a:ext uri="{FF2B5EF4-FFF2-40B4-BE49-F238E27FC236}">
                <a16:creationId xmlns:a16="http://schemas.microsoft.com/office/drawing/2014/main" id="{AE50C404-2562-43D2-96F6-5A5CA8533F8B}"/>
              </a:ext>
            </a:extLst>
          </p:cNvPr>
          <p:cNvSpPr>
            <a:spLocks noGrp="1"/>
          </p:cNvSpPr>
          <p:nvPr>
            <p:ph idx="1"/>
          </p:nvPr>
        </p:nvSpPr>
        <p:spPr/>
        <p:txBody>
          <a:bodyPr/>
          <a:lstStyle/>
          <a:p>
            <a:r>
              <a:rPr lang="en-US" sz="2400" dirty="0"/>
              <a:t>There are </a:t>
            </a:r>
            <a:r>
              <a:rPr lang="en-US" sz="2400" dirty="0">
                <a:solidFill>
                  <a:schemeClr val="accent1"/>
                </a:solidFill>
              </a:rPr>
              <a:t>16 Critical Infrastructure Sectors </a:t>
            </a:r>
            <a:r>
              <a:rPr lang="en-US" sz="2400" dirty="0"/>
              <a:t>whose assets, systems, and networks are deemed so essential that if compromised or destroyed there would be existential effects on national security, national economics, and/or public health. </a:t>
            </a:r>
          </a:p>
          <a:p>
            <a:pPr lvl="1"/>
            <a:r>
              <a:rPr lang="en-US" sz="2000" dirty="0"/>
              <a:t>Cybersecurity &amp; Infrastructure Security Agency (CISA) listed the following as Critical Infrastructure Sectors:  </a:t>
            </a:r>
          </a:p>
        </p:txBody>
      </p:sp>
      <p:sp>
        <p:nvSpPr>
          <p:cNvPr id="4" name="Slide Number Placeholder 3">
            <a:extLst>
              <a:ext uri="{FF2B5EF4-FFF2-40B4-BE49-F238E27FC236}">
                <a16:creationId xmlns:a16="http://schemas.microsoft.com/office/drawing/2014/main" id="{58E9C442-F006-49DD-B48E-4315ED241C23}"/>
              </a:ext>
            </a:extLst>
          </p:cNvPr>
          <p:cNvSpPr>
            <a:spLocks noGrp="1"/>
          </p:cNvSpPr>
          <p:nvPr>
            <p:ph type="sldNum" sz="quarter" idx="10"/>
          </p:nvPr>
        </p:nvSpPr>
        <p:spPr/>
        <p:txBody>
          <a:bodyPr/>
          <a:lstStyle/>
          <a:p>
            <a:fld id="{58B47EDC-70F1-447E-86E6-DFEA746573BF}" type="slidenum">
              <a:rPr lang="en-US" altLang="en-US" smtClean="0"/>
              <a:pPr/>
              <a:t>19</a:t>
            </a:fld>
            <a:endParaRPr lang="en-US" altLang="en-US" dirty="0"/>
          </a:p>
        </p:txBody>
      </p:sp>
      <p:sp>
        <p:nvSpPr>
          <p:cNvPr id="5" name="TextBox 4">
            <a:extLst>
              <a:ext uri="{FF2B5EF4-FFF2-40B4-BE49-F238E27FC236}">
                <a16:creationId xmlns:a16="http://schemas.microsoft.com/office/drawing/2014/main" id="{F98A547D-77E5-400E-8211-2B85D355C221}"/>
              </a:ext>
            </a:extLst>
          </p:cNvPr>
          <p:cNvSpPr txBox="1"/>
          <p:nvPr/>
        </p:nvSpPr>
        <p:spPr>
          <a:xfrm>
            <a:off x="1564338" y="3946052"/>
            <a:ext cx="3805760" cy="2339102"/>
          </a:xfrm>
          <a:prstGeom prst="rect">
            <a:avLst/>
          </a:prstGeom>
          <a:noFill/>
        </p:spPr>
        <p:txBody>
          <a:bodyPr wrap="square" rtlCol="0">
            <a:spAutoFit/>
          </a:bodyPr>
          <a:lstStyle/>
          <a:p>
            <a:pPr marL="800100" lvl="1" indent="-342900">
              <a:buFont typeface="+mj-lt"/>
              <a:buAutoNum type="arabicPeriod"/>
            </a:pPr>
            <a:r>
              <a:rPr lang="en-US" sz="1600" dirty="0">
                <a:latin typeface="Arial" panose="020B0604020202020204" pitchFamily="34" charset="0"/>
                <a:cs typeface="Arial" panose="020B0604020202020204" pitchFamily="34" charset="0"/>
              </a:rPr>
              <a:t>Chemical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Commercial Facilities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Communications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Critical Manufacturing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Dams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Defense Industrial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Emergency Services Sector</a:t>
            </a:r>
          </a:p>
          <a:p>
            <a:pPr marL="800100" lvl="1" indent="-342900">
              <a:buFont typeface="+mj-lt"/>
              <a:buAutoNum type="arabicPeriod"/>
            </a:pPr>
            <a:r>
              <a:rPr lang="en-US" sz="1600" dirty="0">
                <a:latin typeface="Arial" panose="020B0604020202020204" pitchFamily="34" charset="0"/>
                <a:cs typeface="Arial" panose="020B0604020202020204" pitchFamily="34" charset="0"/>
              </a:rPr>
              <a:t>Energy Sector</a:t>
            </a:r>
          </a:p>
          <a:p>
            <a:endParaRPr lang="en-US"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DB1882A-35B5-4A70-84B1-05E15146DF31}"/>
              </a:ext>
            </a:extLst>
          </p:cNvPr>
          <p:cNvSpPr txBox="1"/>
          <p:nvPr/>
        </p:nvSpPr>
        <p:spPr>
          <a:xfrm>
            <a:off x="4950373" y="3921682"/>
            <a:ext cx="5486401" cy="2308324"/>
          </a:xfrm>
          <a:prstGeom prst="rect">
            <a:avLst/>
          </a:prstGeom>
          <a:noFill/>
        </p:spPr>
        <p:txBody>
          <a:bodyPr wrap="square" rtlCol="0">
            <a:spAutoFit/>
          </a:bodyPr>
          <a:lstStyle/>
          <a:p>
            <a:pPr marL="800100" lvl="1" indent="-342900">
              <a:buFont typeface="+mj-lt"/>
              <a:buAutoNum type="arabicPeriod" startAt="9"/>
            </a:pPr>
            <a:r>
              <a:rPr lang="en-US" sz="1600" dirty="0">
                <a:latin typeface="Arial" panose="020B0604020202020204" pitchFamily="34" charset="0"/>
                <a:cs typeface="Arial" panose="020B0604020202020204" pitchFamily="34" charset="0"/>
              </a:rPr>
              <a:t>Financial Services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Food and Agriculture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Government Facilities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Healthcare and Public Health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Information Technology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Nuclear Reactors, Materials and Waste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Transportation Systems Sector</a:t>
            </a:r>
          </a:p>
          <a:p>
            <a:pPr marL="800100" lvl="1" indent="-342900">
              <a:buFont typeface="+mj-lt"/>
              <a:buAutoNum type="arabicPeriod" startAt="9"/>
            </a:pPr>
            <a:r>
              <a:rPr lang="en-US" sz="1600" dirty="0">
                <a:latin typeface="Arial" panose="020B0604020202020204" pitchFamily="34" charset="0"/>
                <a:cs typeface="Arial" panose="020B0604020202020204" pitchFamily="34" charset="0"/>
              </a:rPr>
              <a:t>Water and Wastewater Systems Sector </a:t>
            </a:r>
          </a:p>
          <a:p>
            <a:endParaRPr lang="en-US" sz="16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A5B5E78-EADB-44A1-94AC-D067BF6296FA}"/>
              </a:ext>
            </a:extLst>
          </p:cNvPr>
          <p:cNvSpPr/>
          <p:nvPr/>
        </p:nvSpPr>
        <p:spPr>
          <a:xfrm>
            <a:off x="3938869" y="6358877"/>
            <a:ext cx="3805760" cy="400110"/>
          </a:xfrm>
          <a:prstGeom prst="rect">
            <a:avLst/>
          </a:prstGeom>
        </p:spPr>
        <p:txBody>
          <a:bodyPr wrap="square">
            <a:spAutoFit/>
          </a:bodyPr>
          <a:lstStyle/>
          <a:p>
            <a:pPr algn="ctr"/>
            <a:r>
              <a:rPr lang="en-US" sz="1000" dirty="0">
                <a:solidFill>
                  <a:prstClr val="black"/>
                </a:solidFill>
              </a:rPr>
              <a:t>Source: </a:t>
            </a:r>
            <a:r>
              <a:rPr lang="en-US" sz="1000" dirty="0">
                <a:solidFill>
                  <a:prstClr val="black"/>
                </a:solidFill>
                <a:hlinkClick r:id="rId2"/>
              </a:rPr>
              <a:t>https://www.cisa.gov/critical-infrastructure-sectors</a:t>
            </a:r>
            <a:endParaRPr lang="en-US" sz="1000" dirty="0">
              <a:solidFill>
                <a:prstClr val="black"/>
              </a:solidFill>
            </a:endParaRPr>
          </a:p>
          <a:p>
            <a:pPr algn="ctr"/>
            <a:r>
              <a:rPr lang="en-US" sz="1000" dirty="0">
                <a:solidFill>
                  <a:prstClr val="black"/>
                </a:solidFill>
              </a:rPr>
              <a:t> </a:t>
            </a:r>
            <a:endParaRPr lang="en-US" sz="1000" dirty="0"/>
          </a:p>
        </p:txBody>
      </p:sp>
    </p:spTree>
    <p:extLst>
      <p:ext uri="{BB962C8B-B14F-4D97-AF65-F5344CB8AC3E}">
        <p14:creationId xmlns:p14="http://schemas.microsoft.com/office/powerpoint/2010/main" val="211373231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Why is Cybersecurity Important?</a:t>
            </a:r>
          </a:p>
        </p:txBody>
      </p:sp>
      <p:sp>
        <p:nvSpPr>
          <p:cNvPr id="2" name="Content Placeholder 1"/>
          <p:cNvSpPr>
            <a:spLocks noGrp="1"/>
          </p:cNvSpPr>
          <p:nvPr>
            <p:ph idx="1"/>
          </p:nvPr>
        </p:nvSpPr>
        <p:spPr/>
        <p:txBody>
          <a:bodyPr>
            <a:noAutofit/>
          </a:bodyPr>
          <a:lstStyle/>
          <a:p>
            <a:pPr>
              <a:spcAft>
                <a:spcPts val="1200"/>
              </a:spcAft>
            </a:pPr>
            <a:r>
              <a:rPr lang="en-US" sz="1800" b="1" dirty="0">
                <a:solidFill>
                  <a:schemeClr val="accent1"/>
                </a:solidFill>
              </a:rPr>
              <a:t>2006: </a:t>
            </a:r>
            <a:r>
              <a:rPr lang="en-US" sz="1800" dirty="0"/>
              <a:t>26.5 million veterans’ personal information is compromised after the theft of a Veteran Affairs employee’s laptop. The employee thought it was safe to bring home VA records on an unsecure drive.</a:t>
            </a:r>
          </a:p>
          <a:p>
            <a:pPr>
              <a:spcAft>
                <a:spcPts val="1200"/>
              </a:spcAft>
            </a:pPr>
            <a:r>
              <a:rPr lang="en-US" sz="1800" b="1" dirty="0">
                <a:solidFill>
                  <a:schemeClr val="accent1"/>
                </a:solidFill>
              </a:rPr>
              <a:t>2009: </a:t>
            </a:r>
            <a:r>
              <a:rPr lang="en-US" sz="1800" dirty="0"/>
              <a:t>Coca-Cola executive clicks link in spoof email allowing attackers to steal confidential files on $2.4 billion business deal with Chinese juice company.</a:t>
            </a:r>
          </a:p>
          <a:p>
            <a:pPr>
              <a:spcAft>
                <a:spcPts val="1200"/>
              </a:spcAft>
            </a:pPr>
            <a:r>
              <a:rPr lang="en-US" sz="1800" b="1" dirty="0">
                <a:solidFill>
                  <a:schemeClr val="accent1"/>
                </a:solidFill>
              </a:rPr>
              <a:t>2011: </a:t>
            </a:r>
            <a:r>
              <a:rPr lang="en-US" sz="1800" dirty="0"/>
              <a:t>DHS plants USB drives and CDs outside of government and government contractor buildings.  The majority are picked up by employees and inserted directly into their organization’s computers.  </a:t>
            </a:r>
          </a:p>
          <a:p>
            <a:pPr>
              <a:spcAft>
                <a:spcPts val="1200"/>
              </a:spcAft>
            </a:pPr>
            <a:r>
              <a:rPr lang="en-US" sz="1800" b="1" dirty="0">
                <a:solidFill>
                  <a:schemeClr val="accent1"/>
                </a:solidFill>
              </a:rPr>
              <a:t>2021: </a:t>
            </a:r>
            <a:r>
              <a:rPr lang="en-US" sz="1800" dirty="0"/>
              <a:t>One of the United States Critical Infrastructures was compromised, the Colonial Pipeline breach. The pipeline was used to carry gasoline and jet fuel to the Southeastern U.S. Colonial Pipeline suffered from a ransomware attack that compromised computers and equipment that managed the pipeline.</a:t>
            </a:r>
          </a:p>
        </p:txBody>
      </p:sp>
      <p:sp>
        <p:nvSpPr>
          <p:cNvPr id="6" name="Slide Number Placeholder 5">
            <a:extLst>
              <a:ext uri="{FF2B5EF4-FFF2-40B4-BE49-F238E27FC236}">
                <a16:creationId xmlns:a16="http://schemas.microsoft.com/office/drawing/2014/main" id="{F1BB89A9-0873-4BC2-A69E-C0E062B36775}"/>
              </a:ext>
            </a:extLst>
          </p:cNvPr>
          <p:cNvSpPr>
            <a:spLocks noGrp="1"/>
          </p:cNvSpPr>
          <p:nvPr>
            <p:ph type="sldNum" sz="quarter" idx="10"/>
          </p:nvPr>
        </p:nvSpPr>
        <p:spPr/>
        <p:txBody>
          <a:bodyPr/>
          <a:lstStyle/>
          <a:p>
            <a:fld id="{58B47EDC-70F1-447E-86E6-DFEA746573BF}" type="slidenum">
              <a:rPr lang="en-US" altLang="en-US" smtClean="0"/>
              <a:pPr/>
              <a:t>20</a:t>
            </a:fld>
            <a:endParaRPr lang="en-US" altLang="en-US" dirty="0"/>
          </a:p>
        </p:txBody>
      </p:sp>
      <p:sp>
        <p:nvSpPr>
          <p:cNvPr id="4" name="TextBox 3"/>
          <p:cNvSpPr txBox="1"/>
          <p:nvPr/>
        </p:nvSpPr>
        <p:spPr>
          <a:xfrm>
            <a:off x="2767856" y="6016106"/>
            <a:ext cx="6656288" cy="553998"/>
          </a:xfrm>
          <a:prstGeom prst="rect">
            <a:avLst/>
          </a:prstGeom>
          <a:noFill/>
        </p:spPr>
        <p:txBody>
          <a:bodyPr wrap="square" rtlCol="0">
            <a:spAutoFit/>
          </a:bodyPr>
          <a:lstStyle/>
          <a:p>
            <a:pPr algn="ctr"/>
            <a:r>
              <a:rPr lang="en-US" sz="1000" dirty="0"/>
              <a:t>Sources:  CSO magazine, </a:t>
            </a:r>
            <a:r>
              <a:rPr lang="en-US" sz="1000" dirty="0">
                <a:hlinkClick r:id="rId3"/>
              </a:rPr>
              <a:t>www.csoonline.com</a:t>
            </a:r>
            <a:r>
              <a:rPr lang="en-US" sz="1000" dirty="0"/>
              <a:t>,  Bloomberg News, </a:t>
            </a:r>
            <a:r>
              <a:rPr lang="en-US" sz="1000" dirty="0">
                <a:hlinkClick r:id="rId4"/>
              </a:rPr>
              <a:t>www.bloomberg.com</a:t>
            </a:r>
            <a:r>
              <a:rPr lang="en-US" sz="1000" dirty="0"/>
              <a:t>, GCN Magazine, </a:t>
            </a:r>
            <a:r>
              <a:rPr lang="en-US" sz="1000" dirty="0">
                <a:hlinkClick r:id="rId5"/>
              </a:rPr>
              <a:t>www.gcn.com</a:t>
            </a:r>
            <a:r>
              <a:rPr lang="en-US" sz="1000" dirty="0"/>
              <a:t>, NY Times, </a:t>
            </a:r>
            <a:r>
              <a:rPr lang="en-US" sz="1000" dirty="0">
                <a:hlinkClick r:id="rId6"/>
              </a:rPr>
              <a:t>nytimes.com </a:t>
            </a:r>
            <a:endParaRPr lang="en-US" sz="1000" dirty="0"/>
          </a:p>
          <a:p>
            <a:pPr algn="ctr"/>
            <a:endParaRPr lang="en-US" sz="1000" dirty="0"/>
          </a:p>
        </p:txBody>
      </p:sp>
      <p:sp>
        <p:nvSpPr>
          <p:cNvPr id="5" name="Rectangle 4"/>
          <p:cNvSpPr/>
          <p:nvPr/>
        </p:nvSpPr>
        <p:spPr>
          <a:xfrm>
            <a:off x="898634" y="5296006"/>
            <a:ext cx="10394731" cy="584775"/>
          </a:xfrm>
          <a:prstGeom prst="rect">
            <a:avLst/>
          </a:prstGeom>
        </p:spPr>
        <p:txBody>
          <a:bodyPr wrap="square">
            <a:spAutoFit/>
          </a:bodyPr>
          <a:lstStyle/>
          <a:p>
            <a:pPr algn="ctr">
              <a:spcAft>
                <a:spcPts val="100"/>
              </a:spcAft>
            </a:pPr>
            <a:r>
              <a:rPr lang="en-US" sz="1600" i="1" dirty="0">
                <a:latin typeface="Arial" panose="020B0604020202020204" pitchFamily="34" charset="0"/>
                <a:cs typeface="Arial" panose="020B0604020202020204" pitchFamily="34" charset="0"/>
              </a:rPr>
              <a:t>People make mistakes, as noted in the 2011 incident.  Cyber education is the best way to combat such incidents. Cybersecurity is often about protecting organizations and individuals from themselves.</a:t>
            </a:r>
          </a:p>
        </p:txBody>
      </p:sp>
    </p:spTree>
    <p:extLst>
      <p:ext uri="{BB962C8B-B14F-4D97-AF65-F5344CB8AC3E}">
        <p14:creationId xmlns:p14="http://schemas.microsoft.com/office/powerpoint/2010/main" val="1535766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Why is Cybersecurity Important?</a:t>
            </a:r>
          </a:p>
        </p:txBody>
      </p:sp>
      <p:sp>
        <p:nvSpPr>
          <p:cNvPr id="2" name="Content Placeholder 1"/>
          <p:cNvSpPr>
            <a:spLocks noGrp="1"/>
          </p:cNvSpPr>
          <p:nvPr>
            <p:ph idx="1"/>
          </p:nvPr>
        </p:nvSpPr>
        <p:spPr/>
        <p:txBody>
          <a:bodyPr wrap="square">
            <a:normAutofit/>
          </a:bodyPr>
          <a:lstStyle/>
          <a:p>
            <a:pPr marL="0" indent="0">
              <a:spcAft>
                <a:spcPts val="600"/>
              </a:spcAft>
              <a:buNone/>
              <a:defRPr/>
            </a:pPr>
            <a:r>
              <a:rPr lang="en-US" b="1" dirty="0">
                <a:solidFill>
                  <a:schemeClr val="accent1"/>
                </a:solidFill>
              </a:rPr>
              <a:t>Case: </a:t>
            </a:r>
            <a:r>
              <a:rPr lang="en-US" dirty="0"/>
              <a:t>Backoff Malware Attacks targeted cash registers and payment systems sold by seven different companies</a:t>
            </a:r>
          </a:p>
          <a:p>
            <a:pPr marL="690563" lvl="1" indent="-233363">
              <a:buFont typeface="Arial" pitchFamily="34" charset="0"/>
              <a:buChar char="•"/>
            </a:pPr>
            <a:r>
              <a:rPr lang="en-US" dirty="0"/>
              <a:t>Impacted major retail companies like Target, Dairy Queen, and UPS</a:t>
            </a:r>
          </a:p>
          <a:p>
            <a:pPr marL="690563" indent="-233363"/>
            <a:endParaRPr lang="en-US" baseline="46000" dirty="0"/>
          </a:p>
        </p:txBody>
      </p:sp>
      <p:sp>
        <p:nvSpPr>
          <p:cNvPr id="4" name="Slide Number Placeholder 3">
            <a:extLst>
              <a:ext uri="{FF2B5EF4-FFF2-40B4-BE49-F238E27FC236}">
                <a16:creationId xmlns:a16="http://schemas.microsoft.com/office/drawing/2014/main" id="{1D01CFFF-5610-4187-9808-C278E2753194}"/>
              </a:ext>
            </a:extLst>
          </p:cNvPr>
          <p:cNvSpPr>
            <a:spLocks noGrp="1"/>
          </p:cNvSpPr>
          <p:nvPr>
            <p:ph type="sldNum" sz="quarter" idx="10"/>
          </p:nvPr>
        </p:nvSpPr>
        <p:spPr/>
        <p:txBody>
          <a:bodyPr/>
          <a:lstStyle/>
          <a:p>
            <a:fld id="{58B47EDC-70F1-447E-86E6-DFEA746573BF}" type="slidenum">
              <a:rPr lang="en-US" altLang="en-US" smtClean="0"/>
              <a:pPr/>
              <a:t>21</a:t>
            </a:fld>
            <a:endParaRPr lang="en-US" altLang="en-US" dirty="0"/>
          </a:p>
        </p:txBody>
      </p:sp>
      <p:sp>
        <p:nvSpPr>
          <p:cNvPr id="5" name="Rectangle 4"/>
          <p:cNvSpPr/>
          <p:nvPr/>
        </p:nvSpPr>
        <p:spPr>
          <a:xfrm>
            <a:off x="1721427" y="6035041"/>
            <a:ext cx="8749146" cy="246221"/>
          </a:xfrm>
          <a:prstGeom prst="rect">
            <a:avLst/>
          </a:prstGeom>
        </p:spPr>
        <p:txBody>
          <a:bodyPr wrap="square">
            <a:spAutoFit/>
          </a:bodyPr>
          <a:lstStyle/>
          <a:p>
            <a:pPr marL="0" lvl="1" algn="ctr">
              <a:spcBef>
                <a:spcPct val="20000"/>
              </a:spcBef>
            </a:pPr>
            <a:r>
              <a:rPr lang="en-US" sz="1000" dirty="0">
                <a:latin typeface="Gill Sans MT" pitchFamily="34" charset="0"/>
              </a:rPr>
              <a:t>Source: New York Times, </a:t>
            </a:r>
            <a:r>
              <a:rPr lang="en-US" sz="1000" dirty="0">
                <a:latin typeface="Gill Sans MT" pitchFamily="34" charset="0"/>
                <a:hlinkClick r:id="rId3"/>
              </a:rPr>
              <a:t>http://bits.blogs.nytimes.com/2014/08/22/secret-service-warns-1000-businesses-on-hack-that-affected-target/</a:t>
            </a:r>
            <a:r>
              <a:rPr lang="en-US" sz="1000" dirty="0">
                <a:latin typeface="Gill Sans MT" pitchFamily="34" charset="0"/>
              </a:rPr>
              <a:t> </a:t>
            </a:r>
          </a:p>
        </p:txBody>
      </p:sp>
      <p:sp>
        <p:nvSpPr>
          <p:cNvPr id="7" name="Right Arrow 6"/>
          <p:cNvSpPr/>
          <p:nvPr/>
        </p:nvSpPr>
        <p:spPr>
          <a:xfrm>
            <a:off x="2635014" y="3474713"/>
            <a:ext cx="8414443" cy="1681014"/>
          </a:xfrm>
          <a:prstGeom prst="rightArrow">
            <a:avLst>
              <a:gd name="adj1" fmla="val 50000"/>
              <a:gd name="adj2" fmla="val 43383"/>
            </a:avLst>
          </a:prstGeom>
          <a:solidFill>
            <a:srgbClr val="BEBEBE"/>
          </a:solidFill>
          <a:ln>
            <a:solidFill>
              <a:srgbClr val="FDFDF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p:cNvGrpSpPr/>
          <p:nvPr/>
        </p:nvGrpSpPr>
        <p:grpSpPr>
          <a:xfrm>
            <a:off x="1281406" y="3111062"/>
            <a:ext cx="8764703" cy="2009571"/>
            <a:chOff x="727421" y="3297096"/>
            <a:chExt cx="7216269" cy="1654546"/>
          </a:xfrm>
        </p:grpSpPr>
        <p:sp>
          <p:nvSpPr>
            <p:cNvPr id="8" name="Rounded Rectangle 7"/>
            <p:cNvSpPr/>
            <p:nvPr/>
          </p:nvSpPr>
          <p:spPr>
            <a:xfrm>
              <a:off x="727421" y="3297096"/>
              <a:ext cx="2286000" cy="1645920"/>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lvl="0" algn="ctr"/>
              <a:r>
                <a:rPr lang="en-US" sz="1400" dirty="0">
                  <a:latin typeface="Arial" panose="020B0604020202020204" pitchFamily="34" charset="0"/>
                  <a:cs typeface="Arial" panose="020B0604020202020204" pitchFamily="34" charset="0"/>
                </a:rPr>
                <a:t>Hackers use brute force password cracking to remotely access and infect the networks of major cash register system providers</a:t>
              </a:r>
              <a:endParaRPr lang="en-US" sz="1400" b="1" dirty="0">
                <a:latin typeface="Arial" panose="020B0604020202020204" pitchFamily="34" charset="0"/>
                <a:cs typeface="Arial" panose="020B0604020202020204" pitchFamily="34" charset="0"/>
              </a:endParaRPr>
            </a:p>
          </p:txBody>
        </p:sp>
        <p:sp>
          <p:nvSpPr>
            <p:cNvPr id="10" name="Rounded Rectangle 9"/>
            <p:cNvSpPr/>
            <p:nvPr/>
          </p:nvSpPr>
          <p:spPr>
            <a:xfrm>
              <a:off x="3192555" y="3305722"/>
              <a:ext cx="2286000" cy="1645920"/>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lvl="0" algn="ctr"/>
              <a:r>
                <a:rPr lang="en-US" sz="1400" dirty="0">
                  <a:latin typeface="Arial" panose="020B0604020202020204" pitchFamily="34" charset="0"/>
                  <a:cs typeface="Arial" panose="020B0604020202020204" pitchFamily="34" charset="0"/>
                </a:rPr>
                <a:t>Hackers are able to download credit card information when shoppers swipe their cards at cash registers purchased from the infected companies</a:t>
              </a:r>
            </a:p>
          </p:txBody>
        </p:sp>
        <p:sp>
          <p:nvSpPr>
            <p:cNvPr id="11" name="Rounded Rectangle 10"/>
            <p:cNvSpPr/>
            <p:nvPr/>
          </p:nvSpPr>
          <p:spPr>
            <a:xfrm>
              <a:off x="5657690" y="3305722"/>
              <a:ext cx="2286000" cy="1645920"/>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lvl="0" algn="ctr"/>
              <a:r>
                <a:rPr lang="en-US" sz="1400" dirty="0">
                  <a:latin typeface="Arial" panose="020B0604020202020204" pitchFamily="34" charset="0"/>
                  <a:cs typeface="Arial" panose="020B0604020202020204" pitchFamily="34" charset="0"/>
                </a:rPr>
                <a:t>Department of Homeland Security announces that the payment systems of more the 1,000 American stores may be infected</a:t>
              </a:r>
            </a:p>
          </p:txBody>
        </p:sp>
      </p:grpSp>
      <p:sp>
        <p:nvSpPr>
          <p:cNvPr id="14" name="Rectangle 13"/>
          <p:cNvSpPr/>
          <p:nvPr/>
        </p:nvSpPr>
        <p:spPr>
          <a:xfrm>
            <a:off x="2056130" y="5394961"/>
            <a:ext cx="8079740" cy="659155"/>
          </a:xfrm>
          <a:prstGeom prst="rect">
            <a:avLst/>
          </a:prstGeom>
        </p:spPr>
        <p:txBody>
          <a:bodyPr wrap="square">
            <a:spAutoFit/>
          </a:bodyPr>
          <a:lstStyle/>
          <a:p>
            <a:pPr algn="ctr">
              <a:spcAft>
                <a:spcPts val="100"/>
              </a:spcAft>
            </a:pPr>
            <a:r>
              <a:rPr lang="en-US" i="1" dirty="0"/>
              <a:t>We’re all connected.</a:t>
            </a:r>
          </a:p>
          <a:p>
            <a:pPr algn="ctr">
              <a:spcAft>
                <a:spcPts val="100"/>
              </a:spcAft>
            </a:pPr>
            <a:r>
              <a:rPr lang="en-US" i="1" dirty="0"/>
              <a:t>A weakness in one system can be exploited by attackers to target another system. </a:t>
            </a:r>
          </a:p>
        </p:txBody>
      </p:sp>
    </p:spTree>
    <p:extLst>
      <p:ext uri="{BB962C8B-B14F-4D97-AF65-F5344CB8AC3E}">
        <p14:creationId xmlns:p14="http://schemas.microsoft.com/office/powerpoint/2010/main" val="1219893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3600" dirty="0"/>
              <a:t>Who’s Hiring?</a:t>
            </a:r>
          </a:p>
        </p:txBody>
      </p:sp>
      <p:sp>
        <p:nvSpPr>
          <p:cNvPr id="5" name="Content Placeholder 4"/>
          <p:cNvSpPr>
            <a:spLocks noGrp="1"/>
          </p:cNvSpPr>
          <p:nvPr>
            <p:ph idx="1"/>
          </p:nvPr>
        </p:nvSpPr>
        <p:spPr>
          <a:xfrm>
            <a:off x="731520" y="4351283"/>
            <a:ext cx="10728960" cy="1792133"/>
          </a:xfrm>
        </p:spPr>
        <p:txBody>
          <a:bodyPr>
            <a:normAutofit/>
          </a:bodyPr>
          <a:lstStyle/>
          <a:p>
            <a:pPr marL="338138" lvl="2" indent="-338138">
              <a:lnSpc>
                <a:spcPct val="120000"/>
              </a:lnSpc>
              <a:spcBef>
                <a:spcPts val="0"/>
              </a:spcBef>
              <a:spcAft>
                <a:spcPts val="400"/>
              </a:spcAft>
            </a:pPr>
            <a:r>
              <a:rPr lang="en-US" sz="1900" dirty="0"/>
              <a:t>Nearly every organization needs cybersecurity professionals</a:t>
            </a:r>
          </a:p>
          <a:p>
            <a:pPr marL="338138" lvl="2" indent="-338138">
              <a:spcBef>
                <a:spcPts val="0"/>
              </a:spcBef>
              <a:spcAft>
                <a:spcPts val="400"/>
              </a:spcAft>
            </a:pPr>
            <a:r>
              <a:rPr lang="en-US" sz="1900" dirty="0"/>
              <a:t>Cybersecurity jobs are better paid than computer jobs in general.  In 2018 the average computer job paid ~$90,000.  People in cybersecurity-specific jobs earned an average salary of over $100,000.</a:t>
            </a:r>
          </a:p>
        </p:txBody>
      </p:sp>
      <p:sp>
        <p:nvSpPr>
          <p:cNvPr id="2" name="Slide Number Placeholder 1">
            <a:extLst>
              <a:ext uri="{FF2B5EF4-FFF2-40B4-BE49-F238E27FC236}">
                <a16:creationId xmlns:a16="http://schemas.microsoft.com/office/drawing/2014/main" id="{F9E5BC4D-1575-4DA7-BBCC-E7E46ABF4583}"/>
              </a:ext>
            </a:extLst>
          </p:cNvPr>
          <p:cNvSpPr>
            <a:spLocks noGrp="1"/>
          </p:cNvSpPr>
          <p:nvPr>
            <p:ph type="sldNum" sz="quarter" idx="10"/>
          </p:nvPr>
        </p:nvSpPr>
        <p:spPr/>
        <p:txBody>
          <a:bodyPr/>
          <a:lstStyle/>
          <a:p>
            <a:fld id="{58B47EDC-70F1-447E-86E6-DFEA746573BF}" type="slidenum">
              <a:rPr lang="en-US" altLang="en-US" smtClean="0"/>
              <a:pPr/>
              <a:t>22</a:t>
            </a:fld>
            <a:endParaRPr lang="en-US" altLang="en-US" dirty="0"/>
          </a:p>
        </p:txBody>
      </p:sp>
      <p:grpSp>
        <p:nvGrpSpPr>
          <p:cNvPr id="3" name="Group 2"/>
          <p:cNvGrpSpPr/>
          <p:nvPr/>
        </p:nvGrpSpPr>
        <p:grpSpPr>
          <a:xfrm>
            <a:off x="2013671" y="1491220"/>
            <a:ext cx="8164658" cy="2484102"/>
            <a:chOff x="455588" y="1706880"/>
            <a:chExt cx="8164658" cy="2484102"/>
          </a:xfrm>
        </p:grpSpPr>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1824" y="1751685"/>
              <a:ext cx="1280160" cy="128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12" descr="https://d19telvc6oexg6.cloudfront.net/uploads/stores/2/picture/default_c5c57921777b5a4872843856.jpg"/>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340087" y="1706880"/>
              <a:ext cx="1280159" cy="1280160"/>
            </a:xfrm>
            <a:prstGeom prst="rect">
              <a:avLst/>
            </a:prstGeom>
            <a:noFill/>
          </p:spPr>
        </p:pic>
        <p:pic>
          <p:nvPicPr>
            <p:cNvPr id="11" name="Picture 8" descr="http://scm-l3.technorati.com/13/01/29/74795/amazon.jpg?t=20130129232715"/>
            <p:cNvPicPr>
              <a:picLocks noChangeAspect="1" noChangeArrowheads="1"/>
            </p:cNvPicPr>
            <p:nvPr/>
          </p:nvPicPr>
          <p:blipFill rotWithShape="1">
            <a:blip r:embed="rId5" cstate="print">
              <a:clrChange>
                <a:clrFrom>
                  <a:srgbClr val="FFFFFF"/>
                </a:clrFrom>
                <a:clrTo>
                  <a:srgbClr val="FFFFFF">
                    <a:alpha val="0"/>
                  </a:srgbClr>
                </a:clrTo>
              </a:clrChange>
            </a:blip>
            <a:srcRect t="35458" b="34494"/>
            <a:stretch/>
          </p:blipFill>
          <p:spPr bwMode="auto">
            <a:xfrm>
              <a:off x="4245541" y="3352607"/>
              <a:ext cx="2651760" cy="682965"/>
            </a:xfrm>
            <a:prstGeom prst="rect">
              <a:avLst/>
            </a:prstGeom>
            <a:noFill/>
          </p:spPr>
        </p:pic>
        <p:pic>
          <p:nvPicPr>
            <p:cNvPr id="13" name="Picture 4" descr="http://rack.2.mshcdn.com/media/ZgkyMDEyLzEyLzAzL2U0L3NlZWhvd3lvdXJnLjlyMS5qcGcKcAl0aHVtYgk5NTB4NTM0IwplCWpwZw/8fec6ce4/e71/see-how-your-google-results-measure-up-with-google-grader-video--6b8bbb4b41.jpg"/>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941208" y="2910822"/>
              <a:ext cx="2277439" cy="1280160"/>
            </a:xfrm>
            <a:prstGeom prst="rect">
              <a:avLst/>
            </a:prstGeom>
            <a:noFill/>
          </p:spPr>
        </p:pic>
        <p:pic>
          <p:nvPicPr>
            <p:cNvPr id="14" name="Picture 6" descr="happy-5th-birthday-youtube--501ecffedf"/>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455588" y="1798320"/>
              <a:ext cx="1953041" cy="1097280"/>
            </a:xfrm>
            <a:prstGeom prst="rect">
              <a:avLst/>
            </a:prstGeom>
            <a:noFill/>
          </p:spPr>
        </p:pic>
        <p:pic>
          <p:nvPicPr>
            <p:cNvPr id="15" name="Picture 8" descr="http://www.savingadvice.com/images/blog/best-buy.png"/>
            <p:cNvPicPr>
              <a:picLocks noChangeAspect="1" noChangeArrowheads="1"/>
            </p:cNvPicPr>
            <p:nvPr/>
          </p:nvPicPr>
          <p:blipFill>
            <a:blip r:embed="rId8" cstate="print"/>
            <a:srcRect/>
            <a:stretch>
              <a:fillRect/>
            </a:stretch>
          </p:blipFill>
          <p:spPr bwMode="auto">
            <a:xfrm>
              <a:off x="4218647" y="1887930"/>
              <a:ext cx="1463040" cy="1007670"/>
            </a:xfrm>
            <a:prstGeom prst="rect">
              <a:avLst/>
            </a:prstGeom>
            <a:noFill/>
          </p:spPr>
        </p:pic>
        <p:pic>
          <p:nvPicPr>
            <p:cNvPr id="16" name="Picture 16" descr="https://si0.twimg.com/profile_images/1706110925/fbi_logo_twitter.jpg"/>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617421" y="2866017"/>
              <a:ext cx="1148521" cy="1188720"/>
            </a:xfrm>
            <a:prstGeom prst="rect">
              <a:avLst/>
            </a:prstGeom>
            <a:noFill/>
          </p:spPr>
        </p:pic>
        <p:pic>
          <p:nvPicPr>
            <p:cNvPr id="147458" name="Picture 2" descr="https://lh5.ggpht.com/qTjFRAkS4P-5Tfrr_ovb9CbpDcM2DQopnSMqZ_lzsWVLnK-2x649xbULVXma6ulLZido=w705"/>
            <p:cNvPicPr>
              <a:picLocks noChangeAspect="1" noChangeArrowheads="1"/>
            </p:cNvPicPr>
            <p:nvPr/>
          </p:nvPicPr>
          <p:blipFill rotWithShape="1">
            <a:blip r:embed="rId10" cstate="print"/>
            <a:srcRect l="23203" t="33974" r="23124" b="32415"/>
            <a:stretch/>
          </p:blipFill>
          <p:spPr bwMode="auto">
            <a:xfrm>
              <a:off x="7046260" y="3359586"/>
              <a:ext cx="1452282" cy="443753"/>
            </a:xfrm>
            <a:prstGeom prst="rect">
              <a:avLst/>
            </a:prstGeom>
            <a:noFill/>
          </p:spPr>
        </p:pic>
        <p:pic>
          <p:nvPicPr>
            <p:cNvPr id="1027" name="Picture 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759790" y="1798320"/>
              <a:ext cx="1188720" cy="1188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8" name="Rectangle 17"/>
          <p:cNvSpPr/>
          <p:nvPr/>
        </p:nvSpPr>
        <p:spPr>
          <a:xfrm>
            <a:off x="2209800" y="6035041"/>
            <a:ext cx="7772400" cy="246221"/>
          </a:xfrm>
          <a:prstGeom prst="rect">
            <a:avLst/>
          </a:prstGeom>
        </p:spPr>
        <p:txBody>
          <a:bodyPr wrap="square">
            <a:spAutoFit/>
          </a:bodyPr>
          <a:lstStyle/>
          <a:p>
            <a:pPr marL="0" lvl="5" algn="ctr"/>
            <a:r>
              <a:rPr lang="en-US" sz="1000" dirty="0">
                <a:latin typeface="Gill Sans MT" panose="020B0502020104020203" pitchFamily="34" charset="0"/>
              </a:rPr>
              <a:t>Source: Computer World, </a:t>
            </a:r>
            <a:r>
              <a:rPr lang="en-US" sz="1000" dirty="0">
                <a:latin typeface="Gill Sans MT" panose="020B0502020104020203" pitchFamily="34" charset="0"/>
                <a:hlinkClick r:id="rId12"/>
              </a:rPr>
              <a:t>http://www.computerworld.com/s/article/9237394/Demand_for_IT_security_experts_outstrips_supply?pageNumber=2</a:t>
            </a:r>
            <a:endParaRPr lang="en-US" sz="1000" dirty="0">
              <a:latin typeface="Gill Sans MT" panose="020B0502020104020203" pitchFamily="34" charset="0"/>
            </a:endParaRPr>
          </a:p>
        </p:txBody>
      </p:sp>
    </p:spTree>
    <p:extLst>
      <p:ext uri="{BB962C8B-B14F-4D97-AF65-F5344CB8AC3E}">
        <p14:creationId xmlns:p14="http://schemas.microsoft.com/office/powerpoint/2010/main" val="748520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sz="3600" dirty="0"/>
              <a:t>Cyber Career Opportunities</a:t>
            </a:r>
          </a:p>
        </p:txBody>
      </p:sp>
      <p:sp>
        <p:nvSpPr>
          <p:cNvPr id="2" name="Content Placeholder 1"/>
          <p:cNvSpPr>
            <a:spLocks noGrp="1"/>
          </p:cNvSpPr>
          <p:nvPr>
            <p:ph idx="1"/>
          </p:nvPr>
        </p:nvSpPr>
        <p:spPr>
          <a:xfrm>
            <a:off x="731520" y="1299416"/>
            <a:ext cx="10728960" cy="4633793"/>
          </a:xfrm>
        </p:spPr>
        <p:txBody>
          <a:bodyPr>
            <a:noAutofit/>
          </a:bodyPr>
          <a:lstStyle/>
          <a:p>
            <a:pPr marL="0" indent="0">
              <a:spcBef>
                <a:spcPts val="800"/>
              </a:spcBef>
              <a:buNone/>
            </a:pPr>
            <a:r>
              <a:rPr lang="en-US" sz="1200" b="1" dirty="0">
                <a:solidFill>
                  <a:schemeClr val="accent1"/>
                </a:solidFill>
              </a:rPr>
              <a:t>1. Security Software Developer: </a:t>
            </a:r>
            <a:r>
              <a:rPr lang="en-US" sz="1200" dirty="0"/>
              <a:t>software is often not built with security in mind. The Security Software Developer designs and integrates security into every aspect of the software development lifecycle. </a:t>
            </a:r>
          </a:p>
          <a:p>
            <a:pPr marL="0" indent="0">
              <a:spcBef>
                <a:spcPts val="800"/>
              </a:spcBef>
              <a:buNone/>
            </a:pPr>
            <a:r>
              <a:rPr lang="en-US" sz="1200" b="1" dirty="0">
                <a:solidFill>
                  <a:schemeClr val="accent1"/>
                </a:solidFill>
              </a:rPr>
              <a:t>2. Security Architect Career Path:  </a:t>
            </a:r>
            <a:r>
              <a:rPr lang="en-US" sz="1200" dirty="0"/>
              <a:t>Create and build secure networks and computers for complex security frameworks.  This is an ideal career path for the problem solver who enjoys solving puzzles. </a:t>
            </a:r>
          </a:p>
          <a:p>
            <a:pPr marL="0" indent="0">
              <a:spcBef>
                <a:spcPts val="800"/>
              </a:spcBef>
              <a:buNone/>
            </a:pPr>
            <a:r>
              <a:rPr lang="en-US" sz="1200" b="1" dirty="0">
                <a:solidFill>
                  <a:schemeClr val="accent1"/>
                </a:solidFill>
              </a:rPr>
              <a:t>3. Security Consultant: </a:t>
            </a:r>
            <a:r>
              <a:rPr lang="en-US" sz="1200" dirty="0">
                <a:solidFill>
                  <a:schemeClr val="accent1"/>
                </a:solidFill>
              </a:rPr>
              <a:t> </a:t>
            </a:r>
            <a:r>
              <a:rPr lang="en-US" sz="1200" dirty="0"/>
              <a:t>Experts that evaluate cybersecurity threats, risks and problems to guide organizations in providing protection solutions. This is a very tech-savvy position. </a:t>
            </a:r>
          </a:p>
          <a:p>
            <a:pPr marL="0" indent="0">
              <a:spcBef>
                <a:spcPts val="800"/>
              </a:spcBef>
              <a:buNone/>
            </a:pPr>
            <a:r>
              <a:rPr lang="en-US" sz="1200" b="1" dirty="0">
                <a:solidFill>
                  <a:schemeClr val="accent1"/>
                </a:solidFill>
              </a:rPr>
              <a:t>4. Information Security Analyst:  </a:t>
            </a:r>
            <a:r>
              <a:rPr lang="en-US" sz="1200" dirty="0"/>
              <a:t>Professionals that stand at the front line of defense for networks. They create and maintain firewalls and monitor network activities. </a:t>
            </a:r>
          </a:p>
          <a:p>
            <a:pPr marL="0" indent="0">
              <a:spcBef>
                <a:spcPts val="800"/>
              </a:spcBef>
              <a:buNone/>
            </a:pPr>
            <a:r>
              <a:rPr lang="en-US" sz="1200" b="1" dirty="0">
                <a:solidFill>
                  <a:schemeClr val="accent1"/>
                </a:solidFill>
              </a:rPr>
              <a:t>5. Ethical Hacker: </a:t>
            </a:r>
            <a:r>
              <a:rPr lang="en-US" sz="1200" dirty="0"/>
              <a:t>Are licensed professionals that try to hack a network with permission to find vulnerabilities. The try to find what is vulnerable and could be exploited by a malicious hacker. </a:t>
            </a:r>
          </a:p>
          <a:p>
            <a:pPr marL="0" indent="0">
              <a:spcBef>
                <a:spcPts val="800"/>
              </a:spcBef>
              <a:buNone/>
            </a:pPr>
            <a:r>
              <a:rPr lang="en-US" sz="1200" b="1" dirty="0">
                <a:solidFill>
                  <a:schemeClr val="accent1"/>
                </a:solidFill>
              </a:rPr>
              <a:t>6. Computer Forensics Analyst:</a:t>
            </a:r>
            <a:r>
              <a:rPr lang="en-US" sz="1200" b="1" dirty="0"/>
              <a:t> </a:t>
            </a:r>
            <a:r>
              <a:rPr lang="en-US" sz="1200" dirty="0"/>
              <a:t>Professionals that focus on cyber crimes and partake in data recovery, intercepting data linked to crimes, and a detailed look into data trails. </a:t>
            </a:r>
          </a:p>
          <a:p>
            <a:pPr marL="0" indent="0">
              <a:spcBef>
                <a:spcPts val="800"/>
              </a:spcBef>
              <a:buNone/>
            </a:pPr>
            <a:r>
              <a:rPr lang="en-US" sz="1200" b="1" dirty="0">
                <a:solidFill>
                  <a:schemeClr val="accent1"/>
                </a:solidFill>
              </a:rPr>
              <a:t>7. Chief Information Security Officer:  </a:t>
            </a:r>
            <a:r>
              <a:rPr lang="en-US" sz="1200" dirty="0"/>
              <a:t>Mid Executive position that oversees an organization’s IT department. They are responsible for planning, managing, and directing all computer, network and data security needs. </a:t>
            </a:r>
          </a:p>
          <a:p>
            <a:pPr marL="0" indent="0">
              <a:spcBef>
                <a:spcPts val="800"/>
              </a:spcBef>
              <a:buNone/>
            </a:pPr>
            <a:r>
              <a:rPr lang="en-US" sz="1200" b="1" dirty="0">
                <a:solidFill>
                  <a:schemeClr val="accent1"/>
                </a:solidFill>
              </a:rPr>
              <a:t>8. Penetration Tester: </a:t>
            </a:r>
            <a:r>
              <a:rPr lang="en-US" sz="1200" dirty="0"/>
              <a:t>Highly skilled professionals that are typically ethical hackers and try to infiltrate a corporation's security measures (physical and electronic) with permission from the corporation. A penetration tester will use social engineering tactics to test the security of a company's employee practices. </a:t>
            </a:r>
          </a:p>
          <a:p>
            <a:pPr marL="0" indent="0">
              <a:spcBef>
                <a:spcPts val="800"/>
              </a:spcBef>
              <a:buNone/>
            </a:pPr>
            <a:r>
              <a:rPr lang="en-US" sz="1200" b="1" dirty="0">
                <a:solidFill>
                  <a:schemeClr val="accent1"/>
                </a:solidFill>
              </a:rPr>
              <a:t>9. IT Security Consultant:  </a:t>
            </a:r>
            <a:r>
              <a:rPr lang="en-US" sz="1200" dirty="0"/>
              <a:t>Are typically outsourced contractors that advise organizations on cybersecurity objectives. They typically service smaller businesses on tighter budgets. </a:t>
            </a:r>
          </a:p>
          <a:p>
            <a:pPr marL="0" indent="0">
              <a:spcBef>
                <a:spcPts val="800"/>
              </a:spcBef>
              <a:buNone/>
            </a:pPr>
            <a:r>
              <a:rPr lang="en-US" sz="1200" b="1" dirty="0">
                <a:solidFill>
                  <a:schemeClr val="accent1"/>
                </a:solidFill>
              </a:rPr>
              <a:t>10. Security Systems Administrator: </a:t>
            </a:r>
            <a:r>
              <a:rPr lang="en-US" sz="1200" dirty="0"/>
              <a:t>The person in charge of daily operations for security controls ( installing, administering, maintaining, and troubleshooting) to include backing up data, network monitoring, user account management, and general security needs. </a:t>
            </a:r>
          </a:p>
        </p:txBody>
      </p:sp>
      <p:sp>
        <p:nvSpPr>
          <p:cNvPr id="3" name="Slide Number Placeholder 2">
            <a:extLst>
              <a:ext uri="{FF2B5EF4-FFF2-40B4-BE49-F238E27FC236}">
                <a16:creationId xmlns:a16="http://schemas.microsoft.com/office/drawing/2014/main" id="{B975DF28-B1ED-47F9-88CE-FD3713294BCB}"/>
              </a:ext>
            </a:extLst>
          </p:cNvPr>
          <p:cNvSpPr>
            <a:spLocks noGrp="1"/>
          </p:cNvSpPr>
          <p:nvPr>
            <p:ph type="sldNum" sz="quarter" idx="10"/>
          </p:nvPr>
        </p:nvSpPr>
        <p:spPr/>
        <p:txBody>
          <a:bodyPr/>
          <a:lstStyle/>
          <a:p>
            <a:fld id="{58B47EDC-70F1-447E-86E6-DFEA746573BF}" type="slidenum">
              <a:rPr lang="en-US" altLang="en-US" smtClean="0"/>
              <a:pPr/>
              <a:t>23</a:t>
            </a:fld>
            <a:endParaRPr lang="en-US" altLang="en-US" dirty="0"/>
          </a:p>
        </p:txBody>
      </p:sp>
      <p:sp>
        <p:nvSpPr>
          <p:cNvPr id="6" name="TextBox 5">
            <a:extLst>
              <a:ext uri="{FF2B5EF4-FFF2-40B4-BE49-F238E27FC236}">
                <a16:creationId xmlns:a16="http://schemas.microsoft.com/office/drawing/2014/main" id="{99FD5BB6-FCFF-48BC-84A0-0B2B17EAC963}"/>
              </a:ext>
            </a:extLst>
          </p:cNvPr>
          <p:cNvSpPr txBox="1"/>
          <p:nvPr/>
        </p:nvSpPr>
        <p:spPr>
          <a:xfrm>
            <a:off x="3410413" y="6140448"/>
            <a:ext cx="5585183" cy="507831"/>
          </a:xfrm>
          <a:prstGeom prst="rect">
            <a:avLst/>
          </a:prstGeom>
          <a:noFill/>
        </p:spPr>
        <p:txBody>
          <a:bodyPr wrap="none" rtlCol="0">
            <a:spAutoFit/>
          </a:bodyPr>
          <a:lstStyle/>
          <a:p>
            <a:pPr defTabSz="342900"/>
            <a:r>
              <a:rPr lang="en-US" sz="900" b="1" dirty="0">
                <a:solidFill>
                  <a:prstClr val="black"/>
                </a:solidFill>
                <a:latin typeface="Calibri"/>
              </a:rPr>
              <a:t>Source: </a:t>
            </a:r>
            <a:r>
              <a:rPr lang="en-US" sz="900" b="1" dirty="0">
                <a:solidFill>
                  <a:prstClr val="black"/>
                </a:solidFill>
                <a:latin typeface="Calibri"/>
                <a:hlinkClick r:id="rId3"/>
              </a:rPr>
              <a:t>https://medium.com/@coderacademy/10-careers-in-cyber-security-you-should-consider-2613061a8cb2</a:t>
            </a:r>
            <a:endParaRPr lang="en-US" sz="900" b="1" dirty="0">
              <a:solidFill>
                <a:prstClr val="black"/>
              </a:solidFill>
              <a:latin typeface="Calibri"/>
            </a:endParaRPr>
          </a:p>
          <a:p>
            <a:pPr defTabSz="342900"/>
            <a:endParaRPr lang="en-US" sz="900" dirty="0">
              <a:solidFill>
                <a:prstClr val="black"/>
              </a:solidFill>
              <a:latin typeface="Calibri"/>
            </a:endParaRPr>
          </a:p>
          <a:p>
            <a:pPr defTabSz="342900"/>
            <a:endParaRPr lang="en-US" sz="900" dirty="0">
              <a:solidFill>
                <a:prstClr val="black"/>
              </a:solidFill>
              <a:latin typeface="Calibri"/>
            </a:endParaRPr>
          </a:p>
        </p:txBody>
      </p:sp>
    </p:spTree>
    <p:extLst>
      <p:ext uri="{BB962C8B-B14F-4D97-AF65-F5344CB8AC3E}">
        <p14:creationId xmlns:p14="http://schemas.microsoft.com/office/powerpoint/2010/main" val="478630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3600" dirty="0"/>
              <a:t>Important Resources</a:t>
            </a:r>
          </a:p>
        </p:txBody>
      </p:sp>
      <p:sp>
        <p:nvSpPr>
          <p:cNvPr id="2" name="Content Placeholder 1"/>
          <p:cNvSpPr>
            <a:spLocks noGrp="1"/>
          </p:cNvSpPr>
          <p:nvPr>
            <p:ph idx="1"/>
          </p:nvPr>
        </p:nvSpPr>
        <p:spPr/>
        <p:txBody>
          <a:bodyPr>
            <a:normAutofit/>
          </a:bodyPr>
          <a:lstStyle/>
          <a:p>
            <a:pPr marL="0" indent="0">
              <a:buNone/>
            </a:pPr>
            <a:r>
              <a:rPr lang="en-US" sz="2000" dirty="0"/>
              <a:t>These training materials are only intended to provide basic training for the competition. Coaches and Mentors can be great resources, but the below links may help as well:</a:t>
            </a:r>
          </a:p>
          <a:p>
            <a:pPr marL="0" indent="0">
              <a:buNone/>
            </a:pPr>
            <a:endParaRPr lang="en-US" sz="2000" dirty="0"/>
          </a:p>
          <a:p>
            <a:pPr marL="457200"/>
            <a:r>
              <a:rPr lang="en-US" sz="2000" dirty="0"/>
              <a:t>The CyberPatriot Rules Book</a:t>
            </a:r>
          </a:p>
          <a:p>
            <a:pPr marL="971550" lvl="1"/>
            <a:r>
              <a:rPr lang="en-US" sz="1400" dirty="0"/>
              <a:t>Click here: </a:t>
            </a:r>
            <a:r>
              <a:rPr lang="en-US" sz="1400" dirty="0">
                <a:hlinkClick r:id="rId2"/>
              </a:rPr>
              <a:t>http://www.uscyberpatriot.org/competition/rules-book</a:t>
            </a:r>
            <a:endParaRPr lang="en-US" sz="1400" dirty="0"/>
          </a:p>
          <a:p>
            <a:pPr marL="457200"/>
            <a:r>
              <a:rPr lang="en-US" sz="2000" dirty="0"/>
              <a:t>Additional Windows resources</a:t>
            </a:r>
          </a:p>
          <a:p>
            <a:pPr marL="971550" lvl="1"/>
            <a:r>
              <a:rPr lang="en-US" sz="1400" dirty="0"/>
              <a:t>Click here: </a:t>
            </a:r>
            <a:r>
              <a:rPr lang="en-US" sz="1400" dirty="0">
                <a:hlinkClick r:id="rId3"/>
              </a:rPr>
              <a:t>http://www.uscyberpatriot.org/competition/training-materials/windows</a:t>
            </a:r>
            <a:r>
              <a:rPr lang="en-US" sz="1400" dirty="0"/>
              <a:t> </a:t>
            </a:r>
          </a:p>
          <a:p>
            <a:pPr marL="457200"/>
            <a:r>
              <a:rPr lang="en-US" sz="2000" dirty="0"/>
              <a:t>Additional Linux resources</a:t>
            </a:r>
          </a:p>
          <a:p>
            <a:pPr marL="971550" lvl="1"/>
            <a:r>
              <a:rPr lang="en-US" sz="1400" dirty="0"/>
              <a:t>Click here: </a:t>
            </a:r>
            <a:r>
              <a:rPr lang="en-US" sz="1400" dirty="0">
                <a:hlinkClick r:id="rId4"/>
              </a:rPr>
              <a:t>http://www.uscyberpatriot.org/competition/training-materials/linux</a:t>
            </a:r>
            <a:r>
              <a:rPr lang="en-US" sz="1400" dirty="0"/>
              <a:t> </a:t>
            </a:r>
          </a:p>
          <a:p>
            <a:pPr marL="457200"/>
            <a:r>
              <a:rPr lang="en-US" sz="2000" dirty="0"/>
              <a:t>Ubuntu practice images and Windows scoring engine provided by Texas A&amp;M Corpus Christi</a:t>
            </a:r>
          </a:p>
          <a:p>
            <a:pPr marL="971550" lvl="1"/>
            <a:r>
              <a:rPr lang="en-US" sz="1400" dirty="0"/>
              <a:t>Click here: </a:t>
            </a:r>
            <a:r>
              <a:rPr lang="en-US" sz="1400" dirty="0">
                <a:hlinkClick r:id="rId5"/>
              </a:rPr>
              <a:t>http://www.uscyberpatriot.org/competition/training-materials/practice-images</a:t>
            </a:r>
            <a:endParaRPr lang="en-US" sz="1400" dirty="0"/>
          </a:p>
          <a:p>
            <a:pPr marL="457200"/>
            <a:r>
              <a:rPr lang="en-US" sz="2000" dirty="0"/>
              <a:t>Cisco Networking Academy available to (CyberPatriot program participants)</a:t>
            </a:r>
          </a:p>
          <a:p>
            <a:pPr marL="971550" lvl="1"/>
            <a:r>
              <a:rPr lang="en-US" sz="1400" dirty="0"/>
              <a:t>Click here: </a:t>
            </a:r>
            <a:r>
              <a:rPr lang="en-US" sz="1400" dirty="0">
                <a:hlinkClick r:id="rId6"/>
              </a:rPr>
              <a:t>https://www.uscyberpatriot.org/Pages/Announcements/Cisco_Netacad_Courses.aspx</a:t>
            </a:r>
            <a:endParaRPr lang="en-US" sz="1400" dirty="0"/>
          </a:p>
        </p:txBody>
      </p:sp>
      <p:sp>
        <p:nvSpPr>
          <p:cNvPr id="5" name="Slide Number Placeholder 4">
            <a:extLst>
              <a:ext uri="{FF2B5EF4-FFF2-40B4-BE49-F238E27FC236}">
                <a16:creationId xmlns:a16="http://schemas.microsoft.com/office/drawing/2014/main" id="{3D1CD51C-53D3-443B-BFE3-343B51CC43FE}"/>
              </a:ext>
            </a:extLst>
          </p:cNvPr>
          <p:cNvSpPr>
            <a:spLocks noGrp="1"/>
          </p:cNvSpPr>
          <p:nvPr>
            <p:ph type="sldNum" sz="quarter" idx="10"/>
          </p:nvPr>
        </p:nvSpPr>
        <p:spPr/>
        <p:txBody>
          <a:bodyPr/>
          <a:lstStyle/>
          <a:p>
            <a:fld id="{58B47EDC-70F1-447E-86E6-DFEA746573BF}" type="slidenum">
              <a:rPr lang="en-US" altLang="en-US" smtClean="0"/>
              <a:pPr/>
              <a:t>24</a:t>
            </a:fld>
            <a:endParaRPr lang="en-US" altLang="en-US" dirty="0"/>
          </a:p>
        </p:txBody>
      </p:sp>
    </p:spTree>
    <p:extLst>
      <p:ext uri="{BB962C8B-B14F-4D97-AF65-F5344CB8AC3E}">
        <p14:creationId xmlns:p14="http://schemas.microsoft.com/office/powerpoint/2010/main" val="2803946433"/>
      </p:ext>
    </p:extLst>
  </p:cSld>
  <p:clrMapOvr>
    <a:masterClrMapping/>
  </p:clrMapOvr>
  <p:transition>
    <p:fade/>
  </p:transition>
</p:sld>
</file>

<file path=ppt/theme/theme1.xml><?xml version="1.0" encoding="utf-8"?>
<a:theme xmlns:a="http://schemas.openxmlformats.org/drawingml/2006/main" name="1_Office Theme">
  <a:themeElements>
    <a:clrScheme name="Bernies Brief">
      <a:dk1>
        <a:sysClr val="windowText" lastClr="000000"/>
      </a:dk1>
      <a:lt1>
        <a:sysClr val="window" lastClr="FFFFFF"/>
      </a:lt1>
      <a:dk2>
        <a:srgbClr val="013F7F"/>
      </a:dk2>
      <a:lt2>
        <a:srgbClr val="001374"/>
      </a:lt2>
      <a:accent1>
        <a:srgbClr val="329998"/>
      </a:accent1>
      <a:accent2>
        <a:srgbClr val="494949"/>
      </a:accent2>
      <a:accent3>
        <a:srgbClr val="027EFF"/>
      </a:accent3>
      <a:accent4>
        <a:srgbClr val="241CC4"/>
      </a:accent4>
      <a:accent5>
        <a:srgbClr val="027EFF"/>
      </a:accent5>
      <a:accent6>
        <a:srgbClr val="81CFFF"/>
      </a:accent6>
      <a:hlink>
        <a:srgbClr val="005EC0"/>
      </a:hlink>
      <a:folHlink>
        <a:srgbClr val="005E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9E1B2FC1C446459DAAF3616E1B57E8" ma:contentTypeVersion="1" ma:contentTypeDescription="Create a new document." ma:contentTypeScope="" ma:versionID="0a11aa35e960c28540b6de1282e24e24">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D90CA740-975F-424B-AF44-5732464432A6}"/>
</file>

<file path=customXml/itemProps2.xml><?xml version="1.0" encoding="utf-8"?>
<ds:datastoreItem xmlns:ds="http://schemas.openxmlformats.org/officeDocument/2006/customXml" ds:itemID="{6DC34330-E17A-462B-9E7C-57706384C19B}"/>
</file>

<file path=customXml/itemProps3.xml><?xml version="1.0" encoding="utf-8"?>
<ds:datastoreItem xmlns:ds="http://schemas.openxmlformats.org/officeDocument/2006/customXml" ds:itemID="{BCB013D4-2409-45C0-9079-9FDB68356334}"/>
</file>

<file path=docProps/app.xml><?xml version="1.0" encoding="utf-8"?>
<Properties xmlns="http://schemas.openxmlformats.org/officeDocument/2006/extended-properties" xmlns:vt="http://schemas.openxmlformats.org/officeDocument/2006/docPropsVTypes">
  <Template/>
  <TotalTime>861</TotalTime>
  <Words>2158</Words>
  <Application>Microsoft Office PowerPoint</Application>
  <PresentationFormat>Widescreen</PresentationFormat>
  <Paragraphs>278</Paragraphs>
  <Slides>24</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Gill Sans MT</vt:lpstr>
      <vt:lpstr>1_Office Theme</vt:lpstr>
      <vt:lpstr>UNIT 1  Introduction to CyberPatriot and Cybersecurity</vt:lpstr>
      <vt:lpstr>Learning Objectives</vt:lpstr>
      <vt:lpstr>UNIT 1 - SECTION 1  The National Youth Cyber Defense Competition</vt:lpstr>
      <vt:lpstr>What is CyberPatriot?</vt:lpstr>
      <vt:lpstr>What is CyberPatriot?</vt:lpstr>
      <vt:lpstr>The National Youth Cyber Defense Competition</vt:lpstr>
      <vt:lpstr>Team Structure</vt:lpstr>
      <vt:lpstr>Scoring</vt:lpstr>
      <vt:lpstr>Train and Prepare</vt:lpstr>
      <vt:lpstr>Competing</vt:lpstr>
      <vt:lpstr>Scoring – How to Score</vt:lpstr>
      <vt:lpstr>CyberPatriot Competition System (CCS)</vt:lpstr>
      <vt:lpstr>Competition Deployment</vt:lpstr>
      <vt:lpstr>CyberPatriot Example Timeline</vt:lpstr>
      <vt:lpstr>The National Finals Competition</vt:lpstr>
      <vt:lpstr>UNIT 1 - SECTION 2  Introduction to Cybersecurity</vt:lpstr>
      <vt:lpstr>What is Cybersecurity?</vt:lpstr>
      <vt:lpstr>Why is Cybersecurity Important?</vt:lpstr>
      <vt:lpstr>Why is Cybersecurity Important?</vt:lpstr>
      <vt:lpstr>Why is Cybersecurity Important?</vt:lpstr>
      <vt:lpstr>Why is Cybersecurity Important?</vt:lpstr>
      <vt:lpstr>Who’s Hiring?</vt:lpstr>
      <vt:lpstr>Cyber Career Opportunities</vt:lpstr>
      <vt:lpstr>Important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Introduction to CyberPatriot and Cybersecurity</dc:title>
  <dc:creator>Rebecca Dalton</dc:creator>
  <cp:lastModifiedBy>Rebecca Dalton</cp:lastModifiedBy>
  <cp:revision>36</cp:revision>
  <dcterms:created xsi:type="dcterms:W3CDTF">2018-07-18T17:31:36Z</dcterms:created>
  <dcterms:modified xsi:type="dcterms:W3CDTF">2021-08-16T20:35:32Z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0x0101006C9E1B2FC1C446459DAAF3616E1B57E8</vt:lpwstr>
  </property>
</Properties>
</file>