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9"/>
  </p:notesMasterIdLst>
  <p:sldIdLst>
    <p:sldId id="256" r:id="rId5"/>
    <p:sldId id="271" r:id="rId6"/>
    <p:sldId id="272" r:id="rId7"/>
    <p:sldId id="258" r:id="rId8"/>
    <p:sldId id="259" r:id="rId9"/>
    <p:sldId id="260" r:id="rId10"/>
    <p:sldId id="261" r:id="rId11"/>
    <p:sldId id="264" r:id="rId12"/>
    <p:sldId id="266" r:id="rId13"/>
    <p:sldId id="273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lene Daage" initials="HD" lastIdx="1" clrIdx="0">
    <p:extLst>
      <p:ext uri="{19B8F6BF-5375-455C-9EA6-DF929625EA0E}">
        <p15:presenceInfo xmlns:p15="http://schemas.microsoft.com/office/powerpoint/2012/main" userId="S::H.Daage@uscyberpatriot.org::f23d2677-280b-4935-95a2-c2b42d73dd6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82" y="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EAEEF-8A4B-4A99-8FE8-512EE42C9E4E}" type="datetimeFigureOut">
              <a:rPr lang="en-US" smtClean="0"/>
              <a:t>8/16/2021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36A9D6-53EE-4B84-AB27-5FF965931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24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6EC733-6EF2-4363-BCD9-F0918EE4ABB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239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2"/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800C48-C600-44EC-B555-67E1CBDCD77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Slide Image Placeholder 6"/>
          <p:cNvSpPr>
            <a:spLocks noGrp="1" noRot="1" noChangeAspect="1"/>
          </p:cNvSpPr>
          <p:nvPr>
            <p:ph type="sldImg"/>
          </p:nvPr>
        </p:nvSpPr>
        <p:spPr>
          <a:xfrm>
            <a:off x="1465263" y="995363"/>
            <a:ext cx="4003675" cy="2252662"/>
          </a:xfrm>
        </p:spPr>
      </p:sp>
    </p:spTree>
    <p:extLst>
      <p:ext uri="{BB962C8B-B14F-4D97-AF65-F5344CB8AC3E}">
        <p14:creationId xmlns:p14="http://schemas.microsoft.com/office/powerpoint/2010/main" val="2964031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2">
              <a:spcAft>
                <a:spcPts val="600"/>
              </a:spcAft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EADE2E-E079-40C1-B840-D040524D5AC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Slide Image Placeholder 6"/>
          <p:cNvSpPr>
            <a:spLocks noGrp="1" noRot="1" noChangeAspect="1"/>
          </p:cNvSpPr>
          <p:nvPr>
            <p:ph type="sldImg"/>
          </p:nvPr>
        </p:nvSpPr>
        <p:spPr>
          <a:xfrm>
            <a:off x="1465263" y="995363"/>
            <a:ext cx="4003675" cy="2252662"/>
          </a:xfrm>
        </p:spPr>
      </p:sp>
    </p:spTree>
    <p:extLst>
      <p:ext uri="{BB962C8B-B14F-4D97-AF65-F5344CB8AC3E}">
        <p14:creationId xmlns:p14="http://schemas.microsoft.com/office/powerpoint/2010/main" val="2921007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2"/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800C48-C600-44EC-B555-67E1CBDCD77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3" name="Slide Image Placeholder 12"/>
          <p:cNvSpPr>
            <a:spLocks noGrp="1" noRot="1" noChangeAspect="1"/>
          </p:cNvSpPr>
          <p:nvPr>
            <p:ph type="sldImg"/>
          </p:nvPr>
        </p:nvSpPr>
        <p:spPr>
          <a:xfrm>
            <a:off x="1465263" y="995363"/>
            <a:ext cx="4003675" cy="2252662"/>
          </a:xfrm>
        </p:spPr>
      </p:sp>
    </p:spTree>
    <p:extLst>
      <p:ext uri="{BB962C8B-B14F-4D97-AF65-F5344CB8AC3E}">
        <p14:creationId xmlns:p14="http://schemas.microsoft.com/office/powerpoint/2010/main" val="3162764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2"/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EADE2E-E079-40C1-B840-D040524D5AC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Slide Image Placeholder 6"/>
          <p:cNvSpPr>
            <a:spLocks noGrp="1" noRot="1" noChangeAspect="1"/>
          </p:cNvSpPr>
          <p:nvPr>
            <p:ph type="sldImg"/>
          </p:nvPr>
        </p:nvSpPr>
        <p:spPr>
          <a:xfrm>
            <a:off x="1465263" y="995363"/>
            <a:ext cx="4003675" cy="2252662"/>
          </a:xfrm>
        </p:spPr>
      </p:sp>
    </p:spTree>
    <p:extLst>
      <p:ext uri="{BB962C8B-B14F-4D97-AF65-F5344CB8AC3E}">
        <p14:creationId xmlns:p14="http://schemas.microsoft.com/office/powerpoint/2010/main" val="793748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2"/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800C48-C600-44EC-B555-67E1CBDCD77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" name="Slide Image Placeholder 9"/>
          <p:cNvSpPr>
            <a:spLocks noGrp="1" noRot="1" noChangeAspect="1"/>
          </p:cNvSpPr>
          <p:nvPr>
            <p:ph type="sldImg"/>
          </p:nvPr>
        </p:nvSpPr>
        <p:spPr>
          <a:xfrm>
            <a:off x="1465263" y="995363"/>
            <a:ext cx="4003675" cy="2252662"/>
          </a:xfrm>
        </p:spPr>
      </p:sp>
    </p:spTree>
    <p:extLst>
      <p:ext uri="{BB962C8B-B14F-4D97-AF65-F5344CB8AC3E}">
        <p14:creationId xmlns:p14="http://schemas.microsoft.com/office/powerpoint/2010/main" val="1403698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2"/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800C48-C600-44EC-B555-67E1CBDCD77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Slide Image Placeholder 9"/>
          <p:cNvSpPr>
            <a:spLocks noGrp="1" noRot="1" noChangeAspect="1"/>
          </p:cNvSpPr>
          <p:nvPr>
            <p:ph type="sldImg"/>
          </p:nvPr>
        </p:nvSpPr>
        <p:spPr>
          <a:xfrm>
            <a:off x="1465263" y="995363"/>
            <a:ext cx="4003675" cy="2252662"/>
          </a:xfrm>
        </p:spPr>
      </p:sp>
    </p:spTree>
    <p:extLst>
      <p:ext uri="{BB962C8B-B14F-4D97-AF65-F5344CB8AC3E}">
        <p14:creationId xmlns:p14="http://schemas.microsoft.com/office/powerpoint/2010/main" val="24420999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>
              <a:buNone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0BBAE-3111-478A-80AA-B165F5E37F7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Slide Image Placeholder 6"/>
          <p:cNvSpPr>
            <a:spLocks noGrp="1" noRot="1" noChangeAspect="1"/>
          </p:cNvSpPr>
          <p:nvPr>
            <p:ph type="sldImg"/>
          </p:nvPr>
        </p:nvSpPr>
        <p:spPr>
          <a:xfrm>
            <a:off x="1465263" y="995363"/>
            <a:ext cx="4003675" cy="2252662"/>
          </a:xfrm>
        </p:spPr>
      </p:sp>
    </p:spTree>
    <p:extLst>
      <p:ext uri="{BB962C8B-B14F-4D97-AF65-F5344CB8AC3E}">
        <p14:creationId xmlns:p14="http://schemas.microsoft.com/office/powerpoint/2010/main" val="1124910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2"/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30BBAE-3111-478A-80AA-B165F5E37F7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Slide Image Placeholder 6"/>
          <p:cNvSpPr>
            <a:spLocks noGrp="1" noRot="1" noChangeAspect="1"/>
          </p:cNvSpPr>
          <p:nvPr>
            <p:ph type="sldImg"/>
          </p:nvPr>
        </p:nvSpPr>
        <p:spPr>
          <a:xfrm>
            <a:off x="1465263" y="995363"/>
            <a:ext cx="4003675" cy="2252662"/>
          </a:xfrm>
        </p:spPr>
      </p:sp>
    </p:spTree>
    <p:extLst>
      <p:ext uri="{BB962C8B-B14F-4D97-AF65-F5344CB8AC3E}">
        <p14:creationId xmlns:p14="http://schemas.microsoft.com/office/powerpoint/2010/main" val="212464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2">
              <a:spcAft>
                <a:spcPts val="3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800C48-C600-44EC-B555-67E1CBDCD77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0" name="Slide Image Placeholder 9"/>
          <p:cNvSpPr>
            <a:spLocks noGrp="1" noRot="1" noChangeAspect="1"/>
          </p:cNvSpPr>
          <p:nvPr>
            <p:ph type="sldImg"/>
          </p:nvPr>
        </p:nvSpPr>
        <p:spPr>
          <a:xfrm>
            <a:off x="1465263" y="995363"/>
            <a:ext cx="4003675" cy="2252662"/>
          </a:xfrm>
        </p:spPr>
      </p:sp>
    </p:spTree>
    <p:extLst>
      <p:ext uri="{BB962C8B-B14F-4D97-AF65-F5344CB8AC3E}">
        <p14:creationId xmlns:p14="http://schemas.microsoft.com/office/powerpoint/2010/main" val="3401090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34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1447800"/>
          </a:xfrm>
          <a:prstGeom prst="rect">
            <a:avLst/>
          </a:prstGeom>
          <a:solidFill>
            <a:schemeClr val="bg1"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447800"/>
            <a:ext cx="12192000" cy="0"/>
          </a:xfrm>
          <a:prstGeom prst="line">
            <a:avLst/>
          </a:prstGeom>
          <a:ln w="38100">
            <a:solidFill>
              <a:srgbClr val="FFFFFF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4"/>
          <p:cNvSpPr>
            <a:spLocks noChangeArrowheads="1"/>
          </p:cNvSpPr>
          <p:nvPr userDrawn="1"/>
        </p:nvSpPr>
        <p:spPr bwMode="auto">
          <a:xfrm>
            <a:off x="1625600" y="2438401"/>
            <a:ext cx="8940800" cy="1842655"/>
          </a:xfrm>
          <a:prstGeom prst="roundRect">
            <a:avLst>
              <a:gd name="adj" fmla="val 6755"/>
            </a:avLst>
          </a:prstGeom>
          <a:solidFill>
            <a:schemeClr val="bg1"/>
          </a:solidFill>
          <a:ln w="69850">
            <a:solidFill>
              <a:srgbClr val="FFFFFF">
                <a:alpha val="47842"/>
              </a:srgbClr>
            </a:solidFill>
            <a:round/>
            <a:headEnd/>
            <a:tailEnd/>
          </a:ln>
        </p:spPr>
        <p:txBody>
          <a:bodyPr lIns="82058" tIns="41029" rIns="82058" bIns="41029"/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600" y="2699442"/>
            <a:ext cx="8940800" cy="1336023"/>
          </a:xfrm>
        </p:spPr>
        <p:txBody>
          <a:bodyPr/>
          <a:lstStyle>
            <a:lvl1pPr>
              <a:defRPr sz="2800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A41BEC-C835-4E65-9DA3-5F5111269FD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750568" y="379413"/>
            <a:ext cx="998118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CYBERPATRIOT </a:t>
            </a:r>
            <a:endParaRPr kumimoji="0" lang="en-GB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C48A7D5-82CB-43B2-95D9-14467E7474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456" y="125754"/>
            <a:ext cx="1167452" cy="116745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DACC5D3-A556-4B8B-88B6-4F65C65D3A1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258229" y="6426244"/>
            <a:ext cx="424232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 program of the Air Force Association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B8D2E7B-341E-4544-A386-E5674CD023E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20157" y="6411312"/>
            <a:ext cx="291069" cy="29274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6161688-E76A-4C0F-9077-ACF59B7307A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8734" y="6403000"/>
            <a:ext cx="284882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www.uscyberpatriot.org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83463C-5662-4784-9307-D1C4DD9DC72A}"/>
              </a:ext>
            </a:extLst>
          </p:cNvPr>
          <p:cNvSpPr txBox="1"/>
          <p:nvPr userDrawn="1"/>
        </p:nvSpPr>
        <p:spPr>
          <a:xfrm>
            <a:off x="6153912" y="417499"/>
            <a:ext cx="59618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THE AIR FORCE ASSOCIATION’S</a:t>
            </a:r>
            <a:b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</a:b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NATIONAL YOUTH CYBER EDUCATION PROGRAM</a:t>
            </a:r>
            <a:endParaRPr kumimoji="0" lang="en-GB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B7B0E75-F19A-453C-891F-146DBF67F9F1}"/>
              </a:ext>
            </a:extLst>
          </p:cNvPr>
          <p:cNvCxnSpPr/>
          <p:nvPr userDrawn="1"/>
        </p:nvCxnSpPr>
        <p:spPr>
          <a:xfrm>
            <a:off x="6035040" y="356616"/>
            <a:ext cx="0" cy="7955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606607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 rotWithShape="0">
          <a:gsLst>
            <a:gs pos="0">
              <a:srgbClr val="B2B2B2"/>
            </a:gs>
            <a:gs pos="62000">
              <a:srgbClr val="A1A1A1"/>
            </a:gs>
            <a:gs pos="100000">
              <a:srgbClr val="808080"/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1447800"/>
          </a:xfrm>
          <a:prstGeom prst="rect">
            <a:avLst/>
          </a:prstGeom>
          <a:solidFill>
            <a:schemeClr val="bg1"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447800"/>
            <a:ext cx="12192000" cy="0"/>
          </a:xfrm>
          <a:prstGeom prst="line">
            <a:avLst/>
          </a:prstGeom>
          <a:ln w="38100">
            <a:solidFill>
              <a:srgbClr val="FFFFFF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4"/>
          <p:cNvSpPr>
            <a:spLocks noChangeArrowheads="1"/>
          </p:cNvSpPr>
          <p:nvPr userDrawn="1"/>
        </p:nvSpPr>
        <p:spPr bwMode="auto">
          <a:xfrm>
            <a:off x="1625600" y="2438401"/>
            <a:ext cx="8940800" cy="1843043"/>
          </a:xfrm>
          <a:prstGeom prst="roundRect">
            <a:avLst>
              <a:gd name="adj" fmla="val 6755"/>
            </a:avLst>
          </a:prstGeom>
          <a:solidFill>
            <a:schemeClr val="bg1"/>
          </a:solidFill>
          <a:ln w="69850">
            <a:solidFill>
              <a:srgbClr val="FFFFFF">
                <a:alpha val="47842"/>
              </a:srgbClr>
            </a:solidFill>
            <a:round/>
            <a:headEnd/>
            <a:tailEnd/>
          </a:ln>
        </p:spPr>
        <p:txBody>
          <a:bodyPr lIns="82058" tIns="41029" rIns="82058" bIns="41029"/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600" y="2800351"/>
            <a:ext cx="8940800" cy="1177407"/>
          </a:xfrm>
        </p:spPr>
        <p:txBody>
          <a:bodyPr/>
          <a:lstStyle>
            <a:lvl1pPr>
              <a:defRPr sz="2800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7432BA-E55C-45DE-83C6-6BD0DC3C74C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750568" y="379413"/>
            <a:ext cx="418471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CYBERPATRIOT </a:t>
            </a:r>
            <a:endParaRPr kumimoji="0" lang="en-GB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ED6C842-2651-4550-A657-0C1447C2FF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456" y="125754"/>
            <a:ext cx="1167452" cy="116745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E1FC6C7-C75E-478E-BB87-A4E3E23E23EC}"/>
              </a:ext>
            </a:extLst>
          </p:cNvPr>
          <p:cNvSpPr txBox="1"/>
          <p:nvPr userDrawn="1"/>
        </p:nvSpPr>
        <p:spPr>
          <a:xfrm>
            <a:off x="6153912" y="417499"/>
            <a:ext cx="59618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THE AIR FORCE ASSOCIATION’S</a:t>
            </a:r>
            <a:b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</a:b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NATIONAL YOUTH CYBER EDUCATION PROGRAM</a:t>
            </a:r>
            <a:endParaRPr kumimoji="0" lang="en-GB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B664079-6B36-4FCA-AE15-C67C3A35BC02}"/>
              </a:ext>
            </a:extLst>
          </p:cNvPr>
          <p:cNvCxnSpPr/>
          <p:nvPr userDrawn="1"/>
        </p:nvCxnSpPr>
        <p:spPr>
          <a:xfrm>
            <a:off x="6035040" y="356616"/>
            <a:ext cx="0" cy="79552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06A855E-39A2-4580-9A45-F5743C91FC6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258229" y="6426244"/>
            <a:ext cx="424232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 program of the Air Force Association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4F79723-7165-444F-9F97-09FF15D948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20157" y="6411312"/>
            <a:ext cx="291069" cy="29274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74BB759-AECE-4D02-B680-5AC9F3120FD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8734" y="6403000"/>
            <a:ext cx="284882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www.uscyberpatriot.org</a:t>
            </a:r>
          </a:p>
        </p:txBody>
      </p:sp>
    </p:spTree>
    <p:extLst>
      <p:ext uri="{BB962C8B-B14F-4D97-AF65-F5344CB8AC3E}">
        <p14:creationId xmlns:p14="http://schemas.microsoft.com/office/powerpoint/2010/main" val="23546914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"/>
            <a:ext cx="12192000" cy="1096963"/>
          </a:xfrm>
          <a:prstGeom prst="rect">
            <a:avLst/>
          </a:prstGeom>
          <a:solidFill>
            <a:srgbClr val="0034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468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1077913"/>
            <a:ext cx="12192000" cy="0"/>
          </a:xfrm>
          <a:prstGeom prst="line">
            <a:avLst/>
          </a:prstGeom>
          <a:ln w="57150">
            <a:solidFill>
              <a:schemeClr val="bg1">
                <a:alpha val="4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31653"/>
            <a:ext cx="10850879" cy="578802"/>
          </a:xfrm>
        </p:spPr>
        <p:txBody>
          <a:bodyPr/>
          <a:lstStyle>
            <a:lvl1pPr algn="l">
              <a:defRPr sz="340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09623"/>
            <a:ext cx="10728960" cy="4633793"/>
          </a:xfrm>
        </p:spPr>
        <p:txBody>
          <a:bodyPr/>
          <a:lstStyle>
            <a:lvl1pPr marL="228600" indent="-228600"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1B3EA1-6E56-4B66-BA7E-9C06A06B681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2259" y="6437376"/>
            <a:ext cx="417402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Air Force Association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C63497FE-3024-4970-91A9-E89B6A2D8A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65428" y="6338948"/>
            <a:ext cx="678004" cy="365125"/>
          </a:xfrm>
        </p:spPr>
        <p:txBody>
          <a:bodyPr/>
          <a:lstStyle>
            <a:lvl1pPr algn="ctr">
              <a:defRPr sz="1000" b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B47EDC-70F1-447E-86E6-DFEA746573BF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761843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01B1A7A8-CDE3-42F1-8A6C-4B964FBB0E40}" type="slidenum">
              <a:rPr lang="en-US" altLang="en-US" smtClean="0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5313461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6B420F23-6CD2-4079-BB30-9FE494229382}" type="slidenum">
              <a:rPr lang="en-US" altLang="en-US" smtClean="0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6761453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7A5634FB-DAB3-4A29-AD68-134257F14A1C}" type="slidenum">
              <a:rPr lang="en-US" altLang="en-US" smtClean="0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33542873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FB9782E5-ACA4-4D15-B3D8-500A238BD417}" type="slidenum">
              <a:rPr lang="en-US" altLang="en-US" smtClean="0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280500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C0103335-84F7-4DDE-BAD8-5EAA68F75C1D}" type="slidenum">
              <a:rPr lang="en-US" altLang="en-US" smtClean="0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6526524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B51F2012-6616-4294-972B-0802332FAE39}" type="slidenum">
              <a:rPr lang="en-US" altLang="en-US" smtClean="0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9838734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6973CCD2-0B84-4A13-B00D-8C6716469711}" type="slidenum">
              <a:rPr lang="en-US" altLang="en-US" smtClean="0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7208945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DCF0641C-6700-49EB-9620-8D4A99C44818}" type="slidenum">
              <a:rPr lang="en-US" altLang="en-US" smtClean="0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19431954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2CF3DE33-ACD2-4C31-A559-A7AAF040C8B6}" type="slidenum">
              <a:rPr lang="en-US" altLang="en-US" smtClean="0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43799901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B5C8ED9A-1A6B-4D08-BEDE-3B2114E4B72F}" type="slidenum">
              <a:rPr lang="en-US" smtClean="0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713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385597BB-8BDB-4775-B666-9E4B0F3A5805}" type="slidenum">
              <a:rPr lang="en-US" altLang="en-US" smtClean="0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15792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opbullying.gov/cyberbullyin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://www.stopbullying.gov/cyberbullying/" TargetMode="Externa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play.google.com/store/apps/details?id=com.king.candycrushsaga" TargetMode="Externa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B5AB5B-7341-49AB-A5D3-FE9033622E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2</a:t>
            </a:r>
            <a:br>
              <a:rPr lang="en-US" dirty="0"/>
            </a:br>
            <a:br>
              <a:rPr lang="en-US" sz="1100" dirty="0"/>
            </a:br>
            <a:r>
              <a:rPr lang="en-US" sz="2400" b="0" dirty="0">
                <a:solidFill>
                  <a:schemeClr val="tx1"/>
                </a:solidFill>
              </a:rPr>
              <a:t>Introduction to Online Safety</a:t>
            </a:r>
            <a:endParaRPr lang="en-US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56965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Understand the definition and context of cyberbullying</a:t>
            </a:r>
          </a:p>
          <a:p>
            <a:pPr lvl="1"/>
            <a:r>
              <a:rPr lang="en-US" dirty="0"/>
              <a:t>Dealing with cyberbullying</a:t>
            </a:r>
          </a:p>
          <a:p>
            <a:pPr lvl="1"/>
            <a:r>
              <a:rPr lang="en-US" dirty="0"/>
              <a:t>Reporting cyberbullying</a:t>
            </a:r>
          </a:p>
          <a:p>
            <a:endParaRPr lang="en-US" sz="300" dirty="0"/>
          </a:p>
          <a:p>
            <a:r>
              <a:rPr lang="en-US" dirty="0"/>
              <a:t>Understand what makes certain types of information private or more sensitive than others</a:t>
            </a:r>
          </a:p>
          <a:p>
            <a:endParaRPr lang="en-US" sz="200" dirty="0"/>
          </a:p>
          <a:p>
            <a:r>
              <a:rPr lang="en-US" dirty="0"/>
              <a:t>Gain an understanding of how to protect themselves online and appropriately use the Internet</a:t>
            </a:r>
          </a:p>
          <a:p>
            <a:pPr lvl="1"/>
            <a:r>
              <a:rPr lang="en-US" dirty="0"/>
              <a:t>Safe browsing</a:t>
            </a:r>
          </a:p>
          <a:p>
            <a:pPr lvl="1"/>
            <a:r>
              <a:rPr lang="en-US" dirty="0"/>
              <a:t>Social media tips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9C9347-53AA-4FBA-A240-B2ACC15FD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B47EDC-70F1-447E-86E6-DFEA746573BF}" type="slidenum">
              <a:rPr lang="en-US" altLang="en-US" smtClean="0"/>
              <a:pPr/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0169688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2 – SECTION 1</a:t>
            </a:r>
            <a:br>
              <a:rPr lang="en-US" dirty="0"/>
            </a:br>
            <a:r>
              <a:rPr lang="en-US" sz="2400" b="0" dirty="0">
                <a:solidFill>
                  <a:schemeClr val="tx1"/>
                </a:solidFill>
              </a:rPr>
              <a:t>Cyberbullying</a:t>
            </a:r>
            <a:endParaRPr lang="en-US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622332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3CBC39A2-9314-4F01-BCFE-FD880F24831B}"/>
              </a:ext>
            </a:extLst>
          </p:cNvPr>
          <p:cNvSpPr/>
          <p:nvPr/>
        </p:nvSpPr>
        <p:spPr>
          <a:xfrm>
            <a:off x="1415034" y="2185416"/>
            <a:ext cx="3522726" cy="548640"/>
          </a:xfrm>
          <a:prstGeom prst="wedgeRoundRectCallout">
            <a:avLst>
              <a:gd name="adj1" fmla="val -54599"/>
              <a:gd name="adj2" fmla="val -25379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69CC4DF1-2904-485E-B60A-FBD13D1B0144}"/>
              </a:ext>
            </a:extLst>
          </p:cNvPr>
          <p:cNvSpPr/>
          <p:nvPr/>
        </p:nvSpPr>
        <p:spPr>
          <a:xfrm>
            <a:off x="1415034" y="3307080"/>
            <a:ext cx="3522726" cy="548640"/>
          </a:xfrm>
          <a:prstGeom prst="wedgeRoundRectCallout">
            <a:avLst>
              <a:gd name="adj1" fmla="val -54599"/>
              <a:gd name="adj2" fmla="val -25379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peech Bubble: Rectangle with Corners Rounded 19">
            <a:extLst>
              <a:ext uri="{FF2B5EF4-FFF2-40B4-BE49-F238E27FC236}">
                <a16:creationId xmlns:a16="http://schemas.microsoft.com/office/drawing/2014/main" id="{96646482-458F-463A-9605-FBBEF9ECAACB}"/>
              </a:ext>
            </a:extLst>
          </p:cNvPr>
          <p:cNvSpPr/>
          <p:nvPr/>
        </p:nvSpPr>
        <p:spPr>
          <a:xfrm>
            <a:off x="1415034" y="4383024"/>
            <a:ext cx="3522726" cy="548640"/>
          </a:xfrm>
          <a:prstGeom prst="wedgeRoundRectCallout">
            <a:avLst>
              <a:gd name="adj1" fmla="val -54599"/>
              <a:gd name="adj2" fmla="val -25379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DDBDBF03-B2DD-4FC0-9EA6-D7D4482FE354}"/>
              </a:ext>
            </a:extLst>
          </p:cNvPr>
          <p:cNvSpPr/>
          <p:nvPr/>
        </p:nvSpPr>
        <p:spPr>
          <a:xfrm>
            <a:off x="1415034" y="4974336"/>
            <a:ext cx="3522726" cy="548640"/>
          </a:xfrm>
          <a:prstGeom prst="wedgeRoundRectCallout">
            <a:avLst>
              <a:gd name="adj1" fmla="val -54599"/>
              <a:gd name="adj2" fmla="val -25379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peech Bubble: Rectangle with Corners Rounded 21">
            <a:extLst>
              <a:ext uri="{FF2B5EF4-FFF2-40B4-BE49-F238E27FC236}">
                <a16:creationId xmlns:a16="http://schemas.microsoft.com/office/drawing/2014/main" id="{590B61E0-22B4-4394-A37C-692188322C4E}"/>
              </a:ext>
            </a:extLst>
          </p:cNvPr>
          <p:cNvSpPr/>
          <p:nvPr/>
        </p:nvSpPr>
        <p:spPr>
          <a:xfrm>
            <a:off x="1415034" y="2746248"/>
            <a:ext cx="3659886" cy="548640"/>
          </a:xfrm>
          <a:prstGeom prst="wedgeRoundRectCallout">
            <a:avLst>
              <a:gd name="adj1" fmla="val -54599"/>
              <a:gd name="adj2" fmla="val -25379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peech Bubble: Rectangle with Corners Rounded 22">
            <a:extLst>
              <a:ext uri="{FF2B5EF4-FFF2-40B4-BE49-F238E27FC236}">
                <a16:creationId xmlns:a16="http://schemas.microsoft.com/office/drawing/2014/main" id="{2CABAF6D-A06B-4677-9825-4A9F0FB56EC7}"/>
              </a:ext>
            </a:extLst>
          </p:cNvPr>
          <p:cNvSpPr/>
          <p:nvPr/>
        </p:nvSpPr>
        <p:spPr>
          <a:xfrm>
            <a:off x="1415034" y="3822192"/>
            <a:ext cx="3687318" cy="548640"/>
          </a:xfrm>
          <a:prstGeom prst="wedgeRoundRectCallout">
            <a:avLst>
              <a:gd name="adj1" fmla="val -54599"/>
              <a:gd name="adj2" fmla="val -25379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1C6EED6-39D2-49ED-944C-01E19B75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Netiquette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16737"/>
            <a:ext cx="10728960" cy="482668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2400" b="1" dirty="0"/>
              <a:t>Commonly accepted rules of how to behave online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BCDADA-7CDC-464C-BBBD-33D90F5B18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B47EDC-70F1-447E-86E6-DFEA746573BF}" type="slidenum">
              <a:rPr lang="en-US" altLang="en-US" smtClean="0"/>
              <a:pPr/>
              <a:t>4</a:t>
            </a:fld>
            <a:endParaRPr lang="en-US" alt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1389888" y="2176272"/>
            <a:ext cx="4306824" cy="3450045"/>
            <a:chOff x="620322" y="2590800"/>
            <a:chExt cx="4027878" cy="3200401"/>
          </a:xfrm>
        </p:grpSpPr>
        <p:sp>
          <p:nvSpPr>
            <p:cNvPr id="6" name="TextBox 5"/>
            <p:cNvSpPr txBox="1"/>
            <p:nvPr/>
          </p:nvSpPr>
          <p:spPr>
            <a:xfrm>
              <a:off x="620322" y="3124200"/>
              <a:ext cx="4027878" cy="5424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H00psF@N89: </a:t>
              </a:r>
              <a:r>
                <a:rPr lang="en-US" sz="1600" dirty="0"/>
                <a:t>Did you guys see the game</a:t>
              </a:r>
            </a:p>
            <a:p>
              <a:r>
                <a:rPr lang="en-US" sz="1600" dirty="0"/>
                <a:t>last night?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20322" y="4114801"/>
              <a:ext cx="4027878" cy="5424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B@ll3r4Lyfe: </a:t>
              </a:r>
              <a:r>
                <a:rPr lang="en-US" sz="1600" dirty="0"/>
                <a:t>I did! Miami did alright on D, </a:t>
              </a:r>
            </a:p>
            <a:p>
              <a:r>
                <a:rPr lang="en-US" sz="1600" dirty="0"/>
                <a:t>but they have to work on their 3pt game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20322" y="2590800"/>
              <a:ext cx="40278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2"/>
                  </a:solidFill>
                </a:rPr>
                <a:t>L3br0nJ@mes: </a:t>
              </a:r>
              <a:r>
                <a:rPr lang="en-US" sz="1600" dirty="0"/>
                <a:t>THE CELTICS SUCK! GO MIAMI!!!!!!!!!!!!!!!!!!!!!!!!!!!!!!!!!!!!!!!!!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20322" y="3606226"/>
              <a:ext cx="40278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2"/>
                  </a:solidFill>
                </a:rPr>
                <a:t>L3br0nJ@mes: </a:t>
              </a:r>
              <a:r>
                <a:rPr lang="en-US" sz="1600" dirty="0"/>
                <a:t>THE CELTICS SUCK! GO MIAMI!!!!!!!!!!!!!!!!!!!!!!!!!!!!!!!!!!!!!!!!!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20322" y="4648201"/>
              <a:ext cx="40278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2"/>
                  </a:solidFill>
                </a:rPr>
                <a:t>L3br0nJ@mes: </a:t>
              </a:r>
              <a:r>
                <a:rPr lang="en-US" sz="1600" dirty="0"/>
                <a:t>THE CELTICS SUCK! GO MIAMI!!!!!!!!!!!!!!!!!!!!!!!!!!!!!!!!!!!!!!!!!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0322" y="5206426"/>
              <a:ext cx="40278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2"/>
                  </a:solidFill>
                </a:rPr>
                <a:t>L3br0nJ@mes: </a:t>
              </a:r>
              <a:r>
                <a:rPr lang="en-US" sz="1600" dirty="0"/>
                <a:t>THE CELTICS SUCK! GO MIAMI!!!!!!!!!!!!!!!!!!!!!!!!!!!!!!!!!!!!!!!!!</a:t>
              </a:r>
            </a:p>
          </p:txBody>
        </p:sp>
      </p:grpSp>
      <p:sp>
        <p:nvSpPr>
          <p:cNvPr id="5" name="Rectangle 4"/>
          <p:cNvSpPr/>
          <p:nvPr/>
        </p:nvSpPr>
        <p:spPr>
          <a:xfrm>
            <a:off x="5815584" y="2162117"/>
            <a:ext cx="5358383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Do not </a:t>
            </a:r>
            <a:r>
              <a:rPr lang="en-US" sz="2200" dirty="0"/>
              <a:t>spam forums, chat rooms, or social media sites with useless or repeated information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Do not </a:t>
            </a:r>
            <a:r>
              <a:rPr lang="en-US" sz="2200" dirty="0"/>
              <a:t>pretend to be someone else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Do not </a:t>
            </a:r>
            <a:r>
              <a:rPr lang="en-US" sz="2200" dirty="0"/>
              <a:t>post or distribute illegal material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Do not </a:t>
            </a:r>
            <a:r>
              <a:rPr lang="en-US" sz="2200" dirty="0"/>
              <a:t>use abusive or threatening language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Do not </a:t>
            </a:r>
            <a:r>
              <a:rPr lang="en-US" sz="2200" dirty="0"/>
              <a:t>try to obtain personal info about someone</a:t>
            </a:r>
          </a:p>
        </p:txBody>
      </p:sp>
      <p:sp>
        <p:nvSpPr>
          <p:cNvPr id="25" name="&quot;Not Allowed&quot; Symbol 24">
            <a:extLst>
              <a:ext uri="{FF2B5EF4-FFF2-40B4-BE49-F238E27FC236}">
                <a16:creationId xmlns:a16="http://schemas.microsoft.com/office/drawing/2014/main" id="{A8002415-36F3-4753-A7CC-7A63DD4C0F4D}"/>
              </a:ext>
            </a:extLst>
          </p:cNvPr>
          <p:cNvSpPr/>
          <p:nvPr/>
        </p:nvSpPr>
        <p:spPr>
          <a:xfrm>
            <a:off x="960120" y="1947672"/>
            <a:ext cx="4297680" cy="4297680"/>
          </a:xfrm>
          <a:prstGeom prst="noSmoking">
            <a:avLst>
              <a:gd name="adj" fmla="val 5341"/>
            </a:avLst>
          </a:prstGeom>
          <a:solidFill>
            <a:srgbClr val="CC00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77395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85457C-CEED-45F8-BEF0-77B3545C6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Cyberbullying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6128" y="1509623"/>
            <a:ext cx="5864352" cy="4633793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sz="2900" dirty="0"/>
              <a:t>Bullying refers to any unwanted, aggressive behavior</a:t>
            </a:r>
          </a:p>
          <a:p>
            <a:pPr>
              <a:lnSpc>
                <a:spcPct val="120000"/>
              </a:lnSpc>
            </a:pPr>
            <a:r>
              <a:rPr lang="en-US" sz="2900" dirty="0"/>
              <a:t>Cyberbullying refers to any bullying that takes place through use of electronic technology</a:t>
            </a:r>
          </a:p>
          <a:p>
            <a:pPr>
              <a:lnSpc>
                <a:spcPct val="120000"/>
              </a:lnSpc>
            </a:pPr>
            <a:r>
              <a:rPr lang="en-US" sz="2900" dirty="0"/>
              <a:t>Forms: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500" dirty="0"/>
              <a:t>Insulting texts or emails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500" dirty="0"/>
              <a:t>Rumors sent via email or social networking sites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500" dirty="0"/>
              <a:t>Fake profiles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500" dirty="0"/>
              <a:t>Embarrassing photos or videos</a:t>
            </a:r>
          </a:p>
          <a:p>
            <a:pPr>
              <a:lnSpc>
                <a:spcPct val="120000"/>
              </a:lnSpc>
            </a:pPr>
            <a:r>
              <a:rPr lang="en-US" sz="2900" dirty="0"/>
              <a:t>Affects 29.2% of students every year and the number is growing</a:t>
            </a:r>
          </a:p>
          <a:p>
            <a:pPr>
              <a:lnSpc>
                <a:spcPct val="120000"/>
              </a:lnSpc>
            </a:pPr>
            <a:r>
              <a:rPr lang="en-US" sz="2900" dirty="0"/>
              <a:t>Why it’s harmful: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500" dirty="0"/>
              <a:t>Anonymous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500" dirty="0"/>
              <a:t>Can be done 24/7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2917A-EE88-45CA-B6A3-A97DF3304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B47EDC-70F1-447E-86E6-DFEA746573BF}" type="slidenum">
              <a:rPr lang="en-US" altLang="en-US" smtClean="0"/>
              <a:pPr/>
              <a:t>5</a:t>
            </a:fld>
            <a:endParaRPr lang="en-US" altLang="en-US" dirty="0"/>
          </a:p>
        </p:txBody>
      </p:sp>
      <p:grpSp>
        <p:nvGrpSpPr>
          <p:cNvPr id="2" name="Group 4"/>
          <p:cNvGrpSpPr/>
          <p:nvPr/>
        </p:nvGrpSpPr>
        <p:grpSpPr>
          <a:xfrm>
            <a:off x="1323291" y="2064175"/>
            <a:ext cx="3495154" cy="2865912"/>
            <a:chOff x="3429000" y="2503176"/>
            <a:chExt cx="2445723" cy="1806094"/>
          </a:xfrm>
        </p:grpSpPr>
        <p:sp>
          <p:nvSpPr>
            <p:cNvPr id="6" name="Rounded Rectangular Callout 5"/>
            <p:cNvSpPr/>
            <p:nvPr/>
          </p:nvSpPr>
          <p:spPr>
            <a:xfrm>
              <a:off x="3429000" y="2503176"/>
              <a:ext cx="1981200" cy="1066800"/>
            </a:xfrm>
            <a:prstGeom prst="wedgeRoundRectCallout">
              <a:avLst>
                <a:gd name="adj1" fmla="val -41349"/>
                <a:gd name="adj2" fmla="val 68824"/>
                <a:gd name="adj3" fmla="val 16667"/>
              </a:avLst>
            </a:prstGeom>
            <a:solidFill>
              <a:schemeClr val="accent1"/>
            </a:soli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b="1" dirty="0"/>
                <a:t>An0nym0us1234: </a:t>
              </a:r>
              <a:r>
                <a:rPr lang="en-US" dirty="0"/>
                <a:t>OMG. Did u see Jane’s skirt today?? What color was that??! puke green???</a:t>
              </a:r>
            </a:p>
          </p:txBody>
        </p:sp>
        <p:sp>
          <p:nvSpPr>
            <p:cNvPr id="7" name="Rounded Rectangular Callout 6"/>
            <p:cNvSpPr/>
            <p:nvPr/>
          </p:nvSpPr>
          <p:spPr>
            <a:xfrm flipH="1">
              <a:off x="3969723" y="3471070"/>
              <a:ext cx="1905000" cy="838200"/>
            </a:xfrm>
            <a:prstGeom prst="wedgeRoundRectCallout">
              <a:avLst>
                <a:gd name="adj1" fmla="val -38128"/>
                <a:gd name="adj2" fmla="val 73529"/>
                <a:gd name="adj3" fmla="val 16667"/>
              </a:avLst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/>
                <a:t>N0n@me1234: </a:t>
              </a:r>
            </a:p>
            <a:p>
              <a:r>
                <a:rPr lang="en-US" dirty="0"/>
                <a:t>I know!!!!!  She’s totally uggo.</a:t>
              </a:r>
            </a:p>
          </p:txBody>
        </p:sp>
      </p:grpSp>
      <p:sp>
        <p:nvSpPr>
          <p:cNvPr id="14" name="Rectangle 13"/>
          <p:cNvSpPr/>
          <p:nvPr/>
        </p:nvSpPr>
        <p:spPr>
          <a:xfrm>
            <a:off x="5691073" y="6163057"/>
            <a:ext cx="29129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lang="en-US" sz="1000" dirty="0"/>
              <a:t>Source: </a:t>
            </a:r>
            <a:r>
              <a:rPr lang="en-US" sz="1000" dirty="0">
                <a:hlinkClick r:id="rId3"/>
              </a:rPr>
              <a:t>http://www.stopbullying.gov/cyberbullying/</a:t>
            </a:r>
            <a:endParaRPr lang="en-US" sz="1000" dirty="0"/>
          </a:p>
        </p:txBody>
      </p:sp>
      <p:sp>
        <p:nvSpPr>
          <p:cNvPr id="8" name="&quot;Not Allowed&quot; Symbol 7">
            <a:extLst>
              <a:ext uri="{FF2B5EF4-FFF2-40B4-BE49-F238E27FC236}">
                <a16:creationId xmlns:a16="http://schemas.microsoft.com/office/drawing/2014/main" id="{0E9CD281-8234-4267-A8BC-3119AB9B15F3}"/>
              </a:ext>
            </a:extLst>
          </p:cNvPr>
          <p:cNvSpPr/>
          <p:nvPr/>
        </p:nvSpPr>
        <p:spPr>
          <a:xfrm>
            <a:off x="868680" y="1481328"/>
            <a:ext cx="4297680" cy="4297680"/>
          </a:xfrm>
          <a:prstGeom prst="noSmoking">
            <a:avLst>
              <a:gd name="adj" fmla="val 5341"/>
            </a:avLst>
          </a:prstGeom>
          <a:solidFill>
            <a:srgbClr val="CC0000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05055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Cyberbullying: If it Happens to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09623"/>
            <a:ext cx="5364480" cy="4633793"/>
          </a:xfrm>
        </p:spPr>
        <p:txBody>
          <a:bodyPr>
            <a:normAutofit/>
          </a:bodyPr>
          <a:lstStyle/>
          <a:p>
            <a:r>
              <a:rPr lang="en-US" dirty="0"/>
              <a:t>Do not respond to any messages, posts or emails that you do not know who they are from</a:t>
            </a:r>
          </a:p>
          <a:p>
            <a:r>
              <a:rPr lang="en-US" dirty="0"/>
              <a:t>Block offenders</a:t>
            </a:r>
          </a:p>
          <a:p>
            <a:r>
              <a:rPr lang="en-US" dirty="0"/>
              <a:t>Document and report the behavior so it can be addressed</a:t>
            </a:r>
          </a:p>
          <a:p>
            <a:r>
              <a:rPr lang="en-US" dirty="0"/>
              <a:t>Flag the content so other people aren’t hurt by it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F49793-CF29-4068-952D-C47C69E628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B47EDC-70F1-447E-86E6-DFEA746573BF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7144700" y="1318488"/>
            <a:ext cx="4492722" cy="4295928"/>
            <a:chOff x="4500562" y="1244799"/>
            <a:chExt cx="4467225" cy="4271547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500562" y="2144496"/>
              <a:ext cx="4467225" cy="3371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8" name="Group 7"/>
            <p:cNvGrpSpPr/>
            <p:nvPr/>
          </p:nvGrpSpPr>
          <p:grpSpPr>
            <a:xfrm>
              <a:off x="7251272" y="1244799"/>
              <a:ext cx="1603778" cy="798457"/>
              <a:chOff x="7802815" y="1346399"/>
              <a:chExt cx="1603778" cy="798457"/>
            </a:xfrm>
          </p:grpSpPr>
          <p:pic>
            <p:nvPicPr>
              <p:cNvPr id="1027" name="Picture 3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7977844" y="1478106"/>
                <a:ext cx="1428749" cy="666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6" name="Rectangle 5"/>
              <p:cNvSpPr/>
              <p:nvPr/>
            </p:nvSpPr>
            <p:spPr>
              <a:xfrm>
                <a:off x="7802815" y="1346399"/>
                <a:ext cx="1295399" cy="21408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9" name="Rectangle 8"/>
          <p:cNvSpPr/>
          <p:nvPr/>
        </p:nvSpPr>
        <p:spPr>
          <a:xfrm>
            <a:off x="817321" y="5724145"/>
            <a:ext cx="29129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lang="en-US" sz="1000" dirty="0"/>
              <a:t>Source: </a:t>
            </a:r>
            <a:r>
              <a:rPr lang="en-US" sz="1000" dirty="0">
                <a:hlinkClick r:id="rId5"/>
              </a:rPr>
              <a:t>http://www.stopbullying.gov/cyberbullying/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9566577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40DB21-019B-4BA6-AA6F-E2F1A4E59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Reporting Cyberbullying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schools:</a:t>
            </a:r>
          </a:p>
          <a:p>
            <a:pPr lvl="2"/>
            <a:r>
              <a:rPr lang="en-US" dirty="0"/>
              <a:t>Inform your school of any cyberbullying as you would with other types of bullying</a:t>
            </a:r>
          </a:p>
          <a:p>
            <a:pPr lvl="2"/>
            <a:r>
              <a:rPr lang="en-US" dirty="0"/>
              <a:t>Provide screenshots or records of bullying</a:t>
            </a:r>
          </a:p>
          <a:p>
            <a:pPr lvl="2"/>
            <a:endParaRPr lang="en-US" dirty="0"/>
          </a:p>
          <a:p>
            <a:r>
              <a:rPr lang="en-US" dirty="0"/>
              <a:t>To your parents and law enforcement, </a:t>
            </a:r>
            <a:r>
              <a:rPr lang="en-US" i="1" dirty="0"/>
              <a:t>especially</a:t>
            </a:r>
            <a:r>
              <a:rPr lang="en-US" dirty="0"/>
              <a:t> if it involves any of the following:</a:t>
            </a:r>
          </a:p>
          <a:p>
            <a:pPr lvl="2"/>
            <a:r>
              <a:rPr lang="en-US" dirty="0"/>
              <a:t>Threats of violence</a:t>
            </a:r>
          </a:p>
          <a:p>
            <a:pPr lvl="2"/>
            <a:r>
              <a:rPr lang="en-US" dirty="0"/>
              <a:t>Explicit messages or photos</a:t>
            </a:r>
          </a:p>
          <a:p>
            <a:pPr lvl="2"/>
            <a:r>
              <a:rPr lang="en-US" dirty="0"/>
              <a:t>Taking a photo or video of someone in a place where he or she would expect privacy</a:t>
            </a:r>
          </a:p>
          <a:p>
            <a:pPr lvl="2"/>
            <a:r>
              <a:rPr lang="en-US" dirty="0"/>
              <a:t>Stalking and hate crimes</a:t>
            </a:r>
          </a:p>
          <a:p>
            <a:pPr lvl="1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26D9E3-5E9A-46F6-AB32-87F799BC47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B47EDC-70F1-447E-86E6-DFEA746573BF}" type="slidenum">
              <a:rPr lang="en-US" altLang="en-US" smtClean="0"/>
              <a:pPr/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107649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2497836" y="3001502"/>
            <a:ext cx="7196328" cy="854995"/>
          </a:xfrm>
        </p:spPr>
        <p:txBody>
          <a:bodyPr/>
          <a:lstStyle/>
          <a:p>
            <a:r>
              <a:rPr lang="en-US" dirty="0"/>
              <a:t>UNIT 2 – SECTION  2</a:t>
            </a:r>
            <a:br>
              <a:rPr lang="en-US" dirty="0"/>
            </a:br>
            <a:br>
              <a:rPr lang="en-US" sz="1050" dirty="0"/>
            </a:br>
            <a:r>
              <a:rPr lang="en-US" sz="2400" b="0" dirty="0">
                <a:solidFill>
                  <a:schemeClr val="tx1"/>
                </a:solidFill>
              </a:rPr>
              <a:t>Personally Identifiable Information &amp; Online Safety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22626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CD35C6-42D6-4A7B-9489-D79305458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Personally Identifiable Information (</a:t>
            </a:r>
            <a:r>
              <a:rPr lang="en-US" sz="3200" dirty="0" err="1"/>
              <a:t>PII</a:t>
            </a:r>
            <a:r>
              <a:rPr lang="en-US" sz="32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PII is any information specific to an individual</a:t>
            </a:r>
          </a:p>
          <a:p>
            <a:r>
              <a:rPr lang="en-US" sz="2400" dirty="0"/>
              <a:t>Examples:</a:t>
            </a:r>
          </a:p>
          <a:p>
            <a:pPr lvl="1"/>
            <a:r>
              <a:rPr lang="en-US" sz="2000" dirty="0"/>
              <a:t>Student ID Number</a:t>
            </a:r>
          </a:p>
          <a:p>
            <a:pPr lvl="1"/>
            <a:r>
              <a:rPr lang="en-US" sz="2000" dirty="0"/>
              <a:t>Date of Birth</a:t>
            </a:r>
          </a:p>
          <a:p>
            <a:pPr lvl="1"/>
            <a:r>
              <a:rPr lang="en-US" sz="2000" dirty="0"/>
              <a:t>Email Address</a:t>
            </a:r>
          </a:p>
          <a:p>
            <a:pPr lvl="1"/>
            <a:r>
              <a:rPr lang="en-US" sz="2000" dirty="0"/>
              <a:t>Mailing Address</a:t>
            </a:r>
          </a:p>
          <a:p>
            <a:pPr lvl="1"/>
            <a:r>
              <a:rPr lang="en-US" sz="2000" dirty="0"/>
              <a:t>Credit Card Information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Social Security Number</a:t>
            </a:r>
          </a:p>
          <a:p>
            <a:pPr>
              <a:spcBef>
                <a:spcPts val="1200"/>
              </a:spcBef>
            </a:pPr>
            <a:r>
              <a:rPr lang="en-US" sz="2400" dirty="0"/>
              <a:t>PII can be used by hackers to steal someone’s identity, bank funds, etc. </a:t>
            </a:r>
          </a:p>
          <a:p>
            <a:pPr>
              <a:spcBef>
                <a:spcPts val="1200"/>
              </a:spcBef>
            </a:pPr>
            <a:r>
              <a:rPr lang="en-US" sz="2400" dirty="0"/>
              <a:t>Hackers also use PII to impersonate victims in order to gain access to a different person or an organization’s network</a:t>
            </a:r>
          </a:p>
          <a:p>
            <a:pPr>
              <a:spcBef>
                <a:spcPts val="1200"/>
              </a:spcBef>
            </a:pPr>
            <a:r>
              <a:rPr lang="en-US" sz="2400" dirty="0"/>
              <a:t>This type of information should only be shared with trusted, verified individuals</a:t>
            </a:r>
          </a:p>
          <a:p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E02135-7385-41B5-B1FC-8D3EF41AF0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B47EDC-70F1-447E-86E6-DFEA746573BF}" type="slidenum">
              <a:rPr lang="en-US" altLang="en-US" smtClean="0"/>
              <a:pPr/>
              <a:t>9</a:t>
            </a:fld>
            <a:endParaRPr lang="en-US" altLang="en-US" dirty="0"/>
          </a:p>
        </p:txBody>
      </p:sp>
      <p:pic>
        <p:nvPicPr>
          <p:cNvPr id="4099" name="Picture 3" descr="C:\Users\L.Walczak\AppData\Local\Microsoft\Windows\Temporary Internet Files\Content.IE5\RJJ3P2QQ\MC900441519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09511" y="1556985"/>
            <a:ext cx="3873067" cy="22000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1087637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Safety: The Basics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Never share your password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Only share PII when </a:t>
            </a:r>
            <a:r>
              <a:rPr lang="en-US" sz="2400" i="1" dirty="0"/>
              <a:t>absolutely </a:t>
            </a:r>
          </a:p>
          <a:p>
            <a:pPr marL="344488" indent="0">
              <a:spcBef>
                <a:spcPts val="0"/>
              </a:spcBef>
              <a:buNone/>
            </a:pPr>
            <a:r>
              <a:rPr lang="en-US" sz="2400" dirty="0"/>
              <a:t>necessary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Do not download any suspicious </a:t>
            </a:r>
          </a:p>
          <a:p>
            <a:pPr marL="344488" indent="0">
              <a:spcBef>
                <a:spcPts val="0"/>
              </a:spcBef>
              <a:buNone/>
            </a:pPr>
            <a:r>
              <a:rPr lang="en-US" sz="2400" dirty="0"/>
              <a:t>or unknown software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Always log out when you are done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Do not click on links from unsafe or unknown </a:t>
            </a:r>
            <a:br>
              <a:rPr lang="en-US" sz="2400" dirty="0"/>
            </a:br>
            <a:r>
              <a:rPr lang="en-US" sz="2400" dirty="0"/>
              <a:t>sites or emails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Never post anything you do not want public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You might think you’re being safe and limiting your posts to only friends, but anything you post can be easily copied and pasted and sent to someone else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If you’re unsure about anything you do online, ask your parent or guardian if it’s OK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0426AF-AE59-4518-BEB8-BBB5201FFF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B47EDC-70F1-447E-86E6-DFEA746573BF}" type="slidenum">
              <a:rPr lang="en-US" altLang="en-US" smtClean="0"/>
              <a:pPr/>
              <a:t>10</a:t>
            </a:fld>
            <a:endParaRPr lang="en-US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2460" y="1438900"/>
            <a:ext cx="2759421" cy="293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69672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09623"/>
            <a:ext cx="6096663" cy="4633793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Online Shopping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Social Media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Any other website that requires Personally Identifiable Information (PII).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These sites are enjoyable and useful. Just make sure you are being extra careful when visiting them.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Look for secure connection protocols, such as https://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E84CE0-2AAF-4008-832E-010BC5ADC1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B47EDC-70F1-447E-86E6-DFEA746573BF}" type="slidenum">
              <a:rPr lang="en-US" altLang="en-US" smtClean="0"/>
              <a:pPr/>
              <a:t>11</a:t>
            </a:fld>
            <a:endParaRPr lang="en-US" altLang="en-US" dirty="0"/>
          </a:p>
        </p:txBody>
      </p:sp>
      <p:pic>
        <p:nvPicPr>
          <p:cNvPr id="9226" name="Picture 10" descr="https://encrypted-tbn0.gstatic.com/images?q=tbn:ANd9GcQu8rBhDPdQ530gAA5EuPg8AtycL7I154YkvdYoNU5KzMi59TR2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8743" r="38909"/>
          <a:stretch>
            <a:fillRect/>
          </a:stretch>
        </p:blipFill>
        <p:spPr bwMode="auto">
          <a:xfrm>
            <a:off x="9853025" y="1808893"/>
            <a:ext cx="1439831" cy="1431264"/>
          </a:xfrm>
          <a:prstGeom prst="rect">
            <a:avLst/>
          </a:prstGeom>
          <a:noFill/>
        </p:spPr>
      </p:pic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1524000" y="299652"/>
            <a:ext cx="2712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  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5" name="Picture 3" descr="C:\Users\L.Walczak\AppData\Local\Microsoft\Windows\Temporary Internet Files\Content.IE5\97H917Z3\MC900441466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52276" y="3617830"/>
            <a:ext cx="2628729" cy="2628729"/>
          </a:xfrm>
          <a:prstGeom prst="rect">
            <a:avLst/>
          </a:prstGeom>
          <a:noFill/>
        </p:spPr>
      </p:pic>
      <p:pic>
        <p:nvPicPr>
          <p:cNvPr id="2050" name="Picture 2" descr="C:\Users\L.Walczak\AppData\Local\Microsoft\Windows\Temporary Internet Files\Content.IE5\J9N30HZ4\MC900433864[1]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267118" y="1749258"/>
            <a:ext cx="1759255" cy="1759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1374183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2464904" y="5460455"/>
            <a:ext cx="6533322" cy="403632"/>
            <a:chOff x="1562100" y="4984750"/>
            <a:chExt cx="6629400" cy="375682"/>
          </a:xfrm>
          <a:solidFill>
            <a:schemeClr val="bg1"/>
          </a:solidFill>
        </p:grpSpPr>
        <p:sp>
          <p:nvSpPr>
            <p:cNvPr id="16" name="Rectangle 15"/>
            <p:cNvSpPr/>
            <p:nvPr/>
          </p:nvSpPr>
          <p:spPr>
            <a:xfrm>
              <a:off x="1562100" y="4984750"/>
              <a:ext cx="6629400" cy="365760"/>
            </a:xfrm>
            <a:prstGeom prst="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6805" name="Picture 5" descr="C:\Users\L.Walczak\AppData\Local\Microsoft\Windows\Temporary Internet Files\Content.IE5\RJJ3P2QQ\MC900431599[1]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prstClr val="black"/>
                <a:srgbClr val="00B050">
                  <a:tint val="45000"/>
                  <a:satMod val="400000"/>
                </a:srgbClr>
              </a:duotone>
              <a:lum contrast="40000"/>
            </a:blip>
            <a:srcRect/>
            <a:stretch>
              <a:fillRect/>
            </a:stretch>
          </p:blipFill>
          <p:spPr bwMode="auto">
            <a:xfrm>
              <a:off x="1676514" y="5010264"/>
              <a:ext cx="320040" cy="320040"/>
            </a:xfrm>
            <a:prstGeom prst="rect">
              <a:avLst/>
            </a:prstGeom>
            <a:grpFill/>
          </p:spPr>
        </p:pic>
        <p:sp>
          <p:nvSpPr>
            <p:cNvPr id="15" name="TextBox 14"/>
            <p:cNvSpPr txBox="1"/>
            <p:nvPr/>
          </p:nvSpPr>
          <p:spPr>
            <a:xfrm>
              <a:off x="1962150" y="4991100"/>
              <a:ext cx="42727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https://login.microsoftonline.com/</a:t>
              </a: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 Browsing</a:t>
            </a:r>
          </a:p>
        </p:txBody>
      </p:sp>
      <p:sp>
        <p:nvSpPr>
          <p:cNvPr id="3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700" dirty="0"/>
              <a:t>Do not use public Wi-Fi to access risky sites</a:t>
            </a:r>
          </a:p>
          <a:p>
            <a:r>
              <a:rPr lang="en-US" sz="2700" dirty="0"/>
              <a:t>Check the address for spoofs</a:t>
            </a:r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  <a:p>
            <a:r>
              <a:rPr lang="en-US" sz="2700" dirty="0"/>
              <a:t>Use a secure website, especially when submitting PII</a:t>
            </a:r>
          </a:p>
          <a:p>
            <a:pPr lvl="1"/>
            <a:r>
              <a:rPr lang="en-US" dirty="0"/>
              <a:t>Look for an "s" after “http” in the web address</a:t>
            </a:r>
          </a:p>
          <a:p>
            <a:pPr lvl="1"/>
            <a:r>
              <a:rPr lang="en-US" dirty="0"/>
              <a:t>Look for a ‘padlock’ in the browser address bar</a:t>
            </a:r>
          </a:p>
          <a:p>
            <a:pPr lvl="1"/>
            <a:r>
              <a:rPr lang="en-US" dirty="0"/>
              <a:t>Look for a green background or green text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4C1C61-EEF8-40A5-A61B-B3E54511DF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B47EDC-70F1-447E-86E6-DFEA746573BF}" type="slidenum">
              <a:rPr lang="en-US" altLang="en-US" smtClean="0"/>
              <a:pPr/>
              <a:t>12</a:t>
            </a:fld>
            <a:endParaRPr lang="en-US" altLang="en-US" dirty="0"/>
          </a:p>
        </p:txBody>
      </p:sp>
      <p:grpSp>
        <p:nvGrpSpPr>
          <p:cNvPr id="24" name="Group 23"/>
          <p:cNvGrpSpPr/>
          <p:nvPr/>
        </p:nvGrpSpPr>
        <p:grpSpPr>
          <a:xfrm>
            <a:off x="2478156" y="2641530"/>
            <a:ext cx="5486400" cy="372110"/>
            <a:chOff x="914400" y="6159500"/>
            <a:chExt cx="6629400" cy="372110"/>
          </a:xfrm>
        </p:grpSpPr>
        <p:sp>
          <p:nvSpPr>
            <p:cNvPr id="23" name="Rectangle 22"/>
            <p:cNvSpPr/>
            <p:nvPr/>
          </p:nvSpPr>
          <p:spPr>
            <a:xfrm>
              <a:off x="914400" y="6165850"/>
              <a:ext cx="66294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314450" y="6159500"/>
              <a:ext cx="3638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http://bank0famerica.com</a:t>
              </a:r>
            </a:p>
          </p:txBody>
        </p:sp>
        <p:pic>
          <p:nvPicPr>
            <p:cNvPr id="76806" name="Picture 6" descr="C:\Users\L.Walczak\AppData\Local\Microsoft\Windows\Temporary Internet Files\Content.IE5\J9N30HZ4\MC900434750[1].pn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047749" y="6191393"/>
              <a:ext cx="310896" cy="310896"/>
            </a:xfrm>
            <a:prstGeom prst="rect">
              <a:avLst/>
            </a:prstGeom>
            <a:noFill/>
          </p:spPr>
        </p:pic>
      </p:grpSp>
      <p:cxnSp>
        <p:nvCxnSpPr>
          <p:cNvPr id="3" name="Straight Arrow Connector 2"/>
          <p:cNvCxnSpPr/>
          <p:nvPr/>
        </p:nvCxnSpPr>
        <p:spPr>
          <a:xfrm flipH="1" flipV="1">
            <a:off x="2849217" y="3054797"/>
            <a:ext cx="311426" cy="23836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18472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Browser Tools</a:t>
            </a:r>
          </a:p>
        </p:txBody>
      </p:sp>
      <p:sp>
        <p:nvSpPr>
          <p:cNvPr id="3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dirty="0"/>
              <a:t>Use automatic updates</a:t>
            </a:r>
          </a:p>
          <a:p>
            <a:pPr>
              <a:spcBef>
                <a:spcPts val="1200"/>
              </a:spcBef>
            </a:pPr>
            <a:r>
              <a:rPr lang="en-US" dirty="0"/>
              <a:t>Use and regularly update built-in safety features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Pop-up blockers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Anti-spyware</a:t>
            </a:r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chemeClr val="accent1"/>
                </a:solidFill>
              </a:rPr>
              <a:t>Do not use </a:t>
            </a:r>
            <a:r>
              <a:rPr lang="en-US" dirty="0"/>
              <a:t>“Save Password” or “Remember Me” functions</a:t>
            </a:r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chemeClr val="accent1"/>
                </a:solidFill>
              </a:rPr>
              <a:t>Do not </a:t>
            </a:r>
            <a:r>
              <a:rPr lang="en-US" dirty="0"/>
              <a:t>install unsecure or unknow browser extensions or plug-ins.</a:t>
            </a:r>
          </a:p>
          <a:p>
            <a:pPr>
              <a:spcBef>
                <a:spcPts val="1200"/>
              </a:spcBef>
            </a:pPr>
            <a:r>
              <a:rPr lang="en-US" dirty="0"/>
              <a:t>Internet Explorer is more frequently targeted and has more security flaws than any other browser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17B152-18F9-43DB-8FED-8BE9D43B47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B47EDC-70F1-447E-86E6-DFEA746573BF}" type="slidenum">
              <a:rPr lang="en-US" altLang="en-US" smtClean="0"/>
              <a:pPr/>
              <a:t>13</a:t>
            </a:fld>
            <a:endParaRPr lang="en-US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193867" y="651933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2346466" y="5327852"/>
            <a:ext cx="7499068" cy="917279"/>
            <a:chOff x="685800" y="5190691"/>
            <a:chExt cx="7499068" cy="917279"/>
          </a:xfrm>
        </p:grpSpPr>
        <p:pic>
          <p:nvPicPr>
            <p:cNvPr id="7173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3504" y="5223209"/>
              <a:ext cx="1881364" cy="852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8066" name="Picture 2" descr="https://assets.mozillalabs.com/Brands-Logos/Firefox/logo-wordmark/firefox_logo-wordmark-horiz_RGB.pn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85800" y="5190691"/>
              <a:ext cx="2154696" cy="917279"/>
            </a:xfrm>
            <a:prstGeom prst="rect">
              <a:avLst/>
            </a:prstGeom>
            <a:noFill/>
          </p:spPr>
        </p:pic>
        <p:pic>
          <p:nvPicPr>
            <p:cNvPr id="88068" name="Picture 4" descr="http://www.msvma.org/Resources/Pictures/Chrome%20Logo.pn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359150" y="5354624"/>
              <a:ext cx="2425700" cy="633903"/>
            </a:xfrm>
            <a:prstGeom prst="rect">
              <a:avLst/>
            </a:prstGeom>
            <a:noFill/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37C33CD-2A0A-4BD7-8511-CC29BBEB319C}"/>
              </a:ext>
            </a:extLst>
          </p:cNvPr>
          <p:cNvSpPr txBox="1"/>
          <p:nvPr/>
        </p:nvSpPr>
        <p:spPr>
          <a:xfrm>
            <a:off x="3641598" y="2432411"/>
            <a:ext cx="6112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Anti-virus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Anti-phishing</a:t>
            </a:r>
          </a:p>
        </p:txBody>
      </p:sp>
    </p:spTree>
    <p:extLst>
      <p:ext uri="{BB962C8B-B14F-4D97-AF65-F5344CB8AC3E}">
        <p14:creationId xmlns:p14="http://schemas.microsoft.com/office/powerpoint/2010/main" val="278599774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Media Tips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31520" y="1509623"/>
            <a:ext cx="6464808" cy="4633793"/>
          </a:xfrm>
        </p:spPr>
        <p:txBody>
          <a:bodyPr>
            <a:noAutofit/>
          </a:bodyPr>
          <a:lstStyle/>
          <a:p>
            <a:pPr marL="344488" indent="-344488">
              <a:spcBef>
                <a:spcPts val="0"/>
              </a:spcBef>
              <a:tabLst>
                <a:tab pos="457200" algn="l"/>
              </a:tabLst>
            </a:pPr>
            <a:r>
              <a:rPr lang="en-US" sz="2000" dirty="0"/>
              <a:t>Be picky</a:t>
            </a:r>
          </a:p>
          <a:p>
            <a:pPr marL="700088" lvl="1" indent="-344488">
              <a:spcBef>
                <a:spcPts val="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sz="1600" dirty="0"/>
              <a:t>Only accept or follow friends you know in real life</a:t>
            </a:r>
          </a:p>
          <a:p>
            <a:pPr marL="344488" indent="-344488">
              <a:spcBef>
                <a:spcPts val="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sz="2000" dirty="0"/>
              <a:t>Do not post your location</a:t>
            </a:r>
          </a:p>
          <a:p>
            <a:pPr marL="344488" indent="-344488">
              <a:spcBef>
                <a:spcPts val="0"/>
              </a:spcBef>
              <a:tabLst>
                <a:tab pos="457200" algn="l"/>
              </a:tabLst>
            </a:pPr>
            <a:r>
              <a:rPr lang="en-US" sz="2000" dirty="0"/>
              <a:t>Be careful with apps </a:t>
            </a:r>
          </a:p>
          <a:p>
            <a:pPr marL="700088" lvl="1" indent="-344488">
              <a:spcBef>
                <a:spcPts val="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sz="1600" dirty="0"/>
              <a:t>Games and geo-tracking apps may give away your location or other PII</a:t>
            </a:r>
          </a:p>
          <a:p>
            <a:pPr marL="344488" indent="-344488">
              <a:spcBef>
                <a:spcPts val="0"/>
              </a:spcBef>
              <a:tabLst>
                <a:tab pos="457200" algn="l"/>
              </a:tabLst>
            </a:pPr>
            <a:r>
              <a:rPr lang="en-US" sz="2000" dirty="0"/>
              <a:t>Assume everything you post online is permanent </a:t>
            </a:r>
          </a:p>
          <a:p>
            <a:pPr marL="700088" lvl="1" indent="-344488">
              <a:spcBef>
                <a:spcPts val="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sz="1600" dirty="0"/>
              <a:t>Colleges and employers check social media accounts</a:t>
            </a:r>
          </a:p>
          <a:p>
            <a:pPr marL="344488" indent="-344488">
              <a:spcBef>
                <a:spcPts val="0"/>
              </a:spcBef>
              <a:tabLst>
                <a:tab pos="457200" algn="l"/>
              </a:tabLst>
            </a:pPr>
            <a:r>
              <a:rPr lang="en-US" sz="2000" dirty="0"/>
              <a:t>Don’t over-share</a:t>
            </a:r>
          </a:p>
          <a:p>
            <a:pPr marL="700088" lvl="1" indent="-344488">
              <a:spcBef>
                <a:spcPts val="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sz="1600" dirty="0"/>
              <a:t>Just because a site asks for information doesn’t mean it’s required to set up an account</a:t>
            </a:r>
          </a:p>
          <a:p>
            <a:pPr marL="344488" indent="-344488">
              <a:spcBef>
                <a:spcPts val="0"/>
              </a:spcBef>
              <a:tabLst>
                <a:tab pos="457200" algn="l"/>
              </a:tabLst>
            </a:pPr>
            <a:r>
              <a:rPr lang="en-US" sz="2000" dirty="0"/>
              <a:t>Customize and update your security settings</a:t>
            </a:r>
          </a:p>
          <a:p>
            <a:pPr marL="700088" lvl="1" indent="-344488">
              <a:spcBef>
                <a:spcPts val="0"/>
              </a:spcBef>
              <a:spcAft>
                <a:spcPts val="400"/>
              </a:spcAft>
              <a:tabLst>
                <a:tab pos="457200" algn="l"/>
              </a:tabLst>
            </a:pPr>
            <a:r>
              <a:rPr lang="en-US" sz="1600" dirty="0"/>
              <a:t>Default settings are weak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E80AC4-27F3-4FD8-9320-AA079E4883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B47EDC-70F1-447E-86E6-DFEA746573BF}" type="slidenum">
              <a:rPr lang="en-US" altLang="en-US" smtClean="0"/>
              <a:pPr/>
              <a:t>14</a:t>
            </a:fld>
            <a:endParaRPr lang="en-US" altLang="en-US" dirty="0"/>
          </a:p>
        </p:txBody>
      </p:sp>
      <p:pic>
        <p:nvPicPr>
          <p:cNvPr id="12" name="Picture 10" descr="https://encrypted-tbn0.gstatic.com/images?q=tbn:ANd9GcQu8rBhDPdQ530gAA5EuPg8AtycL7I154YkvdYoNU5KzMi59TR2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auto">
          <a:xfrm>
            <a:off x="7784086" y="1995615"/>
            <a:ext cx="1508168" cy="1003617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1524000" y="-138499"/>
            <a:ext cx="22794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1524001" y="336292"/>
            <a:ext cx="20550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600" dirty="0">
                <a:latin typeface="Arial" pitchFamily="34" charset="0"/>
                <a:cs typeface="Arial" pitchFamily="34" charset="0"/>
              </a:rPr>
              <a:t> 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9451596" y="1469400"/>
            <a:ext cx="1970062" cy="1178850"/>
            <a:chOff x="7188200" y="3690252"/>
            <a:chExt cx="1346200" cy="805542"/>
          </a:xfrm>
        </p:grpSpPr>
        <p:pic>
          <p:nvPicPr>
            <p:cNvPr id="1030" name="Picture 6" descr="J:\CYBERPATRIOT\Collateral\Graphics\Twitter Bird.png"/>
            <p:cNvPicPr>
              <a:picLocks noChangeAspect="1" noChangeArrowheads="1"/>
            </p:cNvPicPr>
            <p:nvPr/>
          </p:nvPicPr>
          <p:blipFill>
            <a:blip r:embed="rId4" cstate="print"/>
            <a:srcRect l="14286" t="23809" r="9524" b="19048"/>
            <a:stretch>
              <a:fillRect/>
            </a:stretch>
          </p:blipFill>
          <p:spPr bwMode="auto">
            <a:xfrm>
              <a:off x="7188200" y="3809994"/>
              <a:ext cx="914400" cy="685800"/>
            </a:xfrm>
            <a:prstGeom prst="rect">
              <a:avLst/>
            </a:prstGeom>
            <a:noFill/>
          </p:spPr>
        </p:pic>
        <p:sp>
          <p:nvSpPr>
            <p:cNvPr id="17" name="TextBox 16"/>
            <p:cNvSpPr txBox="1"/>
            <p:nvPr/>
          </p:nvSpPr>
          <p:spPr>
            <a:xfrm>
              <a:off x="7924800" y="3690252"/>
              <a:ext cx="609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rgbClr val="1EB4E6"/>
                  </a:solidFill>
                  <a:latin typeface="Geneva" pitchFamily="34" charset="0"/>
                  <a:cs typeface="Browallia New" pitchFamily="34" charset="-34"/>
                </a:rPr>
                <a:t>?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7731928" y="3616390"/>
            <a:ext cx="3231728" cy="2302585"/>
            <a:chOff x="5156200" y="2328863"/>
            <a:chExt cx="2555874" cy="1821044"/>
          </a:xfrm>
        </p:grpSpPr>
        <p:pic>
          <p:nvPicPr>
            <p:cNvPr id="11266" name="Picture 2" descr="https://lh3.ggpht.com/DLDifF6R6ETGoHBPAfEDcwbRnZiTvty074hd0WQuRJug7RbfR7ihrkZXgt5zACKejbL6=h900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156200" y="2328863"/>
              <a:ext cx="2555874" cy="1599406"/>
            </a:xfrm>
            <a:prstGeom prst="rect">
              <a:avLst/>
            </a:prstGeom>
            <a:noFill/>
          </p:spPr>
        </p:pic>
        <p:sp>
          <p:nvSpPr>
            <p:cNvPr id="14" name="Rectangle 13"/>
            <p:cNvSpPr/>
            <p:nvPr/>
          </p:nvSpPr>
          <p:spPr>
            <a:xfrm>
              <a:off x="5923247" y="3955178"/>
              <a:ext cx="1152652" cy="1947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00" dirty="0"/>
                <a:t>Source: </a:t>
              </a:r>
              <a:r>
                <a:rPr lang="en-US" sz="1000" dirty="0">
                  <a:hlinkClick r:id="rId6"/>
                </a:rPr>
                <a:t>play.google.com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5388601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Office Theme">
  <a:themeElements>
    <a:clrScheme name="Bernies Brief">
      <a:dk1>
        <a:sysClr val="windowText" lastClr="000000"/>
      </a:dk1>
      <a:lt1>
        <a:sysClr val="window" lastClr="FFFFFF"/>
      </a:lt1>
      <a:dk2>
        <a:srgbClr val="013F7F"/>
      </a:dk2>
      <a:lt2>
        <a:srgbClr val="001374"/>
      </a:lt2>
      <a:accent1>
        <a:srgbClr val="329998"/>
      </a:accent1>
      <a:accent2>
        <a:srgbClr val="494949"/>
      </a:accent2>
      <a:accent3>
        <a:srgbClr val="027EFF"/>
      </a:accent3>
      <a:accent4>
        <a:srgbClr val="241CC4"/>
      </a:accent4>
      <a:accent5>
        <a:srgbClr val="027EFF"/>
      </a:accent5>
      <a:accent6>
        <a:srgbClr val="81CFFF"/>
      </a:accent6>
      <a:hlink>
        <a:srgbClr val="005EC0"/>
      </a:hlink>
      <a:folHlink>
        <a:srgbClr val="005EC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9E1B2FC1C446459DAAF3616E1B57E8" ma:contentTypeVersion="1" ma:contentTypeDescription="Create a new document." ma:contentTypeScope="" ma:versionID="0a11aa35e960c28540b6de1282e24e24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48c5b5cd9b8d25ff6dd15848836f427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E682BE0-03E6-4600-90C9-0F908076BD58}"/>
</file>

<file path=customXml/itemProps2.xml><?xml version="1.0" encoding="utf-8"?>
<ds:datastoreItem xmlns:ds="http://schemas.openxmlformats.org/officeDocument/2006/customXml" ds:itemID="{ED54756C-A95A-4711-AA95-FA7DFF563D0A}"/>
</file>

<file path=customXml/itemProps3.xml><?xml version="1.0" encoding="utf-8"?>
<ds:datastoreItem xmlns:ds="http://schemas.openxmlformats.org/officeDocument/2006/customXml" ds:itemID="{BFED60FB-063A-4234-926A-E4101C6616A5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4200</TotalTime>
  <Words>906</Words>
  <Application>Microsoft Office PowerPoint</Application>
  <PresentationFormat>Widescreen</PresentationFormat>
  <Paragraphs>150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Geneva</vt:lpstr>
      <vt:lpstr>1_Office Theme</vt:lpstr>
      <vt:lpstr>UNIT 2  Introduction to Online Safety</vt:lpstr>
      <vt:lpstr>Learning Objectives</vt:lpstr>
      <vt:lpstr>UNIT 2 – SECTION 1 Cyberbullying</vt:lpstr>
      <vt:lpstr>Netiquette</vt:lpstr>
      <vt:lpstr>Cyberbullying</vt:lpstr>
      <vt:lpstr>Cyberbullying: If it Happens to You</vt:lpstr>
      <vt:lpstr>Reporting Cyberbullying</vt:lpstr>
      <vt:lpstr>UNIT 2 – SECTION  2  Personally Identifiable Information &amp; Online Safety </vt:lpstr>
      <vt:lpstr>Personally Identifiable Information (PII)</vt:lpstr>
      <vt:lpstr>Online Safety: The Basics</vt:lpstr>
      <vt:lpstr>Risk Sites</vt:lpstr>
      <vt:lpstr>Safe Browsing</vt:lpstr>
      <vt:lpstr>Browser Tools</vt:lpstr>
      <vt:lpstr>Social Media Tips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2 Introduction to Online Safety</dc:title>
  <dc:creator>Rebecca Dalton</dc:creator>
  <cp:lastModifiedBy>Rebecca Dalton</cp:lastModifiedBy>
  <cp:revision>7</cp:revision>
  <dcterms:created xsi:type="dcterms:W3CDTF">2018-07-18T18:30:58Z</dcterms:created>
  <dcterms:modified xsi:type="dcterms:W3CDTF">2021-08-16T20:35:59Z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0x0101006C9E1B2FC1C446459DAAF3616E1B57E8</vt:lpwstr>
  </property>
</Properties>
</file>